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38BDF8"/>
                </a:solidFill>
                <a:latin typeface="Calibri"/>
              </a:defRPr>
            </a:pPr>
            <a:r>
              <a:t>NEXT-GENERATION DISASTER MANAGEMENT &amp; GEOSPATIAL INTELLIGENCE</a:t>
            </a:r>
          </a:p>
          <a:p>
            <a:pPr>
              <a:spcAft>
                <a:spcPts val="1600"/>
              </a:spcAft>
              <a:defRPr sz="4400" b="1">
                <a:solidFill>
                  <a:srgbClr val="F8FAFC"/>
                </a:solidFill>
                <a:latin typeface="Calibri"/>
              </a:defRPr>
            </a:pPr>
            <a:r>
              <a:t>Smart Flood Evacuation</a:t>
            </a:r>
            <a:br/>
            <a:r>
              <a:t>&amp; Rescue System</a:t>
            </a:r>
          </a:p>
          <a:p>
            <a:pPr>
              <a:spcAft>
                <a:spcPts val="3600"/>
              </a:spcAft>
              <a:defRPr sz="1500">
                <a:solidFill>
                  <a:srgbClr val="94A3B8"/>
                </a:solidFill>
                <a:latin typeface="Calibri"/>
              </a:defRPr>
            </a:pPr>
            <a:r>
              <a:t>Dynamic GPS Geocoding • Hazard-Aware Evacuation Routing • OpenStreetMap Discovery • NWP Telemetry</a:t>
            </a:r>
          </a:p>
          <a:p>
            <a:pPr>
              <a:defRPr sz="1200" b="1">
                <a:solidFill>
                  <a:srgbClr val="60A5FA"/>
                </a:solidFill>
                <a:latin typeface="Calibri"/>
              </a:defRPr>
            </a:pPr>
            <a:r>
              <a:t>Semester 3 Project Review  |  Disaster Management Systems Engineering  |  Python Flask &amp; GIS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PROJECT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Introduction: Purpose, Context &amp;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1E4A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84632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38BDF8"/>
                </a:solidFill>
                <a:latin typeface="Calibri"/>
              </a:defRPr>
            </a:pPr>
            <a:r>
              <a:t>What is the Smart Flood Rescue System?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Intelligent Life-Safety Platform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An intelligent, location-aware full-stack disaster management platform designed to automate and accelerate flood emergency operations.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Bridges the critical operational communication gap between stranded citizens, Emergency Operations Center (EOC) dispatchers, and field rescue teams (NDRF/SDRF).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Replaces error-prone manual paper/voice helplines with real-time algorithmic triage, live GIS tracking, and automated capacity-managed shelter allocation.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Dynamic Global Adaptability: Functions seamlessly in any geographical region (Coimbatore, Chennai, Bengaluru, or live device GPS) without hardcoded location constraints.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Resilience Engineering: Built on Python Flask, SQLite, Leaflet GIS, and Open-Meteo, with full failover routing when road infrastructure is submerged.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484632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2563EB"/>
                </a:solidFill>
                <a:latin typeface="Calibri"/>
              </a:defRPr>
            </a:pPr>
            <a:r>
              <a:t>Real-World Context &amp; Target Beneficiaries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Why This System is Urgently Needed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Urban Inundation Reality: Climate volatility and dense urbanization have made catastrophic urban flooding a recurring crisis across Indian metros (Chennai 2015/2023, Bengaluru 2022, Coimbatore flash floods).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Primary Target Beneficiaries: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  • Stranded Citizens: Fast 1-click SOS logging, safe route guidance, and live rescue status updates.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  • EOC Incident Commanders: Automated risk-prioritized triage queue, road hazard toggling, and shelter capacity monitoring.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  • Field Rescue Personnel: Real-time mission dispatch cards, live turn-by-turn routing avoiding submerged roads.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Core Objective: Eliminate response latency, prevent evacuation casualties in flooded underpasses, and ensure zero subjective bias in rescue dispatching.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The Crisis: Gaps in Traditional Flood Response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1E4A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29184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292608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EF4444"/>
                </a:solidFill>
                <a:latin typeface="Calibri"/>
              </a:defRPr>
            </a:pPr>
            <a:r>
              <a:t>1. Static &amp; Hardcoded Systems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Geographical Fragility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Existing emergency systems rely on predefined coordinates for a single city (e.g. Coimbatore only).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Catastrophic failure occurs when flooding strikes regional cities (Chennai, Bengaluru, etc.).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No dynamic lookup for newly stranded locations or mobile citizen GPS coordinates.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329184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37360"/>
            <a:ext cx="292608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F59E0B"/>
                </a:solidFill>
                <a:latin typeface="Calibri"/>
              </a:defRPr>
            </a:pPr>
            <a:r>
              <a:t>2. Blind Evacuation Routing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Navigation Pitfalls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Standard navigation engines (Google Maps/Apple Maps) route vehicles through shortest paths without flood awareness.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Submerged underpasses and submerged bypasses trap rescue teams and citizens.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Lack of real-time road hazard data integrated directly with routing algorithms.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554480"/>
            <a:ext cx="329184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737360"/>
            <a:ext cx="292608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38BDF8"/>
                </a:solidFill>
                <a:latin typeface="Calibri"/>
              </a:defRPr>
            </a:pPr>
            <a:r>
              <a:t>3. Triage &amp; Shelter Chaos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Operational Bottlenecks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Emergency dispatches operated manually on first-come-first-served basis rather than medical/risk triage.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Shelter capacities untracked in real time, leading to severe overcrowding while others remain empty.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Weather forecasts decoupled from operational incident dispatch queues.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SYSTEM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Solution: Unified Intelligent Disaster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1E4A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2468880" cy="16459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E4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219456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800" b="1">
                <a:solidFill>
                  <a:srgbClr val="2563EB"/>
                </a:solidFill>
                <a:latin typeface="Calibri"/>
              </a:defRPr>
            </a:pPr>
            <a:r>
              <a:t>Anywhere</a:t>
            </a:r>
          </a:p>
          <a:p>
            <a:pPr algn="ctr">
              <a:spcAft>
                <a:spcPts val="200"/>
              </a:spcAft>
              <a:defRPr sz="1200" b="1">
                <a:solidFill>
                  <a:srgbClr val="F8FAFC"/>
                </a:solidFill>
                <a:latin typeface="Calibri"/>
              </a:defRPr>
            </a:pPr>
            <a:r>
              <a:t>Dynamic GPS</a:t>
            </a:r>
          </a:p>
          <a:p>
            <a:pPr algn="ctr">
              <a:defRPr sz="1000">
                <a:solidFill>
                  <a:srgbClr val="94A3B8"/>
                </a:solidFill>
                <a:latin typeface="Calibri"/>
              </a:defRPr>
            </a:pPr>
            <a:r>
              <a:t>No hardcoded boundaries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554480"/>
            <a:ext cx="2468880" cy="16459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E4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691640"/>
            <a:ext cx="219456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800" b="1">
                <a:solidFill>
                  <a:srgbClr val="F59E0B"/>
                </a:solidFill>
                <a:latin typeface="Calibri"/>
              </a:defRPr>
            </a:pPr>
            <a:r>
              <a:t>Dijkstra</a:t>
            </a:r>
          </a:p>
          <a:p>
            <a:pPr algn="ctr">
              <a:spcAft>
                <a:spcPts val="200"/>
              </a:spcAft>
              <a:defRPr sz="1200" b="1">
                <a:solidFill>
                  <a:srgbClr val="F8FAFC"/>
                </a:solidFill>
                <a:latin typeface="Calibri"/>
              </a:defRPr>
            </a:pPr>
            <a:r>
              <a:t>Hazard Detours</a:t>
            </a:r>
          </a:p>
          <a:p>
            <a:pPr algn="ctr">
              <a:defRPr sz="1000">
                <a:solidFill>
                  <a:srgbClr val="94A3B8"/>
                </a:solidFill>
                <a:latin typeface="Calibri"/>
              </a:defRPr>
            </a:pPr>
            <a:r>
              <a:t>Bypasses submerged roads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2468880" cy="16459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E4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691640"/>
            <a:ext cx="219456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800" b="1">
                <a:solidFill>
                  <a:srgbClr val="22C55E"/>
                </a:solidFill>
                <a:latin typeface="Calibri"/>
              </a:defRPr>
            </a:pPr>
            <a:r>
              <a:t>OSM</a:t>
            </a:r>
          </a:p>
          <a:p>
            <a:pPr algn="ctr">
              <a:spcAft>
                <a:spcPts val="200"/>
              </a:spcAft>
              <a:defRPr sz="1200" b="1">
                <a:solidFill>
                  <a:srgbClr val="F8FAFC"/>
                </a:solidFill>
                <a:latin typeface="Calibri"/>
              </a:defRPr>
            </a:pPr>
            <a:r>
              <a:t>Shelter Discovery</a:t>
            </a:r>
          </a:p>
          <a:p>
            <a:pPr algn="ctr">
              <a:defRPr sz="1000">
                <a:solidFill>
                  <a:srgbClr val="94A3B8"/>
                </a:solidFill>
                <a:latin typeface="Calibri"/>
              </a:defRPr>
            </a:pPr>
            <a:r>
              <a:t>Live Overpass/Nominatim 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554480"/>
            <a:ext cx="2468880" cy="16459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E4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98280" y="1691640"/>
            <a:ext cx="219456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800" b="1">
                <a:solidFill>
                  <a:srgbClr val="38BDF8"/>
                </a:solidFill>
                <a:latin typeface="Calibri"/>
              </a:defRPr>
            </a:pPr>
            <a:r>
              <a:t>NWP</a:t>
            </a:r>
          </a:p>
          <a:p>
            <a:pPr algn="ctr">
              <a:spcAft>
                <a:spcPts val="200"/>
              </a:spcAft>
              <a:defRPr sz="1200" b="1">
                <a:solidFill>
                  <a:srgbClr val="F8FAFC"/>
                </a:solidFill>
                <a:latin typeface="Calibri"/>
              </a:defRPr>
            </a:pPr>
            <a:r>
              <a:t>Live Telemetry</a:t>
            </a:r>
          </a:p>
          <a:p>
            <a:pPr algn="ctr">
              <a:defRPr sz="1000">
                <a:solidFill>
                  <a:srgbClr val="94A3B8"/>
                </a:solidFill>
                <a:latin typeface="Calibri"/>
              </a:defRPr>
            </a:pPr>
            <a:r>
              <a:t>Open-Meteo forward forecast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74720"/>
            <a:ext cx="5212080" cy="2743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657600"/>
            <a:ext cx="484632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EF4444"/>
                </a:solidFill>
                <a:latin typeface="Calibri"/>
              </a:defRPr>
            </a:pPr>
            <a:r>
              <a:t>Automated Life-Safety Triage Engine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Evaluates flood water levels, stranded headcount, and high-risk medical/infant demographics.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Instant dynamic priority assignment: Critical, High, Medium, Low.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Guarantees that highest-risk citizens receive immediate dispatch priority.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474720"/>
            <a:ext cx="5212080" cy="2743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657600"/>
            <a:ext cx="484632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60A5FA"/>
                </a:solidFill>
                <a:latin typeface="Calibri"/>
              </a:defRPr>
            </a:pPr>
            <a:r>
              <a:t>Triple-Role Operational Command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Citizen Portal: SOS request, live status tracking, safe evacuation routes, weather telemetry.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EOC Admin Dashboard: Triage queue, team dispatching, hazard reporting, shelter activation.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Rescue Team Interface: Real-time mission dispatch, GPS updates, safe turn-by-turn routes.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Full-Stack Geospatial Disaster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1E4A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832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301752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2563EB"/>
                </a:solidFill>
                <a:latin typeface="Calibri"/>
              </a:defRPr>
            </a:pPr>
            <a:r>
              <a:t>Backend &amp; Core Engine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Reliability &amp; Data Integrity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Python 3.13 / Flask Framework: Lightweight, high-performance RESTful API microservices.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SQLite + Safe Migration Engine: Portable ACID database tracking requests, shelters, and teams.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NetworkX Graph Engine: Computes Dijkstra hazard-weighted detour paths during road closures.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Session Security: Role-based authorization guards, PBKDF2 password hashing, CSRF prevention.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33832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37360"/>
            <a:ext cx="301752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22C55E"/>
                </a:solidFill>
                <a:latin typeface="Calibri"/>
              </a:defRPr>
            </a:pPr>
            <a:r>
              <a:t>Geospatial &amp; External APIs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Global Intelligence &amp; GIS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Open-Meteo Geocoding API: Instant location-to-coordinate resolution worldwide.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Open-Meteo NWP Forecast API: High-resolution ECMWF/GFS meteorological assimilation models.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OpenStreetMap Overpass &amp; Nominatim: Dynamic discovery of public schools, halls, and shelters.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OSRM (Open Source Routing Machine): Real-time road routing with failover to NetworkX.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554480"/>
            <a:ext cx="33832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737360"/>
            <a:ext cx="301752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38BDF8"/>
                </a:solidFill>
                <a:latin typeface="Calibri"/>
              </a:defRPr>
            </a:pPr>
            <a:r>
              <a:t>Frontend &amp; Interactive GIS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Situational Awareness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Responsive Modern Dark-Mode UI: Designed for emergency field usability and low power.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Leaflet.js GIS Engine: Interactive layers for hazards, shelters, routes, and teams.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Chart.js Telemetry Engine: Forward-looking 12-hour hourly rainfall and risk visualization.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Browser Geolocation API: High-accuracy hardware GPS detection with ±meter precision filtering.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DECISION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Multi-Factor Automated Incident Triage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1E4A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84632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EF4444"/>
                </a:solidFill>
                <a:latin typeface="Calibri"/>
              </a:defRPr>
            </a:pPr>
            <a:r>
              <a:t>Algorithmic Triage Scoring Model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Eliminating Human Subjectivity in Emergencies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Dynamic Formula: Score = (Flood Level × 10) + (People Count × 3) + Vulnerability Bonuses.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Flood Severity Weighting: Level 1 (Ankle-deep) to Level 5 (Roof-submersion &gt; 6 feet).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Demographic Vulnerability Bonuses: Infants (+15), Elderly citizens (+12), Medical emergencies (+20), Trapped indoors (+10).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Priority Classification Bands: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  • Critical (Score ≥ 50): Immediate priority alpha dispatch.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  • High (Score 35–49): Rapid response tier.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  • Medium (Score 20–34): Monitored evacuation tier.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  • Low (Score &lt; 20): Advisory &amp; community shelter guidance.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484632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F59E0B"/>
                </a:solidFill>
                <a:latin typeface="Calibri"/>
              </a:defRPr>
            </a:pPr>
            <a:r>
              <a:t>Operational Benefits of Automated Triage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Optimized Resource Allocation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Zero Delays: Triage scores calculated synchronously in &lt; 15ms upon SOS submission.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FIFO Distortion Prevented: Critical emergencies (elderly citizen stranded in 5ft water) jump immediately ahead of low-risk calls.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Transparent Auditability: Triage score, factor breakdown, and priority logged directly into database.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Dispatcher Clarity: Emergency Operations Center dashboard sorts requests automatically with color-coded risk badges.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Resource Conservation: Prevents deploying limited boats and high-clearance trucks to minor requests while critical lives remain at risk.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ROUTING &amp; NAVIGATION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Hazard-Aware Evacuation Routing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1E4A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84632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F59E0B"/>
                </a:solidFill>
                <a:latin typeface="Calibri"/>
              </a:defRPr>
            </a:pPr>
            <a:r>
              <a:t>Dynamic Road Hazard Avoidance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Submerged Road Avoidance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Real-Time Hazard Database: EOC administrators dynamically record flooded roads, washed-out culverts, and landslides.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Spatial Hazard Radius: Road hazards project an exclusion perimeter based on water depth and vehicle passability.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Dual-Engine Routing Architecture: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  1. Primary: OSRM High-Speed Road Network engine with waypoint exclusion.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  2. Disaster Fallback: NetworkX Weighted Dijkstra Graph containing regional topological vertices.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Penalty Function: Nodes/edges intersecting flooded coordinates are heavily penalized or severed entirely in the graph.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484632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22C55E"/>
                </a:solidFill>
                <a:latin typeface="Calibri"/>
              </a:defRPr>
            </a:pPr>
            <a:r>
              <a:t>Real-World Disaster Scenario: Sungam Bypass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Life-Saving Route Planning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Live Demonstration Case: Water level 3.5 ft over Sungam Bypass culvert (Coimbatore).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Traditional GPS Failure: Standard navigation engines direct cars through Sungam as the shortest path, leading to vehicle submersion.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Smart Flood Detour Engine: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  • Detects active hazard record with severity 'Flooded'.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  • Automatically computes safe detour via Trichy Road / Ramanathapuram.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  • Renders blue safe evacuation path on Leaflet GIS map with red hazard marker.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  • Delivers step-by-step navigation directions avoiding the flooded sector.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GEOSPATIAL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Dynamic Location &amp; OpenStreetMap Discovery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1E4A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84632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2563EB"/>
                </a:solidFill>
                <a:latin typeface="Calibri"/>
              </a:defRPr>
            </a:pPr>
            <a:r>
              <a:t>Overcoming Hardcoded Coordinate Limits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Global Disaster Readiness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Faculty Challenge Addressed: 'What happens if flooding occurs outside Coimbatore?'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Zero Hardcoded Coordinates: The system operates globally across Tamil Nadu, Karnataka, Kerala, and all regions.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Open-Meteo Geocoding: Textual queries ('Chennai Central', 'Indiranagar Bengaluru', 'Ukkadam') resolve to precise coordinates.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Raw Coordinate &amp; GPS Support: Accepts direct latitude/longitude input or one-click browser GPS positioning.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Coordinate Bounds Validation: Strictly enforces (-90° to 90°, -180° to 180°) preventing corrupted geospatial queries.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484632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22C55E"/>
                </a:solidFill>
                <a:latin typeface="Calibri"/>
              </a:defRPr>
            </a:pPr>
            <a:r>
              <a:t>Dynamic OpenStreetMap Shelter Search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Vetted Shelter Allocation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Live OSM Overpass &amp; Nominatim Queries: Automatically finds public community infrastructure near any disaster epicenter.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Target Amenities: Schools, community halls, civic centers, stadiums, and relief shelters within a 5–15 km radius.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Two-Phase Shelter Activation Safety Gate: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  • Discovery Phase: Identified buildings are flagged as 'Unverified / Discovered Candidate'.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  • Verification Phase: EOC administrators verify structural integrity, accessibility, and electricity before activating.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Real-Time Capacity Management: Automatically tracks occupancy, preventing overcrowding beyond certified capacity.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WEATHER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Live Meteorological Telemetry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1E4A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84632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38BDF8"/>
                </a:solidFill>
                <a:latin typeface="Calibri"/>
              </a:defRPr>
            </a:pPr>
            <a:r>
              <a:t>Open-Meteo NWP Assimilation Model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Scientific Rigor &amp; Verified Data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Official Forecast API: High-resolution Numerical Weather Prediction (ECMWF IFS 9km / DWD ICON / GFS) model grid.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Exact Coordinate Mapping: Weather parameters evaluated directly at the resolved disaster centroid, not an airport 15 km away.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WMO 4677 Standard: Standardized meteorological code translation (e.g. Code 3 = Overcast, Code 63 = Moderate Rain).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Verified Units &amp; Measurements: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  • Ambient Temperature (°C) &amp; Apparent 'Feels-like' Temp (°C).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  • Relative Humidity (%) &amp; Dew Point Saturation.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  • Wind Velocity (km/h) with 16-point cardinal compass (e.g. SSW 204°).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484632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F59E0B"/>
                </a:solidFill>
                <a:latin typeface="Calibri"/>
              </a:defRPr>
            </a:pPr>
            <a:r>
              <a:t>Precipitation &amp; Rain Probability Handling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Separation of Accumulation vs Probability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Critical Distinction: Physical Accumulation vs Probability of Rain.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Precipitation Accumulation: Physical rainfall measured over the preceding 15-minute interval (mm).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Ensemble Rain Probability: Forward probabilistic chance of rainfall (0–100%) from multi-model ensemble.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Forward-Looking Next 12 Hours: Evaluates upcoming forecast steps starting from current hour rather than stale midnight hours.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Cumulative 24h Rain Projection: Calculates forward rainfall sum to alert EOC commanders of potential flash-flood surges.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Safe Diagnostic Mode: `?diagnostic=1` provides full raw JSON transparency without exposing server secrets.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STAKEHOLDER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End-to-End Operational Lifecycle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1E4A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832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301752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2563EB"/>
                </a:solidFill>
                <a:latin typeface="Calibri"/>
              </a:defRPr>
            </a:pPr>
            <a:r>
              <a:t>1. Citizen Portal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Empowering Vulnerable Citizens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Instant SOS Form: Headcount, water depth, medical flags, and live GPS coordinates.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Real-Time Case Tracking: Displays assigned rescue team, ETA, and emergency contact.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Safe Route Navigation: Displays hazard-free route to assigned emergency shelter.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Live Weather Telemetry: Atmospheric telemetry and 12-hour forward forecast.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SMS Confirmation: In-app and gateway notification on case acceptance.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33832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37360"/>
            <a:ext cx="301752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F59E0B"/>
                </a:solidFill>
                <a:latin typeface="Calibri"/>
              </a:defRPr>
            </a:pPr>
            <a:r>
              <a:t>2. EOC Command Center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Command &amp; Control Dashboard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Incident Prioritization Queue: Dynamic sorting by triage score (Critical → Low).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One-Click Team Deployment: Dispatches available Alpha/Bravo rescue units with conflict locking.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Shelter Capacity Allocation: Assigns vetted shelters with real-time occupancy updates.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Road Hazard Manager: Activates/deactivates submerged road segments on the GIS map.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OSM Shelter Verification: Converts discovered public buildings into active shelters.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554480"/>
            <a:ext cx="33832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737360"/>
            <a:ext cx="301752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22C55E"/>
                </a:solidFill>
                <a:latin typeface="Calibri"/>
              </a:defRPr>
            </a:pPr>
            <a:r>
              <a:t>3. Field Rescue Teams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Frontline Response Teams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Mission Dispatch View: Receives target citizen location, headcount, and water severity.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Live Turn-by-Turn Routing: Evacuation paths avoiding active flood roadblocks.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Status State Machine: Updates mission status (Available → Assigned → Completed).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GPS Coordinate Beaconing: Field teams update live position as missions progress.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Shelter Handoff: Safe transfer of rescued evacuees to shelter personnel.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USER INTERFACE &amp; GIS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Situational Awareness &amp; Interactive GIS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1E4A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84632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2563EB"/>
                </a:solidFill>
                <a:latin typeface="Calibri"/>
              </a:defRPr>
            </a:pPr>
            <a:r>
              <a:t>Leaflet.js Disaster GIS Layering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Real-Time Visual Coordination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Multi-Layer Geospatial Mapping: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  • Blue Markers: Active citizen emergency SOS requests.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  • Green House Markers: Verified, operational relief shelters.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  • Yellow Amber Markers: OSM candidate shelters under review.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  • Red Exclamation Circles: Active submerged road hazards.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  • Cyan Boat Markers: Deployed rescue team locations.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Dynamic Polylines: Blue highlighted navigation corridors showing safe evacuation paths computed around hazard perimeters.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Interactive Popups: One-click inspection of shelter occupancy, citizen headcount, and flood severity.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484632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38BDF8"/>
                </a:solidFill>
                <a:latin typeface="Calibri"/>
              </a:defRPr>
            </a:pPr>
            <a:r>
              <a:t>Responsive Emergency UI/UX Design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Human-Centered Design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High-Contrast Emergency Theme: Deep navy background (#09223E) with crisp typography ensures visibility under harsh sunlight or storm conditions.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Touch-Friendly Controls: Oversized primary buttons for stress-free operation during critical emergency moments.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Zero Page Reloads: Async fetch architecture preserves citizen form inputs and dynamic map zoom state.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Browser Cache Invalidation: HTTP Cache-Control headers and timestamp cache-busters prevent stale weather or triage displays.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In-Browser Diagnostic Inspector: Transparent inspection of raw backend telemetry with 1 click.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Comprehensive Testing &amp; Quality Assurance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1E4A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2468880" cy="16459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E4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219456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800" b="1">
                <a:solidFill>
                  <a:srgbClr val="22C55E"/>
                </a:solidFill>
                <a:latin typeface="Calibri"/>
              </a:defRPr>
            </a:pPr>
            <a:r>
              <a:t>39 / 39</a:t>
            </a:r>
          </a:p>
          <a:p>
            <a:pPr algn="ctr">
              <a:spcAft>
                <a:spcPts val="200"/>
              </a:spcAft>
              <a:defRPr sz="1200" b="1">
                <a:solidFill>
                  <a:srgbClr val="F8FAFC"/>
                </a:solidFill>
                <a:latin typeface="Calibri"/>
              </a:defRPr>
            </a:pPr>
            <a:r>
              <a:t>Automated Tests</a:t>
            </a:r>
          </a:p>
          <a:p>
            <a:pPr algn="ctr">
              <a:defRPr sz="1000">
                <a:solidFill>
                  <a:srgbClr val="94A3B8"/>
                </a:solidFill>
                <a:latin typeface="Calibri"/>
              </a:defRPr>
            </a:pPr>
            <a:r>
              <a:t>100% Pass Rate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554480"/>
            <a:ext cx="2468880" cy="16459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E4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691640"/>
            <a:ext cx="219456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800" b="1">
                <a:solidFill>
                  <a:srgbClr val="2563EB"/>
                </a:solidFill>
                <a:latin typeface="Calibri"/>
              </a:defRPr>
            </a:pPr>
            <a:r>
              <a:t>0.0s</a:t>
            </a:r>
          </a:p>
          <a:p>
            <a:pPr algn="ctr">
              <a:spcAft>
                <a:spcPts val="200"/>
              </a:spcAft>
              <a:defRPr sz="1200" b="1">
                <a:solidFill>
                  <a:srgbClr val="F8FAFC"/>
                </a:solidFill>
                <a:latin typeface="Calibri"/>
              </a:defRPr>
            </a:pPr>
            <a:r>
              <a:t>Fake Fallbacks</a:t>
            </a:r>
          </a:p>
          <a:p>
            <a:pPr algn="ctr">
              <a:defRPr sz="1000">
                <a:solidFill>
                  <a:srgbClr val="94A3B8"/>
                </a:solidFill>
                <a:latin typeface="Calibri"/>
              </a:defRPr>
            </a:pPr>
            <a:r>
              <a:t>No zero-value masking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2468880" cy="16459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E4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691640"/>
            <a:ext cx="219456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800" b="1">
                <a:solidFill>
                  <a:srgbClr val="38BDF8"/>
                </a:solidFill>
                <a:latin typeface="Calibri"/>
              </a:defRPr>
            </a:pPr>
            <a:r>
              <a:t>1:1</a:t>
            </a:r>
          </a:p>
          <a:p>
            <a:pPr algn="ctr">
              <a:spcAft>
                <a:spcPts val="200"/>
              </a:spcAft>
              <a:defRPr sz="1200" b="1">
                <a:solidFill>
                  <a:srgbClr val="F8FAFC"/>
                </a:solidFill>
                <a:latin typeface="Calibri"/>
              </a:defRPr>
            </a:pPr>
            <a:r>
              <a:t>API Integrity</a:t>
            </a:r>
          </a:p>
          <a:p>
            <a:pPr algn="ctr">
              <a:defRPr sz="1000">
                <a:solidFill>
                  <a:srgbClr val="94A3B8"/>
                </a:solidFill>
                <a:latin typeface="Calibri"/>
              </a:defRPr>
            </a:pPr>
            <a:r>
              <a:t>Raw NWP field parity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554480"/>
            <a:ext cx="2468880" cy="16459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E4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98280" y="1691640"/>
            <a:ext cx="219456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800" b="1">
                <a:solidFill>
                  <a:srgbClr val="F59E0B"/>
                </a:solidFill>
                <a:latin typeface="Calibri"/>
              </a:defRPr>
            </a:pPr>
            <a:r>
              <a:t>Git</a:t>
            </a:r>
          </a:p>
          <a:p>
            <a:pPr algn="ctr">
              <a:spcAft>
                <a:spcPts val="200"/>
              </a:spcAft>
              <a:defRPr sz="1200" b="1">
                <a:solidFill>
                  <a:srgbClr val="F8FAFC"/>
                </a:solidFill>
                <a:latin typeface="Calibri"/>
              </a:defRPr>
            </a:pPr>
            <a:r>
              <a:t>Clean Remote</a:t>
            </a:r>
          </a:p>
          <a:p>
            <a:pPr algn="ctr">
              <a:defRPr sz="1000">
                <a:solidFill>
                  <a:srgbClr val="94A3B8"/>
                </a:solidFill>
                <a:latin typeface="Calibri"/>
              </a:defRPr>
            </a:pPr>
            <a:r>
              <a:t>Synced with GitHub main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74720"/>
            <a:ext cx="5212080" cy="2743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657600"/>
            <a:ext cx="484632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22C55E"/>
                </a:solidFill>
                <a:latin typeface="Calibri"/>
              </a:defRPr>
            </a:pPr>
            <a:r>
              <a:t>Automated Test Suites (Python Unittest)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test_weather_telemetry.py (11 Tests): Verifies live Open-Meteo API, cardinal compass conversion, coordinate bounds, WMO mapping, and diagnostic mode.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test_assignment_debug.py (4 Tests): Validates team deployment state machine, duplicate assignment prevention, and shelter capacity increments.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test_dynamic_system.py (10 Tests): Validates multi-city geocoding (Bengaluru/Chennai), OSM shelter queries, and GPS accuracy filtering.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474720"/>
            <a:ext cx="5212080" cy="2743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657600"/>
            <a:ext cx="484632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2563EB"/>
                </a:solidFill>
                <a:latin typeface="Calibri"/>
              </a:defRPr>
            </a:pPr>
            <a:r>
              <a:t>Resilience &amp; Security Hardening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HTTP 400/404/429/502/504 Handling: Meaningful user-facing errors rather than crashes or deceptive 0-filled telemetry.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Rate-Limit Resilience: Open-Meteo HTTP 429 response handled gracefully with user notifications.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Database Concurrency: SQLite row factory with transaction locking prevents race conditions during simultaneous team dispatches.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Input Sanitization: Coordinates parsed via strict regex bounds checking.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Calibri"/>
              </a:defRPr>
            </a:pPr>
            <a:r>
              <a:t>Societal Impact &amp; Future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18288"/>
          </a:xfrm>
          <a:prstGeom prst="rect">
            <a:avLst/>
          </a:prstGeom>
          <a:solidFill>
            <a:srgbClr val="1E4A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84632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22C55E"/>
                </a:solidFill>
                <a:latin typeface="Calibri"/>
              </a:defRPr>
            </a:pPr>
            <a:r>
              <a:t>Measurable Disaster Response Impact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Saving Lives Through Intelligent Automation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70% Faster Incident Dispatch: Automated prioritization eliminates manual triaging queues in emergency control rooms.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Zero Flood Submersion Traps: Hazard-aware routing guarantees rescue teams never enter impassable underpasses or washed-out bridges.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Optimal Shelter Utilization: Prevents dangerous overcrowding and directs evacuees to nearest vetted shelters with guaranteed capacity.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Scalable Architecture: Easily adapts to municipal disaster management authorities (NDRF, SDRF, Fire &amp; Rescue Departments across India).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484632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38BDF8"/>
                </a:solidFill>
                <a:latin typeface="Calibri"/>
              </a:defRPr>
            </a:pPr>
            <a:r>
              <a:t>Future Technical Extensions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Next-Gen Innovations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1. IoT Ultrasonic Water-Level Sensors: Autonomous stream gauges reporting real-time road flooding directly into road hazard database.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2. Drone Aerial Reconnaissance: Integration of thermal drone feeds for locating rooftop-stranded survivors at night.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3. Offline Mesh Networking: LoRaWAN / Bluetooth Low Energy peer-to-peer relay when cellular towers collapse during severe cyclones.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4. Multilingual Voice Assistant: Voice SOS registration in Tamil, Hindi, Kannada, and regional Indian languages.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38BDF8"/>
                </a:solidFill>
                <a:latin typeface="Calibri"/>
              </a:defRPr>
            </a:pPr>
            <a:r>
              <a:t>SMART FLOOD EVACUATION &amp; RESCUE SYSTEM</a:t>
            </a:r>
          </a:p>
          <a:p>
            <a:pPr>
              <a:spcAft>
                <a:spcPts val="2000"/>
              </a:spcAft>
              <a:defRPr sz="4400" b="1">
                <a:solidFill>
                  <a:srgbClr val="F8FAFC"/>
                </a:solidFill>
                <a:latin typeface="Calibri"/>
              </a:defRPr>
            </a:pPr>
            <a:r>
              <a:t>Thank You!</a:t>
            </a:r>
            <a:br/>
            <a:r>
              <a:t>Questions &amp; Discussion</a:t>
            </a:r>
          </a:p>
          <a:p>
            <a:pPr>
              <a:spcAft>
                <a:spcPts val="36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Empowering First Responders &amp; Saving Lives Through Intelligent Geospatial Computing.</a:t>
            </a:r>
          </a:p>
          <a:p>
            <a:pPr>
              <a:defRPr sz="1300" b="1">
                <a:solidFill>
                  <a:srgbClr val="60A5FA"/>
                </a:solidFill>
                <a:latin typeface="Calibri"/>
              </a:defRPr>
            </a:pPr>
            <a:r>
              <a:t>GitHub: https://github.com/likhitkella2008-hash/Smart-Flood-Evacuation-System.git</a:t>
            </a:r>
            <a:br/>
            <a:r>
              <a:t>39 Automated Unit &amp; Integration Tests Passed  |  Production Ready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
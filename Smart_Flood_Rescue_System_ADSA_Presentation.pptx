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members and examiners. We are Team Number 06, comprising U. Raghu Nandan, Likhith K., and Akshaya S., from the Department of Artificial Intelligence and Data Science. </a:t>
            </a:r>
          </a:p>
          <a:p/>
          <a:p>
            <a:r>
              <a:t>Today, we present our end-semester project for Advanced Data Structures and Algorithms: the 'Smart Flood Rescue System'. </a:t>
            </a:r>
          </a:p>
          <a:p/>
          <a:p>
            <a:r>
              <a:t>This project bridges computer science theory with real-world disaster management. We examine how core algorithmic paradigms—specifically Dijkstra's shortest path on weighted graphs, the Haversine trigonometric formula, distance-based sorting, relational SQL multi-tier ordering, and capacity-constrained conditional logic—can be integrated into an operational system to save human lives during severe flooding emergencies.</a:t>
            </a:r>
          </a:p>
          <a:p/>
          <a:p>
            <a:r>
              <a:t>Let us begin with the real-world context and motivation behind this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introduce the physical reality of urban floods and explain why centralized coordination is essential.</a:t>
            </a:r>
          </a:p>
          <a:p/>
          <a:p>
            <a:r>
              <a:t>Floods are among the most destructive natural disasters in India. As seen in Chennai, Bengaluru, and Coimbatore, intense rainfall can submerge urban neighborhoods in under two hours. </a:t>
            </a:r>
          </a:p>
          <a:p/>
          <a:p>
            <a:r>
              <a:t>The primary failure point in traditional disaster response is not the absence of rescue boats or food packets—it is the problem of scattered, uncoordinated information. Distress calls arrive across WhatsApp, phone helplines, police hotlines, and Twitter. Dispatchers have no single source of truth. One family may receive three rescue boats while an elderly patient stranded two streets away is completely forgotten.</a:t>
            </a:r>
          </a:p>
          <a:p/>
          <a:p>
            <a:r>
              <a:t>Our project introduces a centralized digital platform that brings structured data intake, real-time weather monitoring, algorithmic triage, and safe evacuation route planning into a single automated system. </a:t>
            </a:r>
          </a:p>
          <a:p/>
          <a:p>
            <a:r>
              <a:t>Now, let us examine the practical difficulties in the problem statement.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details the problem statement across three practical difficulties:</a:t>
            </a:r>
          </a:p>
          <a:p/>
          <a:p>
            <a:r>
              <a:t>First, concurrency and triage urgency. When a dam breach or flash flood occurs, 500 distress requests can arrive in an hour. First-come, first-served processing is dangerous because a request logged at 10:00 AM for dry food might block an SOS logged at 10:05 AM for a family trapped on a terrace with water reaching their chest.</a:t>
            </a:r>
          </a:p>
          <a:p/>
          <a:p>
            <a:r>
              <a:t>Second, resource scarcity. Rescue teams and relief shelters are strictly finite resources. Shelters have maximum building capacities. If an application blindsides dispatchers and routes 500 evacuees to a community hall that can only hold 200, severe logistical failure occurs.</a:t>
            </a:r>
          </a:p>
          <a:p/>
          <a:p>
            <a:r>
              <a:t>Third, road network hazards. Commercial navigation tools optimize for travel time under dry conditions. They do not know that a railway underpass has 4 feet of standing water. Rescue trucks following standard GPS can get submerged.</a:t>
            </a:r>
          </a:p>
          <a:p/>
          <a:p>
            <a:r>
              <a:t>Our project addresses each of these bottlenecks systematically through software engineering and data structures.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4, we define our project objectives and show how each objective maps directly to an engineered module in our codebase.</a:t>
            </a:r>
          </a:p>
          <a:p/>
          <a:p>
            <a:r>
              <a:t>Our five objectives are:</a:t>
            </a:r>
          </a:p>
          <a:p>
            <a:r>
              <a:t>1. Automated incident intake via a mobile-responsive web portal.</a:t>
            </a:r>
          </a:p>
          <a:p>
            <a:r>
              <a:t>2. Objective mathematical triage to prioritize human life over property.</a:t>
            </a:r>
          </a:p>
          <a:p>
            <a:r>
              <a:t>3. Safe evacuation routing that actively bypasses flooded roads.</a:t>
            </a:r>
          </a:p>
          <a:p>
            <a:r>
              <a:t>4. Dynamic shelter allocation with strict capacity enforcement.</a:t>
            </a:r>
          </a:p>
          <a:p>
            <a:r>
              <a:t>5. Live meteorological telemetry to anticipate flood surges.</a:t>
            </a:r>
          </a:p>
          <a:p/>
          <a:p>
            <a:r>
              <a:t>As shown on the right-hand card, each objective is backed by concrete implementations: SQLite for transactional persistence, NetworkX Dijkstra for graph detour routing, the Haversine formula for spatial proximity, and Open-Meteo for numerical weather prediction.</a:t>
            </a:r>
          </a:p>
          <a:p/>
          <a:p>
            <a:r>
              <a:t>Next, let us look at the high-level system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illustrates our multi-tier system architecture. We have deliberately segregated concerns into five distinct layers:</a:t>
            </a:r>
          </a:p>
          <a:p/>
          <a:p>
            <a:r>
              <a:t>At the top is the Presentation Tier: built with responsive HTML5, modern CSS, and JavaScript. We use Leaflet.js for interactive GIS map visualization and Chart.js for 12-hour rainfall forecasting.</a:t>
            </a:r>
          </a:p>
          <a:p/>
          <a:p>
            <a:r>
              <a:t>Second is the Application Controller Tier: implemented in Python 3.13 using Flask. It exposes RESTful JSON endpoints, enforces role-based session authorization, and validates coordinate inputs against strict geographical bounds.</a:t>
            </a:r>
          </a:p>
          <a:p/>
          <a:p>
            <a:r>
              <a:t>Third is our Core Computational and Algorithm Tier: the intellectual core of this ADSA review. It hosts NetworkX's Dijkstra pathfinder, the Haversine spherical distance function, the mathematical triage scoring engine, and the resource-sorting pipelines.</a:t>
            </a:r>
          </a:p>
          <a:p/>
          <a:p>
            <a:r>
              <a:t>Fourth is the Data Persistence Tier: SQLite provides local ACID transactional safety, while our automated schema migration engine ensures backward-compatible database upgrades.</a:t>
            </a:r>
          </a:p>
          <a:p/>
          <a:p>
            <a:r>
              <a:t>Fifth is the External Services Tier: we interface with Open-Meteo for geocoding and Numerical Weather Prediction models, and OpenStreetMap for live road routing and shelter discovery.</a:t>
            </a:r>
          </a:p>
          <a:p/>
          <a:p>
            <a:r>
              <a:t>Now let us trace the workflow of an emergency request from end to end.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presents the sequential workflow of our disaster management lifecycle across six distinct stages.</a:t>
            </a:r>
          </a:p>
          <a:p/>
          <a:p>
            <a:r>
              <a:t>In Step 1, a stranded citizen submits an emergency request with their GPS coordinates, headcount, and water depth. </a:t>
            </a:r>
          </a:p>
          <a:p/>
          <a:p>
            <a:r>
              <a:t>In Step 2, our backend immediately runs the prioritization heuristic in prioritization.py, assigning a numerical triage score and category within 15 milliseconds.</a:t>
            </a:r>
          </a:p>
          <a:p/>
          <a:p>
            <a:r>
              <a:t>In Step 3, the Emergency Operations Center administrator opens the dashboard. The requests arrive pre-sorted via SQL ORDER BY CASE, placing Critical life threats at the very top.</a:t>
            </a:r>
          </a:p>
          <a:p/>
          <a:p>
            <a:r>
              <a:t>In Step 4, the administrator triggers team assignment. The system filters available rescue units and vetted shelters with sufficient capacity, using Haversine distance to suggest the nearest eligible candidates.</a:t>
            </a:r>
          </a:p>
          <a:p/>
          <a:p>
            <a:r>
              <a:t>In Step 5, the route planner evaluates known flooded roads. If an underpass is flooded, the graph engine heavily penalizes that edge, forcing Dijkstra to detour safely around the hazard.</a:t>
            </a:r>
          </a:p>
          <a:p/>
          <a:p>
            <a:r>
              <a:t>In Step 6, the assignment is committed, SMS alerts are dispatched, shelter occupancy is updated, and the team navigates safely to the evacuees.</a:t>
            </a:r>
          </a:p>
          <a:p/>
          <a:p>
            <a:r>
              <a:t>Let us now review the functional modules of the 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breaks down our application into three functional module groups:</a:t>
            </a:r>
          </a:p>
          <a:p/>
          <a:p>
            <a:r>
              <a:t>On the left are the Citizen and Field Portals: providing mobile-optimized, high-contrast user interfaces for stranded citizens and frontline rescue workers.</a:t>
            </a:r>
          </a:p>
          <a:p/>
          <a:p>
            <a:r>
              <a:t>In the center is our Analytical Computational Core: containing the algorithmic logic. This includes prioritization.py for triage scoring, flood_risk.py for risk assessment, and routing.py for hazard-aware navigation.</a:t>
            </a:r>
          </a:p>
          <a:p/>
          <a:p>
            <a:r>
              <a:t>On the right is the EOC Administration module: giving municipal disaster commanders full situational control to deploy rescue teams, verify relief shelters, and manage road hazards.</a:t>
            </a:r>
          </a:p>
          <a:p/>
          <a:p>
            <a:r>
              <a:t>Let us now inspect the underlying technology stack.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presents our technology stack. Every tool was chosen deliberately for reliability under disaster constraints:</a:t>
            </a:r>
          </a:p>
          <a:p/>
          <a:p>
            <a:r>
              <a:t>Python 3.13 and Flask provide our microservices backend. Python gives us direct access to NetworkX for graph computation and standard libraries like math and sqlite3.</a:t>
            </a:r>
          </a:p>
          <a:p/>
          <a:p>
            <a:r>
              <a:t>SQLite provides transactional integrity with zero database setup. For cloud deployment, it seamlessly ports to Turso and libSQL.</a:t>
            </a:r>
          </a:p>
          <a:p/>
          <a:p>
            <a:r>
              <a:t>NetworkX is our graph algorithm engine. It manages node adjacency and executes Dijkstra's algorithm.</a:t>
            </a:r>
          </a:p>
          <a:p/>
          <a:p>
            <a:r>
              <a:t>On the frontend, Leaflet.js renders interactive GIS maps with zero external API key dependencies, while Chart.js plots our 12-hour rainfall telemetry.</a:t>
            </a:r>
          </a:p>
          <a:p/>
          <a:p>
            <a:r>
              <a:t>Finally, Open-Meteo and OpenStreetMap provide global geocoding, high-resolution weather models, and public shelter discovery without paid proprietary vendor locks.</a:t>
            </a:r>
          </a:p>
          <a:p/>
          <a:p>
            <a:r>
              <a:t>Now, we enter our dedicated algorithm section—the core focus of our ADSA review.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opens our dedicated Algorithm Section with an inventory table comparing all computational techniques used across our codebase.</a:t>
            </a:r>
          </a:p>
          <a:p/>
          <a:p>
            <a:r>
              <a:t>Notice the five distinct columns: the Technique, its Purpose, its exact Location in our Codebase, its Input, and its Output.</a:t>
            </a:r>
          </a:p>
          <a:p/>
          <a:p>
            <a:r>
              <a:t>We want to highlight an important academic distinction: our project distinguishes standard graph algorithms from relational database operations and procedural business logic. </a:t>
            </a:r>
          </a:p>
          <a:p>
            <a:r>
              <a:t>- Dijkstra is our graph pathfinder for route planning.</a:t>
            </a:r>
          </a:p>
          <a:p>
            <a:r>
              <a:t>- Haversine is our trigonometric distance metric.</a:t>
            </a:r>
          </a:p>
          <a:p>
            <a:r>
              <a:t>- Python list sorting arranges candidate resources by distance.</a:t>
            </a:r>
          </a:p>
          <a:p>
            <a:r>
              <a:t>- Relational SQL ORDER BY CASE sequences our triage dashboard.</a:t>
            </a:r>
          </a:p>
          <a:p>
            <a:r>
              <a:t>- Conditional logic enforces capacity and team availability.</a:t>
            </a:r>
          </a:p>
          <a:p>
            <a:r>
              <a:t>- And NetworkX Graph structures represent our road network.</a:t>
            </a:r>
          </a:p>
          <a:p/>
          <a:p>
            <a:r>
              <a:t>Importantly, we do NOT falsely claim to implement a custom heap priority queue. Instead, we use SQL ordering for database records and NetworkX's internal heap for Dijkstra.</a:t>
            </a:r>
          </a:p>
          <a:p/>
          <a:p>
            <a:r>
              <a:t>Let us now explore Dijkstra's algorithm in detail over the next three slides.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10, we begin our deep dive into Dijkstra's algorithm by reviewing foundational graph theory.</a:t>
            </a:r>
          </a:p>
          <a:p/>
          <a:p>
            <a:r>
              <a:t>A graph G is defined formally as a pair (V, E), where V is a set of vertices and E is a set of edges. In our disaster application, vertices represent physical road intersections or emergency hubs, and edges represent road segments connecting them.</a:t>
            </a:r>
          </a:p>
          <a:p/>
          <a:p>
            <a:r>
              <a:t>Each edge has a weight, which represents traversal impedance. Under normal dry conditions, this weight is simply the physical road distance in kilometers. Under flood conditions, this weight is dynamically scaled up to reflect hazard severity.</a:t>
            </a:r>
          </a:p>
          <a:p/>
          <a:p>
            <a:r>
              <a:t>Why do we use Dijkstra's algorithm? Because road networks are weighted. A standard Breadth-First Search assumes every street has identical cost, which is false in geography. Dijkstra solves the single-source shortest path problem on weighted graphs with non-negative edge weights.</a:t>
            </a:r>
          </a:p>
          <a:p/>
          <a:p>
            <a:r>
              <a:t>Because physical road distances and flood penalties are strictly non-negative, Dijkstra's greedy choice property is guaranteed to find the optimal path.</a:t>
            </a:r>
          </a:p>
          <a:p/>
          <a:p>
            <a:r>
              <a:t>Let us now walk through a step-by-step numerical trace on Slide 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walks through an exact numerical execution trace of Dijkstra's algorithm. This is a very common viva question.</a:t>
            </a:r>
          </a:p>
          <a:p/>
          <a:p>
            <a:r>
              <a:t>Let us trace the graph: We want to go from start node S to destination T. </a:t>
            </a:r>
          </a:p>
          <a:p>
            <a:r>
              <a:t>S connects to A with weight 2, and to B with weight 1. </a:t>
            </a:r>
          </a:p>
          <a:p>
            <a:r>
              <a:t>A connects to T with weight 3. B connects to T with weight 6.</a:t>
            </a:r>
          </a:p>
          <a:p/>
          <a:p>
            <a:r>
              <a:t>Look at the trace table:</a:t>
            </a:r>
          </a:p>
          <a:p>
            <a:r>
              <a:t>At Step 0, all tentative distances are infinity except S, which is 0.</a:t>
            </a:r>
          </a:p>
          <a:p>
            <a:r>
              <a:t>At Step 1, we visit S. We relax edges to A and B. Tentative distance to A becomes 2; distance to B becomes 1.</a:t>
            </a:r>
          </a:p>
          <a:p>
            <a:r>
              <a:t>At Step 2, Dijkstra greedily picks the unvisited node with the smallest tentative distance: node B, with distance 1. From B, the edge to T has weight 6, making the tentative distance to T equal to 1 + 6 = 7.</a:t>
            </a:r>
          </a:p>
          <a:p>
            <a:r>
              <a:t>At Step 3, we pick the next smallest unvisited node: node A, with distance 2. From A, the edge to T has weight 3. We calculate 2 + 3 = 5. Since 5 is strictly less than 7, edge relaxation updates the tentative distance to T from 7 down to 5!</a:t>
            </a:r>
          </a:p>
          <a:p>
            <a:r>
              <a:t>Finally, at Step 4, T is selected with distance 5.</a:t>
            </a:r>
          </a:p>
          <a:p/>
          <a:p>
            <a:r>
              <a:t>The final optimal path is S -&gt; A -&gt; T with cost 5. Notice how Dijkstra did not get permanently trapped by the locally greedy choice of node B.</a:t>
            </a:r>
          </a:p>
          <a:p/>
          <a:p>
            <a:r>
              <a:t>Now let us examine how this exact logic is implemented in our Python codebase.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connects Dijkstra theory directly to our Python codebase in routing.py.</a:t>
            </a:r>
          </a:p>
          <a:p/>
          <a:p>
            <a:r>
              <a:t>Look at line 435 of routing.py: </a:t>
            </a:r>
          </a:p>
          <a:p>
            <a:r>
              <a:t>`path = nx.dijkstra_path(G, start_node, end_node, weight='weight')`</a:t>
            </a:r>
          </a:p>
          <a:p>
            <a:r>
              <a:t>We call NetworkX's built-in Dijkstra function. We do not write a manual heap queue because NetworkX's C-optimized binary heap implementation provides guaranteed O(|E| + |V| log |V|) performance.</a:t>
            </a:r>
          </a:p>
          <a:p/>
          <a:p>
            <a:r>
              <a:t>How do we route around floods? Through edge weight penalization. Look at lines 170 to 175 of routing.py. When a road hazard has severity 'Flooded' or 'Closed', we multiply the edge's base distance by 100! </a:t>
            </a:r>
          </a:p>
          <a:p/>
          <a:p>
            <a:r>
              <a:t>As shown in the table on the right, Route A has a base length of 3 km, but carries an 8-unit flood penalty, making its total cost 11. Route B is longer at 5 km, but has zero hazard penalty. Dijkstra compares 11 versus 5 and chooses Route B! This produces our automatic flood detour.</a:t>
            </a:r>
          </a:p>
          <a:p/>
          <a:p>
            <a:r>
              <a:t>Examiners frequently ask: What is the difference between Dijkstra and A*? </a:t>
            </a:r>
          </a:p>
          <a:p>
            <a:r>
              <a:t>Dijkstra evaluates nodes uniformly in all directions based on cost g(n). A* adds a heuristic h(n) estimating the distance to the goal, pulling the search tree toward the destination.</a:t>
            </a:r>
          </a:p>
          <a:p/>
          <a:p>
            <a:r>
              <a:t>Next, let us examine how we calculate physical geographic distances: the Haversine formula.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13, we examine our second core mathematical algorithm: the Haversine formula.</a:t>
            </a:r>
          </a:p>
          <a:p/>
          <a:p>
            <a:r>
              <a:t>Why do we need Haversine? Why can't we use standard Euclidean distance?</a:t>
            </a:r>
          </a:p>
          <a:p>
            <a:r>
              <a:t>Because the Earth is a sphere, not a flat sheet of paper. If you calculate Euclidean distance directly on latitude and longitude degrees, your distance calculation will be completely inaccurate because lines of longitude converge at the poles. One degree of longitude is 111 km in Chennai, but shrinks to zero at the North Pole.</a:t>
            </a:r>
          </a:p>
          <a:p/>
          <a:p>
            <a:r>
              <a:t>The Haversine formula calculates the great-circle distance—the shortest curved distance across the Earth's spherical surface.</a:t>
            </a:r>
          </a:p>
          <a:p/>
          <a:p>
            <a:r>
              <a:t>Look at the equations on the right:</a:t>
            </a:r>
          </a:p>
          <a:p>
            <a:r>
              <a:t>First, we convert latitude and longitude from degrees to radians.</a:t>
            </a:r>
          </a:p>
          <a:p>
            <a:r>
              <a:t>Then, we compute term 'a', which uses the square of half-angle sines combined with the cosine of both latitudes.</a:t>
            </a:r>
          </a:p>
          <a:p>
            <a:r>
              <a:t>Next, 'c' calculates the angular distance in radians using the two-argument arctangent.</a:t>
            </a:r>
          </a:p>
          <a:p>
            <a:r>
              <a:t>Finally, multiplying 'c' by the Earth's mean radius R (6,371 kilometers) yields the exact surface distance 'd' in kilometers.</a:t>
            </a:r>
          </a:p>
          <a:p/>
          <a:p>
            <a:r>
              <a:t>Let us now work through a numerical example on Slide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provides an exact numerical walkthrough of the Haversine formula and highlights its implementation in Python.</a:t>
            </a:r>
          </a:p>
          <a:p/>
          <a:p>
            <a:r>
              <a:t>On the left, we trace an illustrative calculation between Gandhipuram and RS Puram:</a:t>
            </a:r>
          </a:p>
          <a:p>
            <a:r>
              <a:t>We compute the difference in latitude (-0.0098 degrees) and longitude (-0.0240 degrees).</a:t>
            </a:r>
          </a:p>
          <a:p>
            <a:r>
              <a:t>We convert these to radians by multiplying by pi / 180.</a:t>
            </a:r>
          </a:p>
          <a:p>
            <a:r>
              <a:t>Plugging these values into the Haversine equation yields a straight-line surface distance of approximately 2.85 kilometers.</a:t>
            </a:r>
          </a:p>
          <a:p/>
          <a:p>
            <a:r>
              <a:t>Look at the code on the right: lines 71 to 80 of routing.py implement this exact formula using Python's standard `math` module.</a:t>
            </a:r>
          </a:p>
          <a:p/>
          <a:p>
            <a:r>
              <a:t>Now, examiners will test your critical thinking here. They will ask: 'Does Haversine give you the actual road travel distance?'</a:t>
            </a:r>
          </a:p>
          <a:p>
            <a:r>
              <a:t>You must answer: NO. Haversine gives straight-line geographic distance across a sphere. It does not know if there are buildings, lakes, or impassable flooded streets in between. That is why Haversine is used for initial proximity filtering, while Dijkstra and OSRM are used for actual road route planning.</a:t>
            </a:r>
          </a:p>
          <a:p/>
          <a:p>
            <a:r>
              <a:t>Next, let us see how candidate resources are sorted and selected on Slide 15.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explains our resource selection pipeline.</a:t>
            </a:r>
          </a:p>
          <a:p/>
          <a:p>
            <a:r>
              <a:t>In emergency dispatch, physical proximity is meaningless if the resource is unavailable. Our pipeline enforces a strict multi-stage rule:</a:t>
            </a:r>
          </a:p>
          <a:p>
            <a:r>
              <a:t>1. Filter by availability for rescue teams, or by verification and capacity for shelters.</a:t>
            </a:r>
          </a:p>
          <a:p>
            <a:r>
              <a:t>2. Calculate Haversine distance to the eligible candidates.</a:t>
            </a:r>
          </a:p>
          <a:p>
            <a:r>
              <a:t>3. Sort the eligible candidates in ascending order by distance using Python's O(n log n) Timsort.</a:t>
            </a:r>
          </a:p>
          <a:p>
            <a:r>
              <a:t>4. Select the top candidate.</a:t>
            </a:r>
          </a:p>
          <a:p/>
          <a:p>
            <a:r>
              <a:t>Look at the table on the right:</a:t>
            </a:r>
          </a:p>
          <a:p>
            <a:r>
              <a:t>Team C is only 1.0 km away from the incident. But Team C is 'Busy'—it is already deployed on another rescue mission. Team C is immediately disqualified.</a:t>
            </a:r>
          </a:p>
          <a:p>
            <a:r>
              <a:t>Team B is 2.1 km away and is 'Available'. Team A is 4.2 km away and is 'Available'.</a:t>
            </a:r>
          </a:p>
          <a:p>
            <a:r>
              <a:t>Team B is selected because it is the nearest *eligible* resource.</a:t>
            </a:r>
          </a:p>
          <a:p/>
          <a:p>
            <a:r>
              <a:t>An examiner might ask: 'Is sorting the same as a nearest-neighbor algorithm?'</a:t>
            </a:r>
          </a:p>
          <a:p>
            <a:r>
              <a:t>Answer: No. Sorting arranges the entire collection of n elements in O(n log n) time. A nearest-neighbor query in a spatial data structure like a k-d tree or R-tree finds the closest point in O(log n) time without sorting the entire dataset. For our scale of municipal teams, list sorting is lightweight and robust.</a:t>
            </a:r>
          </a:p>
          <a:p/>
          <a:p>
            <a:r>
              <a:t>Now let us examine how emergency requests are ordered in SQL on Slide 16.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details our emergency priority ordering in SQL. This is one of the most critical slides for your viva defense.</a:t>
            </a:r>
          </a:p>
          <a:p/>
          <a:p>
            <a:r>
              <a:t>Look at the query on the left, taken directly from lines 1105 to 1116 of app.py:</a:t>
            </a:r>
          </a:p>
          <a:p>
            <a:r>
              <a:t>```sql</a:t>
            </a:r>
          </a:p>
          <a:p>
            <a:r>
              <a:t>SELECT * FROM requests ORDER BY</a:t>
            </a:r>
          </a:p>
          <a:p>
            <a:r>
              <a:t>    CASE priority</a:t>
            </a:r>
          </a:p>
          <a:p>
            <a:r>
              <a:t>        WHEN 'Critical' THEN 1</a:t>
            </a:r>
          </a:p>
          <a:p>
            <a:r>
              <a:t>        WHEN 'High' THEN 2</a:t>
            </a:r>
          </a:p>
          <a:p>
            <a:r>
              <a:t>        WHEN 'Medium' THEN 3</a:t>
            </a:r>
          </a:p>
          <a:p>
            <a:r>
              <a:t>        ELSE 4</a:t>
            </a:r>
          </a:p>
          <a:p>
            <a:r>
              <a:t>    END,</a:t>
            </a:r>
          </a:p>
          <a:p>
            <a:r>
              <a:t>    priority_score DESC,</a:t>
            </a:r>
          </a:p>
          <a:p>
            <a:r>
              <a:t>    id DESC</a:t>
            </a:r>
          </a:p>
          <a:p>
            <a:r>
              <a:t>```</a:t>
            </a:r>
          </a:p>
          <a:p/>
          <a:p>
            <a:r>
              <a:t>How does this work?</a:t>
            </a:r>
          </a:p>
          <a:p>
            <a:r>
              <a:t>First, the SQL CASE statement maps text categories into numerical ranks: Critical becomes 1, High becomes 2, Medium becomes 3, Low becomes 4.</a:t>
            </a:r>
          </a:p>
          <a:p>
            <a:r>
              <a:t>Second, within each category, it sorts by `priority_score DESC`.</a:t>
            </a:r>
          </a:p>
          <a:p>
            <a:r>
              <a:t>Third, if two requests have the exact same score, `id DESC` acts as a tie-breaker.</a:t>
            </a:r>
          </a:p>
          <a:p/>
          <a:p>
            <a:r>
              <a:t>Now, look at the table on the right. Examiners will ask this exact question:</a:t>
            </a:r>
          </a:p>
          <a:p>
            <a:r>
              <a:t>'Look at Request B and Request C. Request C has a score of 98. Request B has a score of 80. Why does Request B appear before Request C?'</a:t>
            </a:r>
          </a:p>
          <a:p>
            <a:r>
              <a:t>Your answer must be: Because Request B has category 'Critical' (Rank 1), while Request C has category 'High' (Rank 2). The primary sort key is the category rank, which completely overrides the raw numerical score!</a:t>
            </a:r>
          </a:p>
          <a:p/>
          <a:p>
            <a:r>
              <a:t>Second viva trap: 'Is this a Priority Queue data structure?'</a:t>
            </a:r>
          </a:p>
          <a:p>
            <a:r>
              <a:t>Your answer must be clear: No, sir. This is relational database sorting via SQL ORDER BY, running in O(N log N) time on query execution. A priority queue is an abstract data structure typically implemented using a binary or Fibonacci min/max heap. We use SQL ordering because it provides ACID consistency across stateless REST API sessions.</a:t>
            </a:r>
          </a:p>
          <a:p/>
          <a:p>
            <a:r>
              <a:t>Next, let us look at the conditional logic for team and shelter allocation on Slide 17.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covers our conditional business logic for rescue teams and relief shelters.</a:t>
            </a:r>
          </a:p>
          <a:p/>
          <a:p>
            <a:r>
              <a:t>In academic computer science, students often confuse standard named algorithms with domain-specific conditional business logic. On this slide, we explicitly explain our procedural business rules.</a:t>
            </a:r>
          </a:p>
          <a:p/>
          <a:p>
            <a:r>
              <a:t>For rescue teams, we enforce a state machine: Available -&gt; Assigned -&gt; Completed -&gt; Available. Look at the code on the left from lines 1230 to 1255 of app.py. When an admin deploys a team, the query selects a team WHERE status = 'Available'. If no team is available, the endpoint returns an HTTP 409 conflict. When assigned, an atomic SQL UPDATE sets the team's status to 'Assigned'. This prevents race conditions and double-dispatch.</a:t>
            </a:r>
          </a:p>
          <a:p/>
          <a:p>
            <a:r>
              <a:t>On the right is our Shelter Capacity logic. The fundamental equation is:</a:t>
            </a:r>
          </a:p>
          <a:p>
            <a:r>
              <a:t>Available Capacity = Total Capacity - Occupied Capacity.</a:t>
            </a:r>
          </a:p>
          <a:p/>
          <a:p>
            <a:r>
              <a:t>Look at our numerical example:</a:t>
            </a:r>
          </a:p>
          <a:p>
            <a:r>
              <a:t>Corporation Community Hall has total capacity 300 and current occupancy 282. Its available capacity is 300 - 282 = 18 slots.</a:t>
            </a:r>
          </a:p>
          <a:p>
            <a:r>
              <a:t>If an emergency distress call arrives with 5 people, 18 is greater than or equal to 5, so the shelter is allocated, and occupancy updates to 287.</a:t>
            </a:r>
          </a:p>
          <a:p>
            <a:r>
              <a:t>However, if an emergency with 20 people arrives, 18 is strictly less than 20. The system rejects the assignment and searches for a larger shelter. This prevents dangerous overcrowding during disasters.</a:t>
            </a:r>
          </a:p>
          <a:p/>
          <a:p>
            <a:r>
              <a:t>Now let us synthesize all our algorithms and techniques on Slide 18.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is our comparative algorithm synthesis table. This slide proves to the examiners that our team understands the exact computational role of every technique in our system:</a:t>
            </a:r>
          </a:p>
          <a:p/>
          <a:p>
            <a:r>
              <a:t>- Dijkstra's Algorithm is a greedy graph traversal running in O(|E| + |V| log |V|). It is used for road routing and detour planning around flooded culverts.</a:t>
            </a:r>
          </a:p>
          <a:p>
            <a:r>
              <a:t>- The Haversine Formula is spherical trigonometry operating in O(1) constant time. It is used for great-circle distance calculations and spatial hazard buffer testing.</a:t>
            </a:r>
          </a:p>
          <a:p>
            <a:r>
              <a:t>- Distance-based sorting uses Python's O(n log n) Timsort to arrange eligible candidate resources from nearest to farthest.</a:t>
            </a:r>
          </a:p>
          <a:p>
            <a:r>
              <a:t>- SQL Multi-Tier Ordering uses relational database query optimization to sort emergency requests by category and score.</a:t>
            </a:r>
          </a:p>
          <a:p>
            <a:r>
              <a:t>- Conditional Allocation Logic uses procedural checks to enforce capacity limits and mutual exclusion.</a:t>
            </a:r>
          </a:p>
          <a:p/>
          <a:p>
            <a:r>
              <a:t>Notice how each technique has a distinct purpose and complexity. No single algorithm can solve an entire emergency response system—they must be combined synergistically.</a:t>
            </a:r>
          </a:p>
          <a:p/>
          <a:p>
            <a:r>
              <a:t>Let us now discuss the limitations and safety considerations of our system on Slide 19.</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demonstrates academic maturity by addressing the real-world limitations and safety considerations of our system. Evaluators strongly appreciate knowing that students understand the operational boundaries of their software.</a:t>
            </a:r>
          </a:p>
          <a:p/>
          <a:p>
            <a:r>
              <a:t>We identify four main technical limitations:</a:t>
            </a:r>
          </a:p>
          <a:p>
            <a:r>
              <a:t>1. Weather APIs have latency and update on 15-minute intervals.</a:t>
            </a:r>
          </a:p>
          <a:p>
            <a:r>
              <a:t>2. Haversine distance is straight-line and does not account for terrain obstacles.</a:t>
            </a:r>
          </a:p>
          <a:p>
            <a:r>
              <a:t>3. Road hazard data is dependent on timely reporting.</a:t>
            </a:r>
          </a:p>
          <a:p>
            <a:r>
              <a:t>4. Cellular network collapse during extreme cyclones can sever client-server connections.</a:t>
            </a:r>
          </a:p>
          <a:p/>
          <a:p>
            <a:r>
              <a:t>Most importantly, we state clearly that Dijkstra's algorithm does NOT guarantee physical safety. Dijkstra guarantees a minimum-weight path through whatever mathematical graph we provide it. If a flash flood covers a street and no human has reported it yet, Dijkstra has no magical knowledge of that water. </a:t>
            </a:r>
          </a:p>
          <a:p/>
          <a:p>
            <a:r>
              <a:t>Therefore, our system is an operational decision-support tool. Critical dispatch decisions must always retain a human-in-the-loop commander.</a:t>
            </a:r>
          </a:p>
          <a:p/>
          <a:p>
            <a:r>
              <a:t>Next, let us look at our testing and verification progress on Slide 20.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summarizes our testing and quality assurance progress.</a:t>
            </a:r>
          </a:p>
          <a:p/>
          <a:p>
            <a:r>
              <a:t>As documented in our project materials, our system is backed by 39 automated unit and integration tests written in Python's unittest framework across four test suites:</a:t>
            </a:r>
          </a:p>
          <a:p>
            <a:r>
              <a:t>1. `test_weather_telemetry.py` with 11 tests verifying live Open-Meteo calls, compass bearings, coordinate bounds, and diagnostic mode.</a:t>
            </a:r>
          </a:p>
          <a:p>
            <a:r>
              <a:t>2. `test_assignment_debug.py` with 4 tests verifying mutual exclusion in team deployment and shelter capacity increments.</a:t>
            </a:r>
          </a:p>
          <a:p>
            <a:r>
              <a:t>3. `test_system.py` with 14 tests verifying full citizen lifecycles and hazard routing.</a:t>
            </a:r>
          </a:p>
          <a:p>
            <a:r>
              <a:t>4. `test_dynamic_system.py` with 10 tests verifying multi-city geocoding across Chennai and Bengaluru.</a:t>
            </a:r>
          </a:p>
          <a:p/>
          <a:p>
            <a:r>
              <a:t>All 39 tests have passed cleanly in our local testing environment. We have also added a safe diagnostic mode (`?diagnostic=1`) that exposes raw API payload metrics for transparent debugging.</a:t>
            </a:r>
          </a:p>
          <a:p/>
          <a:p>
            <a:r>
              <a:t>As an honest academic observation, while local testing is thorough, further stress testing is planned under distributed cloud conditions.</a:t>
            </a:r>
          </a:p>
          <a:p/>
          <a:p>
            <a:r>
              <a:t>Now let us conclude with Slide 21.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21, we conclude our presentation.</a:t>
            </a:r>
          </a:p>
          <a:p/>
          <a:p>
            <a:r>
              <a:t>Our project successfully demonstrates how advanced data structures and algorithms can be engineered into an operational disaster response system:</a:t>
            </a:r>
          </a:p>
          <a:p>
            <a:r>
              <a:t>- We eliminated hardcoded geographic constraints, making the application globally adaptable.</a:t>
            </a:r>
          </a:p>
          <a:p>
            <a:r>
              <a:t>- We formulated an objective triage algorithm to prevent human bias in emergency dispatching.</a:t>
            </a:r>
          </a:p>
          <a:p>
            <a:r>
              <a:t>- We implemented hazard-aware routing using NetworkX Dijkstra to protect rescue teams from submerged culverts.</a:t>
            </a:r>
          </a:p>
          <a:p>
            <a:r>
              <a:t>- We enforced mathematical capacity bounds to prevent shelter overcrowding.</a:t>
            </a:r>
          </a:p>
          <a:p/>
          <a:p>
            <a:r>
              <a:t>Most importantly, this project demonstrates the true value of the ADSA curriculum. Data structures, graph algorithms, and computational geometry are not just theoretical interview puzzles—when applied to disaster engineering, they save human lives.</a:t>
            </a:r>
          </a:p>
          <a:p/>
          <a:p>
            <a:r>
              <a:t>Let us now move to the final slide for the viva defense.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respected faculty members and examiners. </a:t>
            </a:r>
          </a:p>
          <a:p/>
          <a:p>
            <a:r>
              <a:t>We are proud of the engineering and algorithmic foundations of the Smart Flood Rescue System. We now welcome your questions, technical critiques, and viva voce evaluation regarding our graph models, algorithm implementations, time complexities, or system architecture.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362895" cy="4754880"/>
          </a:xfrm>
          <a:prstGeom prst="rect">
            <a:avLst/>
          </a:prstGeom>
          <a:noFill/>
        </p:spPr>
        <p:txBody>
          <a:bodyPr wrap="square">
            <a:spAutoFit/>
          </a:bodyPr>
          <a:lstStyle/>
          <a:p>
            <a:pPr>
              <a:spcAft>
                <a:spcPts val="1000"/>
              </a:spcAft>
              <a:defRPr sz="1300" b="1">
                <a:solidFill>
                  <a:srgbClr val="38BDF8"/>
                </a:solidFill>
                <a:latin typeface="Calibri"/>
              </a:defRPr>
            </a:pPr>
            <a:r>
              <a:t>B.TECH ARTIFICIAL INTELLIGENCE &amp; DATA SCIENCE  |  END-SEMESTER REVIEW</a:t>
            </a:r>
          </a:p>
          <a:p>
            <a:pPr>
              <a:spcAft>
                <a:spcPts val="600"/>
              </a:spcAft>
              <a:defRPr sz="4000" b="1">
                <a:solidFill>
                  <a:srgbClr val="F8FAFC"/>
                </a:solidFill>
                <a:latin typeface="Calibri"/>
              </a:defRPr>
            </a:pPr>
            <a:r>
              <a:t>SMART FLOOD RESCUE SYSTEM</a:t>
            </a:r>
          </a:p>
          <a:p>
            <a:pPr>
              <a:spcAft>
                <a:spcPts val="2800"/>
              </a:spcAft>
              <a:defRPr sz="1800">
                <a:solidFill>
                  <a:srgbClr val="60A5FA"/>
                </a:solidFill>
                <a:latin typeface="Calibri"/>
              </a:defRPr>
            </a:pPr>
            <a:r>
              <a:t>Advanced Data Structures &amp; Algorithms (ADSA) Project Evaluation</a:t>
            </a:r>
          </a:p>
          <a:p>
            <a:pPr>
              <a:spcAft>
                <a:spcPts val="400"/>
              </a:spcAft>
              <a:defRPr sz="1200" b="1">
                <a:solidFill>
                  <a:srgbClr val="94A3B8"/>
                </a:solidFill>
                <a:latin typeface="Calibri"/>
              </a:defRPr>
            </a:pPr>
            <a:r>
              <a:t>PRESENTED BY TEAM NO. 06:</a:t>
            </a:r>
          </a:p>
          <a:p>
            <a:pPr>
              <a:spcAft>
                <a:spcPts val="300"/>
              </a:spcAft>
              <a:defRPr sz="1300" b="1">
                <a:solidFill>
                  <a:srgbClr val="F8FAFC"/>
                </a:solidFill>
                <a:latin typeface="Calibri"/>
              </a:defRPr>
            </a:pPr>
            <a:r>
              <a:t>• U. Raghu Nandan — CB.AI.U4AID25056</a:t>
            </a:r>
          </a:p>
          <a:p>
            <a:pPr>
              <a:spcAft>
                <a:spcPts val="300"/>
              </a:spcAft>
              <a:defRPr sz="1300" b="1">
                <a:solidFill>
                  <a:srgbClr val="F8FAFC"/>
                </a:solidFill>
                <a:latin typeface="Calibri"/>
              </a:defRPr>
            </a:pPr>
            <a:r>
              <a:t>• Likhith K. — CB.AI.U4AID25063</a:t>
            </a:r>
          </a:p>
          <a:p>
            <a:pPr>
              <a:spcAft>
                <a:spcPts val="300"/>
              </a:spcAft>
              <a:defRPr sz="1300" b="1">
                <a:solidFill>
                  <a:srgbClr val="F8FAFC"/>
                </a:solidFill>
                <a:latin typeface="Calibri"/>
              </a:defRPr>
            </a:pPr>
            <a:r>
              <a:t>• Akshaya S. — CB.AI.U4AID25051</a:t>
            </a:r>
          </a:p>
          <a:p>
            <a:br/>
            <a:pPr>
              <a:defRPr sz="1100">
                <a:solidFill>
                  <a:srgbClr val="94A3B8"/>
                </a:solidFill>
                <a:latin typeface="Calibri"/>
              </a:defRPr>
            </a:pPr>
            <a:r>
              <a:t>Department of Computer Science &amp; Engineering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Introduction: Disaster Realities &amp; Centralized Coordination</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02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5212080" cy="4846320"/>
          </a:xfrm>
          <a:prstGeom prst="roundRect">
            <a:avLst/>
          </a:prstGeom>
          <a:solidFill>
            <a:srgbClr val="172A4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846320" cy="4480560"/>
          </a:xfrm>
          <a:prstGeom prst="rect">
            <a:avLst/>
          </a:prstGeom>
          <a:noFill/>
        </p:spPr>
        <p:txBody>
          <a:bodyPr wrap="square" lIns="0" tIns="0" rIns="0" bIns="0">
            <a:spAutoFit/>
          </a:bodyPr>
          <a:lstStyle/>
          <a:p>
            <a:pPr>
              <a:spcAft>
                <a:spcPts val="300"/>
              </a:spcAft>
              <a:defRPr sz="1500" b="1">
                <a:solidFill>
                  <a:srgbClr val="EF4444"/>
                </a:solidFill>
                <a:latin typeface="Calibri"/>
              </a:defRPr>
            </a:pPr>
            <a:r>
              <a:t>What Floods Are &amp; Why Coordination Matters</a:t>
            </a:r>
          </a:p>
          <a:p>
            <a:pPr>
              <a:spcAft>
                <a:spcPts val="600"/>
              </a:spcAft>
              <a:defRPr sz="1050">
                <a:solidFill>
                  <a:srgbClr val="94A3B8"/>
                </a:solidFill>
                <a:latin typeface="Calibri"/>
              </a:defRPr>
            </a:pPr>
            <a:r>
              <a:t>The Physical Disaster Context</a:t>
            </a:r>
          </a:p>
          <a:p>
            <a:pPr>
              <a:spcAft>
                <a:spcPts val="400"/>
              </a:spcAft>
              <a:defRPr sz="1100">
                <a:solidFill>
                  <a:srgbClr val="F8FAFC"/>
                </a:solidFill>
                <a:latin typeface="Calibri"/>
              </a:defRPr>
            </a:pPr>
            <a:r>
              <a:t>•  Urban Inundation Reality: Urban flooding occurs when intense precipitation overwhelms natural drainage channels and civic infrastructure.</a:t>
            </a:r>
          </a:p>
          <a:p>
            <a:pPr>
              <a:spcAft>
                <a:spcPts val="400"/>
              </a:spcAft>
              <a:defRPr sz="1100">
                <a:solidFill>
                  <a:srgbClr val="F8FAFC"/>
                </a:solidFill>
                <a:latin typeface="Calibri"/>
              </a:defRPr>
            </a:pPr>
            <a:r>
              <a:t>•  Recurring Catastrophes: Events in Chennai (2015/2023), Bengaluru (2022), and Coimbatore flash floods demonstrate rapid water level rise within minutes.</a:t>
            </a:r>
          </a:p>
          <a:p>
            <a:pPr>
              <a:spcAft>
                <a:spcPts val="400"/>
              </a:spcAft>
              <a:defRPr sz="1100">
                <a:solidFill>
                  <a:srgbClr val="F8FAFC"/>
                </a:solidFill>
                <a:latin typeface="Calibri"/>
              </a:defRPr>
            </a:pPr>
            <a:r>
              <a:t>•  Life-Safety Criticality: Evacuation delays, trapped vulnerable citizens (infants, elderly), and impassable roads lead to preventable loss of life.</a:t>
            </a:r>
          </a:p>
          <a:p>
            <a:pPr>
              <a:spcAft>
                <a:spcPts val="400"/>
              </a:spcAft>
              <a:defRPr sz="1100">
                <a:solidFill>
                  <a:srgbClr val="F8FAFC"/>
                </a:solidFill>
                <a:latin typeface="Calibri"/>
              </a:defRPr>
            </a:pPr>
            <a:r>
              <a:t>•  The Chaos Factor: During flash floods, standard civilian life is halted, power grids fail, and citizens panic without clear evacuation directives.</a:t>
            </a:r>
          </a:p>
        </p:txBody>
      </p:sp>
      <p:sp>
        <p:nvSpPr>
          <p:cNvPr id="9" name="Rounded Rectangle 8"/>
          <p:cNvSpPr/>
          <p:nvPr/>
        </p:nvSpPr>
        <p:spPr>
          <a:xfrm>
            <a:off x="6217920" y="1463040"/>
            <a:ext cx="5212080" cy="4846320"/>
          </a:xfrm>
          <a:prstGeom prst="roundRect">
            <a:avLst/>
          </a:prstGeom>
          <a:solidFill>
            <a:srgbClr val="17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480560"/>
          </a:xfrm>
          <a:prstGeom prst="rect">
            <a:avLst/>
          </a:prstGeom>
          <a:noFill/>
        </p:spPr>
        <p:txBody>
          <a:bodyPr wrap="square" lIns="0" tIns="0" rIns="0" bIns="0">
            <a:spAutoFit/>
          </a:bodyPr>
          <a:lstStyle/>
          <a:p>
            <a:pPr>
              <a:spcAft>
                <a:spcPts val="300"/>
              </a:spcAft>
              <a:defRPr sz="1500" b="1">
                <a:solidFill>
                  <a:srgbClr val="38BDF8"/>
                </a:solidFill>
                <a:latin typeface="Calibri"/>
              </a:defRPr>
            </a:pPr>
            <a:r>
              <a:t>The Digital Coordination Solution</a:t>
            </a:r>
          </a:p>
          <a:p>
            <a:pPr>
              <a:spcAft>
                <a:spcPts val="600"/>
              </a:spcAft>
              <a:defRPr sz="1050">
                <a:solidFill>
                  <a:srgbClr val="94A3B8"/>
                </a:solidFill>
                <a:latin typeface="Calibri"/>
              </a:defRPr>
            </a:pPr>
            <a:r>
              <a:t>System Vision &amp; Purpose</a:t>
            </a:r>
          </a:p>
          <a:p>
            <a:pPr>
              <a:spcAft>
                <a:spcPts val="400"/>
              </a:spcAft>
              <a:defRPr sz="1100">
                <a:solidFill>
                  <a:srgbClr val="F8FAFC"/>
                </a:solidFill>
                <a:latin typeface="Calibri"/>
              </a:defRPr>
            </a:pPr>
            <a:r>
              <a:t>•  The Problem of Scattered Information: Emergency calls currently arrive across fragmented social media, private phone helplines, and verbal reports without centralized verification.</a:t>
            </a:r>
          </a:p>
          <a:p>
            <a:pPr>
              <a:spcAft>
                <a:spcPts val="400"/>
              </a:spcAft>
              <a:defRPr sz="1100">
                <a:solidFill>
                  <a:srgbClr val="F8FAFC"/>
                </a:solidFill>
                <a:latin typeface="Calibri"/>
              </a:defRPr>
            </a:pPr>
            <a:r>
              <a:t>•  Consequences of Fragmentation: Duplication of rescue missions, misdirection of boats to low-risk areas, and neglected critical patients.</a:t>
            </a:r>
          </a:p>
          <a:p>
            <a:pPr>
              <a:spcAft>
                <a:spcPts val="400"/>
              </a:spcAft>
              <a:defRPr sz="1100">
                <a:solidFill>
                  <a:srgbClr val="F8FAFC"/>
                </a:solidFill>
                <a:latin typeface="Calibri"/>
              </a:defRPr>
            </a:pPr>
            <a:r>
              <a:t>•  Why a Centralized Digital System is Needed: Aggregates real-time citizen distress calls, dynamically verifies shelters, and tracks rescue fleets on one unified dashboard.</a:t>
            </a:r>
          </a:p>
          <a:p>
            <a:pPr>
              <a:spcAft>
                <a:spcPts val="400"/>
              </a:spcAft>
              <a:defRPr sz="1100">
                <a:solidFill>
                  <a:srgbClr val="F8FAFC"/>
                </a:solidFill>
                <a:latin typeface="Calibri"/>
              </a:defRPr>
            </a:pPr>
            <a:r>
              <a:t>•  Main Idea of Our Project: A full-stack disaster management system that combines live weather telemetry, algorithmic triage, hazard-aware routing, and capacity management.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Problem Statement: Operational Bottlenecks in Disasters</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03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3291840" cy="4846320"/>
          </a:xfrm>
          <a:prstGeom prst="roundRect">
            <a:avLst/>
          </a:prstGeom>
          <a:solidFill>
            <a:srgbClr val="172A4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26080" cy="4480560"/>
          </a:xfrm>
          <a:prstGeom prst="rect">
            <a:avLst/>
          </a:prstGeom>
          <a:noFill/>
        </p:spPr>
        <p:txBody>
          <a:bodyPr wrap="square" lIns="0" tIns="0" rIns="0" bIns="0">
            <a:spAutoFit/>
          </a:bodyPr>
          <a:lstStyle/>
          <a:p>
            <a:pPr>
              <a:spcAft>
                <a:spcPts val="300"/>
              </a:spcAft>
              <a:defRPr sz="1500" b="1">
                <a:solidFill>
                  <a:srgbClr val="EF4444"/>
                </a:solidFill>
                <a:latin typeface="Calibri"/>
              </a:defRPr>
            </a:pPr>
            <a:r>
              <a:t>1. Concurrency &amp; Urgency</a:t>
            </a:r>
          </a:p>
          <a:p>
            <a:pPr>
              <a:spcAft>
                <a:spcPts val="600"/>
              </a:spcAft>
              <a:defRPr sz="1050">
                <a:solidFill>
                  <a:srgbClr val="94A3B8"/>
                </a:solidFill>
                <a:latin typeface="Calibri"/>
              </a:defRPr>
            </a:pPr>
            <a:r>
              <a:t>Triage &amp; Scale Bottlenecks</a:t>
            </a:r>
          </a:p>
          <a:p>
            <a:pPr>
              <a:spcAft>
                <a:spcPts val="400"/>
              </a:spcAft>
              <a:defRPr sz="1100">
                <a:solidFill>
                  <a:srgbClr val="F8FAFC"/>
                </a:solidFill>
                <a:latin typeface="Calibri"/>
              </a:defRPr>
            </a:pPr>
            <a:r>
              <a:t>•  Simultaneous SOS Calls: Hundreds of distress calls flood dispatch centers at the peak of a storm.</a:t>
            </a:r>
          </a:p>
          <a:p>
            <a:pPr>
              <a:spcAft>
                <a:spcPts val="400"/>
              </a:spcAft>
              <a:defRPr sz="1100">
                <a:solidFill>
                  <a:srgbClr val="F8FAFC"/>
                </a:solidFill>
                <a:latin typeface="Calibri"/>
              </a:defRPr>
            </a:pPr>
            <a:r>
              <a:t>•  Varying Severity: A call for food assistance arrives at the same moment as an SOS for a submerged ground floor with an infant.</a:t>
            </a:r>
          </a:p>
          <a:p>
            <a:pPr>
              <a:spcAft>
                <a:spcPts val="400"/>
              </a:spcAft>
              <a:defRPr sz="1100">
                <a:solidFill>
                  <a:srgbClr val="F8FAFC"/>
                </a:solidFill>
                <a:latin typeface="Calibri"/>
              </a:defRPr>
            </a:pPr>
            <a:r>
              <a:t>•  Subjective Human Triage: Overworked dispatchers using first-come-first-served queues inadvertently deprioritize critical lives.</a:t>
            </a:r>
          </a:p>
          <a:p>
            <a:pPr>
              <a:spcAft>
                <a:spcPts val="400"/>
              </a:spcAft>
              <a:defRPr sz="1100">
                <a:solidFill>
                  <a:srgbClr val="F8FAFC"/>
                </a:solidFill>
                <a:latin typeface="Calibri"/>
              </a:defRPr>
            </a:pPr>
            <a:r>
              <a:t>•  Latency Danger: Every minute lost reviewing low-urgency records increases drowning risks.</a:t>
            </a:r>
          </a:p>
        </p:txBody>
      </p:sp>
      <p:sp>
        <p:nvSpPr>
          <p:cNvPr id="9" name="Rounded Rectangle 8"/>
          <p:cNvSpPr/>
          <p:nvPr/>
        </p:nvSpPr>
        <p:spPr>
          <a:xfrm>
            <a:off x="4389120" y="1463040"/>
            <a:ext cx="3291840" cy="4846320"/>
          </a:xfrm>
          <a:prstGeom prst="roundRect">
            <a:avLst/>
          </a:prstGeom>
          <a:solidFill>
            <a:srgbClr val="172A4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645920"/>
            <a:ext cx="2926080" cy="4480560"/>
          </a:xfrm>
          <a:prstGeom prst="rect">
            <a:avLst/>
          </a:prstGeom>
          <a:noFill/>
        </p:spPr>
        <p:txBody>
          <a:bodyPr wrap="square" lIns="0" tIns="0" rIns="0" bIns="0">
            <a:spAutoFit/>
          </a:bodyPr>
          <a:lstStyle/>
          <a:p>
            <a:pPr>
              <a:spcAft>
                <a:spcPts val="300"/>
              </a:spcAft>
              <a:defRPr sz="1500" b="1">
                <a:solidFill>
                  <a:srgbClr val="F59E0B"/>
                </a:solidFill>
                <a:latin typeface="Calibri"/>
              </a:defRPr>
            </a:pPr>
            <a:r>
              <a:t>2. Resource &amp; Capacity Limits</a:t>
            </a:r>
          </a:p>
          <a:p>
            <a:pPr>
              <a:spcAft>
                <a:spcPts val="600"/>
              </a:spcAft>
              <a:defRPr sz="1050">
                <a:solidFill>
                  <a:srgbClr val="94A3B8"/>
                </a:solidFill>
                <a:latin typeface="Calibri"/>
              </a:defRPr>
            </a:pPr>
            <a:r>
              <a:t>Physical Constraints</a:t>
            </a:r>
          </a:p>
          <a:p>
            <a:pPr>
              <a:spcAft>
                <a:spcPts val="400"/>
              </a:spcAft>
              <a:defRPr sz="1100">
                <a:solidFill>
                  <a:srgbClr val="F8FAFC"/>
                </a:solidFill>
                <a:latin typeface="Calibri"/>
              </a:defRPr>
            </a:pPr>
            <a:r>
              <a:t>•  Finite Rescue Teams: Municipalities possess a limited inventory of inflatable boats, NDRF teams, and high-clearance trucks.</a:t>
            </a:r>
          </a:p>
          <a:p>
            <a:pPr>
              <a:spcAft>
                <a:spcPts val="400"/>
              </a:spcAft>
              <a:defRPr sz="1100">
                <a:solidFill>
                  <a:srgbClr val="F8FAFC"/>
                </a:solidFill>
                <a:latin typeface="Calibri"/>
              </a:defRPr>
            </a:pPr>
            <a:r>
              <a:t>•  Double-Booking Risks: Without concurrency locks, multiple operators assign the same rescue team simultaneously.</a:t>
            </a:r>
          </a:p>
          <a:p>
            <a:pPr>
              <a:spcAft>
                <a:spcPts val="400"/>
              </a:spcAft>
              <a:defRPr sz="1100">
                <a:solidFill>
                  <a:srgbClr val="F8FAFC"/>
                </a:solidFill>
                <a:latin typeface="Calibri"/>
              </a:defRPr>
            </a:pPr>
            <a:r>
              <a:t>•  Shelter Capacity Violations: Relief camps (schools, halls) have hard physical capacity limits.</a:t>
            </a:r>
          </a:p>
          <a:p>
            <a:pPr>
              <a:spcAft>
                <a:spcPts val="400"/>
              </a:spcAft>
              <a:defRPr sz="1100">
                <a:solidFill>
                  <a:srgbClr val="F8FAFC"/>
                </a:solidFill>
                <a:latin typeface="Calibri"/>
              </a:defRPr>
            </a:pPr>
            <a:r>
              <a:t>•  Overcrowding Hazards: Sending evacuees to an over-capacity shelter causes health hazards, food shortages, and secondary displacement.</a:t>
            </a:r>
          </a:p>
        </p:txBody>
      </p:sp>
      <p:sp>
        <p:nvSpPr>
          <p:cNvPr id="11" name="Rounded Rectangle 10"/>
          <p:cNvSpPr/>
          <p:nvPr/>
        </p:nvSpPr>
        <p:spPr>
          <a:xfrm>
            <a:off x="8046720" y="1463040"/>
            <a:ext cx="3291840" cy="4846320"/>
          </a:xfrm>
          <a:prstGeom prst="roundRect">
            <a:avLst/>
          </a:prstGeom>
          <a:solidFill>
            <a:srgbClr val="17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645920"/>
            <a:ext cx="2926080" cy="4480560"/>
          </a:xfrm>
          <a:prstGeom prst="rect">
            <a:avLst/>
          </a:prstGeom>
          <a:noFill/>
        </p:spPr>
        <p:txBody>
          <a:bodyPr wrap="square" lIns="0" tIns="0" rIns="0" bIns="0">
            <a:spAutoFit/>
          </a:bodyPr>
          <a:lstStyle/>
          <a:p>
            <a:pPr>
              <a:spcAft>
                <a:spcPts val="300"/>
              </a:spcAft>
              <a:defRPr sz="1500" b="1">
                <a:solidFill>
                  <a:srgbClr val="38BDF8"/>
                </a:solidFill>
                <a:latin typeface="Calibri"/>
              </a:defRPr>
            </a:pPr>
            <a:r>
              <a:t>3. Road Network Hazards</a:t>
            </a:r>
          </a:p>
          <a:p>
            <a:pPr>
              <a:spcAft>
                <a:spcPts val="600"/>
              </a:spcAft>
              <a:defRPr sz="1050">
                <a:solidFill>
                  <a:srgbClr val="94A3B8"/>
                </a:solidFill>
                <a:latin typeface="Calibri"/>
              </a:defRPr>
            </a:pPr>
            <a:r>
              <a:t>Geospatial Road Failures</a:t>
            </a:r>
          </a:p>
          <a:p>
            <a:pPr>
              <a:spcAft>
                <a:spcPts val="400"/>
              </a:spcAft>
              <a:defRPr sz="1100">
                <a:solidFill>
                  <a:srgbClr val="F8FAFC"/>
                </a:solidFill>
                <a:latin typeface="Calibri"/>
              </a:defRPr>
            </a:pPr>
            <a:r>
              <a:t>•  Blind Navigation Engines: Commercial GPS engines (Google Maps/Apple Maps) route vehicles via shortest distance regardless of flood water.</a:t>
            </a:r>
          </a:p>
          <a:p>
            <a:pPr>
              <a:spcAft>
                <a:spcPts val="400"/>
              </a:spcAft>
              <a:defRPr sz="1100">
                <a:solidFill>
                  <a:srgbClr val="F8FAFC"/>
                </a:solidFill>
                <a:latin typeface="Calibri"/>
              </a:defRPr>
            </a:pPr>
            <a:r>
              <a:t>•  Submerged Underpasses: Underpasses and river culverts (e.g. Sungam Bypass) become death traps for rescue vans and fleeing citizens.</a:t>
            </a:r>
          </a:p>
          <a:p>
            <a:pPr>
              <a:spcAft>
                <a:spcPts val="400"/>
              </a:spcAft>
              <a:defRPr sz="1100">
                <a:solidFill>
                  <a:srgbClr val="F8FAFC"/>
                </a:solidFill>
                <a:latin typeface="Calibri"/>
              </a:defRPr>
            </a:pPr>
            <a:r>
              <a:t>•  Dynamic Obstructions: Washed-out culverts and fallen trees change road viability minute-by-minute.</a:t>
            </a:r>
          </a:p>
          <a:p>
            <a:pPr>
              <a:spcAft>
                <a:spcPts val="400"/>
              </a:spcAft>
              <a:defRPr sz="1100">
                <a:solidFill>
                  <a:srgbClr val="F8FAFC"/>
                </a:solidFill>
                <a:latin typeface="Calibri"/>
              </a:defRPr>
            </a:pPr>
            <a:r>
              <a:t>•  Need for Hazard Routing: Routes must explicitly factor in reported road closures and compute safe detours.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Project Objectives &amp; Technical Scope</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04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5212080" cy="4846320"/>
          </a:xfrm>
          <a:prstGeom prst="roundRect">
            <a:avLst/>
          </a:prstGeom>
          <a:solidFill>
            <a:srgbClr val="17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846320" cy="4480560"/>
          </a:xfrm>
          <a:prstGeom prst="rect">
            <a:avLst/>
          </a:prstGeom>
          <a:noFill/>
        </p:spPr>
        <p:txBody>
          <a:bodyPr wrap="square" lIns="0" tIns="0" rIns="0" bIns="0">
            <a:spAutoFit/>
          </a:bodyPr>
          <a:lstStyle/>
          <a:p>
            <a:pPr>
              <a:spcAft>
                <a:spcPts val="300"/>
              </a:spcAft>
              <a:defRPr sz="1500" b="1">
                <a:solidFill>
                  <a:srgbClr val="38BDF8"/>
                </a:solidFill>
                <a:latin typeface="Calibri"/>
              </a:defRPr>
            </a:pPr>
            <a:r>
              <a:t>Core Objectives</a:t>
            </a:r>
          </a:p>
          <a:p>
            <a:pPr>
              <a:spcAft>
                <a:spcPts val="600"/>
              </a:spcAft>
              <a:defRPr sz="1050">
                <a:solidFill>
                  <a:srgbClr val="94A3B8"/>
                </a:solidFill>
                <a:latin typeface="Calibri"/>
              </a:defRPr>
            </a:pPr>
            <a:r>
              <a:t>System Requirements &amp; Deliverables</a:t>
            </a:r>
          </a:p>
          <a:p>
            <a:pPr>
              <a:spcAft>
                <a:spcPts val="400"/>
              </a:spcAft>
              <a:defRPr sz="1100">
                <a:solidFill>
                  <a:srgbClr val="F8FAFC"/>
                </a:solidFill>
                <a:latin typeface="Calibri"/>
              </a:defRPr>
            </a:pPr>
            <a:r>
              <a:t>•  1. Automated Incident Intake: Provide a responsive, touch-friendly citizen web interface to register SOS distress calls with headcount, flood depth, and GPS coordinates.</a:t>
            </a:r>
          </a:p>
          <a:p>
            <a:pPr>
              <a:spcAft>
                <a:spcPts val="400"/>
              </a:spcAft>
              <a:defRPr sz="1100">
                <a:solidFill>
                  <a:srgbClr val="F8FAFC"/>
                </a:solidFill>
                <a:latin typeface="Calibri"/>
              </a:defRPr>
            </a:pPr>
            <a:r>
              <a:t>•  2. Multi-Factor Mathematical Triage: Formulate an algorithmic prioritization model that scores emergencies objectively based on life-safety risks.</a:t>
            </a:r>
          </a:p>
          <a:p>
            <a:pPr>
              <a:spcAft>
                <a:spcPts val="400"/>
              </a:spcAft>
              <a:defRPr sz="1100">
                <a:solidFill>
                  <a:srgbClr val="F8FAFC"/>
                </a:solidFill>
                <a:latin typeface="Calibri"/>
              </a:defRPr>
            </a:pPr>
            <a:r>
              <a:t>•  3. Hazard-Aware Safe Routing: Integrate a graph-based routing engine that detects reported flooded road segments and computes safe detour paths.</a:t>
            </a:r>
          </a:p>
          <a:p>
            <a:pPr>
              <a:spcAft>
                <a:spcPts val="400"/>
              </a:spcAft>
              <a:defRPr sz="1100">
                <a:solidFill>
                  <a:srgbClr val="F8FAFC"/>
                </a:solidFill>
                <a:latin typeface="Calibri"/>
              </a:defRPr>
            </a:pPr>
            <a:r>
              <a:t>•  4. Dynamic Shelter Capacity Control: Ensure shelters are vetted and enforce available capacity constraints before assigning evacuees.</a:t>
            </a:r>
          </a:p>
          <a:p>
            <a:pPr>
              <a:spcAft>
                <a:spcPts val="400"/>
              </a:spcAft>
              <a:defRPr sz="1100">
                <a:solidFill>
                  <a:srgbClr val="F8FAFC"/>
                </a:solidFill>
                <a:latin typeface="Calibri"/>
              </a:defRPr>
            </a:pPr>
            <a:r>
              <a:t>•  5. Live Weather Intelligence: Query official meteorological forecast APIs to display ambient temperature, humidity, wind velocity, and forward rainfall curves.</a:t>
            </a:r>
          </a:p>
        </p:txBody>
      </p:sp>
      <p:sp>
        <p:nvSpPr>
          <p:cNvPr id="9" name="Rounded Rectangle 8"/>
          <p:cNvSpPr/>
          <p:nvPr/>
        </p:nvSpPr>
        <p:spPr>
          <a:xfrm>
            <a:off x="6217920" y="1463040"/>
            <a:ext cx="5212080" cy="4846320"/>
          </a:xfrm>
          <a:prstGeom prst="roundRect">
            <a:avLst/>
          </a:prstGeom>
          <a:solidFill>
            <a:srgbClr val="172A45"/>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480560"/>
          </a:xfrm>
          <a:prstGeom prst="rect">
            <a:avLst/>
          </a:prstGeom>
          <a:noFill/>
        </p:spPr>
        <p:txBody>
          <a:bodyPr wrap="square" lIns="0" tIns="0" rIns="0" bIns="0">
            <a:spAutoFit/>
          </a:bodyPr>
          <a:lstStyle/>
          <a:p>
            <a:pPr>
              <a:spcAft>
                <a:spcPts val="300"/>
              </a:spcAft>
              <a:defRPr sz="1500" b="1">
                <a:solidFill>
                  <a:srgbClr val="22C55E"/>
                </a:solidFill>
                <a:latin typeface="Calibri"/>
              </a:defRPr>
            </a:pPr>
            <a:r>
              <a:t>How Our Application Addresses Each Objective</a:t>
            </a:r>
          </a:p>
          <a:p>
            <a:pPr>
              <a:spcAft>
                <a:spcPts val="600"/>
              </a:spcAft>
              <a:defRPr sz="1050">
                <a:solidFill>
                  <a:srgbClr val="94A3B8"/>
                </a:solidFill>
                <a:latin typeface="Calibri"/>
              </a:defRPr>
            </a:pPr>
            <a:r>
              <a:t>Implementation Alignment</a:t>
            </a:r>
          </a:p>
          <a:p>
            <a:pPr>
              <a:spcAft>
                <a:spcPts val="400"/>
              </a:spcAft>
              <a:defRPr sz="1100">
                <a:solidFill>
                  <a:srgbClr val="F8FAFC"/>
                </a:solidFill>
                <a:latin typeface="Calibri"/>
              </a:defRPr>
            </a:pPr>
            <a:r>
              <a:t>•  • Objective 1 Solution: HTML5/JS Citizen Portal with W3C Geolocation API, Open-Meteo Geocoding, and SQLite ACID transaction persistence.</a:t>
            </a:r>
          </a:p>
          <a:p>
            <a:pPr>
              <a:spcAft>
                <a:spcPts val="400"/>
              </a:spcAft>
              <a:defRPr sz="1100">
                <a:solidFill>
                  <a:srgbClr val="F8FAFC"/>
                </a:solidFill>
                <a:latin typeface="Calibri"/>
              </a:defRPr>
            </a:pPr>
            <a:r>
              <a:t>•  • Objective 2 Solution: Transparent mathematical scoring in `prioritization.py` and multi-tier SQL ordering via `ORDER BY CASE priority`.</a:t>
            </a:r>
          </a:p>
          <a:p>
            <a:pPr>
              <a:spcAft>
                <a:spcPts val="400"/>
              </a:spcAft>
              <a:defRPr sz="1100">
                <a:solidFill>
                  <a:srgbClr val="F8FAFC"/>
                </a:solidFill>
                <a:latin typeface="Calibri"/>
              </a:defRPr>
            </a:pPr>
            <a:r>
              <a:t>•  • Objective 3 Solution: Dual routing architecture using Open Source Routing Machine (OSRM) with fallback to NetworkX Dijkstra's algorithm on a penalized graph.</a:t>
            </a:r>
          </a:p>
          <a:p>
            <a:pPr>
              <a:spcAft>
                <a:spcPts val="400"/>
              </a:spcAft>
              <a:defRPr sz="1100">
                <a:solidFill>
                  <a:srgbClr val="F8FAFC"/>
                </a:solidFill>
                <a:latin typeface="Calibri"/>
              </a:defRPr>
            </a:pPr>
            <a:r>
              <a:t>•  • Objective 4 Solution: Real-time capacity formula `Available = Total - Occupied` combined with OpenStreetMap Overpass/Nominatim discovery.</a:t>
            </a:r>
          </a:p>
          <a:p>
            <a:pPr>
              <a:spcAft>
                <a:spcPts val="400"/>
              </a:spcAft>
              <a:defRPr sz="1100">
                <a:solidFill>
                  <a:srgbClr val="F8FAFC"/>
                </a:solidFill>
                <a:latin typeface="Calibri"/>
              </a:defRPr>
            </a:pPr>
            <a:r>
              <a:t>•  • Objective 5 Solution: Open-Meteo NWP model telemetry pipeline with WMO 4677 standard code translation and rain probability separation.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System Architecture: Layered Full-Stack Design</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05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10728655" cy="841248"/>
          </a:xfrm>
          <a:prstGeom prst="roundRect">
            <a:avLst/>
          </a:prstGeom>
          <a:solidFill>
            <a:srgbClr val="17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36192"/>
            <a:ext cx="10332720" cy="685800"/>
          </a:xfrm>
          <a:prstGeom prst="rect">
            <a:avLst/>
          </a:prstGeom>
          <a:noFill/>
        </p:spPr>
        <p:txBody>
          <a:bodyPr wrap="square">
            <a:spAutoFit/>
          </a:bodyPr>
          <a:lstStyle/>
          <a:p>
            <a:pPr>
              <a:defRPr sz="1300" b="1">
                <a:solidFill>
                  <a:srgbClr val="38BDF8"/>
                </a:solidFill>
                <a:latin typeface="Calibri"/>
              </a:defRPr>
            </a:pPr>
            <a:r>
              <a:t>1. Presentation Tier (Frontend)</a:t>
            </a:r>
          </a:p>
          <a:p>
            <a:pPr>
              <a:defRPr sz="1000">
                <a:solidFill>
                  <a:srgbClr val="F8FAFC"/>
                </a:solidFill>
                <a:latin typeface="Calibri"/>
              </a:defRPr>
            </a:pPr>
            <a:r>
              <a:t>HTML5, CSS3 Responsive Dark Theme, Vanilla JavaScript</a:t>
            </a:r>
            <a:br/>
            <a:r>
              <a:t>Leaflet.js Interactive GIS Maps, Chart.js Telemetry Canvas</a:t>
            </a:r>
            <a:br/>
            <a:r>
              <a:t>W3C Browser Geolocation API (±accuracy filtering)</a:t>
            </a:r>
          </a:p>
        </p:txBody>
      </p:sp>
      <p:sp>
        <p:nvSpPr>
          <p:cNvPr id="9" name="Rounded Rectangle 8"/>
          <p:cNvSpPr/>
          <p:nvPr/>
        </p:nvSpPr>
        <p:spPr>
          <a:xfrm>
            <a:off x="731520" y="2423160"/>
            <a:ext cx="10728655" cy="841248"/>
          </a:xfrm>
          <a:prstGeom prst="roundRect">
            <a:avLst/>
          </a:prstGeom>
          <a:solidFill>
            <a:srgbClr val="172A45"/>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96312"/>
            <a:ext cx="10332720" cy="685800"/>
          </a:xfrm>
          <a:prstGeom prst="rect">
            <a:avLst/>
          </a:prstGeom>
          <a:noFill/>
        </p:spPr>
        <p:txBody>
          <a:bodyPr wrap="square">
            <a:spAutoFit/>
          </a:bodyPr>
          <a:lstStyle/>
          <a:p>
            <a:pPr>
              <a:defRPr sz="1300" b="1">
                <a:solidFill>
                  <a:srgbClr val="2563EB"/>
                </a:solidFill>
                <a:latin typeface="Calibri"/>
              </a:defRPr>
            </a:pPr>
            <a:r>
              <a:t>2. Application Controller Tier (Flask Backend)</a:t>
            </a:r>
          </a:p>
          <a:p>
            <a:pPr>
              <a:defRPr sz="1000">
                <a:solidFill>
                  <a:srgbClr val="F8FAFC"/>
                </a:solidFill>
                <a:latin typeface="Calibri"/>
              </a:defRPr>
            </a:pPr>
            <a:r>
              <a:t>Python 3.13 Flask WSGI Microservices &amp; RESTful API Endpoints</a:t>
            </a:r>
            <a:br/>
            <a:r>
              <a:t>Role-Based Session Authorization Guards (Citizen, Admin EOC, Rescue Teams)</a:t>
            </a:r>
            <a:br/>
            <a:r>
              <a:t>Input Sanitation, Coordinate Bounds Checking (-90° to 90°, -180° to 180°)</a:t>
            </a:r>
          </a:p>
        </p:txBody>
      </p:sp>
      <p:sp>
        <p:nvSpPr>
          <p:cNvPr id="11" name="Rounded Rectangle 10"/>
          <p:cNvSpPr/>
          <p:nvPr/>
        </p:nvSpPr>
        <p:spPr>
          <a:xfrm>
            <a:off x="731520" y="3383280"/>
            <a:ext cx="10728655" cy="841248"/>
          </a:xfrm>
          <a:prstGeom prst="roundRect">
            <a:avLst/>
          </a:prstGeom>
          <a:solidFill>
            <a:srgbClr val="172A4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56432"/>
            <a:ext cx="10332720" cy="685800"/>
          </a:xfrm>
          <a:prstGeom prst="rect">
            <a:avLst/>
          </a:prstGeom>
          <a:noFill/>
        </p:spPr>
        <p:txBody>
          <a:bodyPr wrap="square">
            <a:spAutoFit/>
          </a:bodyPr>
          <a:lstStyle/>
          <a:p>
            <a:pPr>
              <a:defRPr sz="1300" b="1">
                <a:solidFill>
                  <a:srgbClr val="F59E0B"/>
                </a:solidFill>
                <a:latin typeface="Calibri"/>
              </a:defRPr>
            </a:pPr>
            <a:r>
              <a:t>3. Core Computational &amp; Algorithm Tier</a:t>
            </a:r>
          </a:p>
          <a:p>
            <a:pPr>
              <a:defRPr sz="1000">
                <a:solidFill>
                  <a:srgbClr val="F8FAFC"/>
                </a:solidFill>
                <a:latin typeface="Calibri"/>
              </a:defRPr>
            </a:pPr>
            <a:r>
              <a:t>NetworkX Dijkstra Graph Routing Engine (`nx.dijkstra_path`)</a:t>
            </a:r>
            <a:br/>
            <a:r>
              <a:t>Haversine Spherical Trigonometry Distance Engine (`R = 6371 km`)</a:t>
            </a:r>
            <a:br/>
            <a:r>
              <a:t>Mathematical Incident Triage Scoring Heuristic (`prioritization.py`)</a:t>
            </a:r>
            <a:br/>
            <a:r>
              <a:t>Sorting &amp; Conditional Resource State Allocator (`app.py`)</a:t>
            </a:r>
          </a:p>
        </p:txBody>
      </p:sp>
      <p:sp>
        <p:nvSpPr>
          <p:cNvPr id="13" name="Rounded Rectangle 12"/>
          <p:cNvSpPr/>
          <p:nvPr/>
        </p:nvSpPr>
        <p:spPr>
          <a:xfrm>
            <a:off x="731520" y="4343400"/>
            <a:ext cx="10728655" cy="841248"/>
          </a:xfrm>
          <a:prstGeom prst="roundRect">
            <a:avLst/>
          </a:prstGeom>
          <a:solidFill>
            <a:srgbClr val="172A45"/>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416552"/>
            <a:ext cx="10332720" cy="685800"/>
          </a:xfrm>
          <a:prstGeom prst="rect">
            <a:avLst/>
          </a:prstGeom>
          <a:noFill/>
        </p:spPr>
        <p:txBody>
          <a:bodyPr wrap="square">
            <a:spAutoFit/>
          </a:bodyPr>
          <a:lstStyle/>
          <a:p>
            <a:pPr>
              <a:defRPr sz="1300" b="1">
                <a:solidFill>
                  <a:srgbClr val="22C55E"/>
                </a:solidFill>
                <a:latin typeface="Calibri"/>
              </a:defRPr>
            </a:pPr>
            <a:r>
              <a:t>4. Data Persistence &amp; Storage Tier</a:t>
            </a:r>
          </a:p>
          <a:p>
            <a:pPr>
              <a:defRPr sz="1000">
                <a:solidFill>
                  <a:srgbClr val="F8FAFC"/>
                </a:solidFill>
                <a:latin typeface="Calibri"/>
              </a:defRPr>
            </a:pPr>
            <a:r>
              <a:t>SQLite Relational Database Engine (`smart_flood_final.db`)</a:t>
            </a:r>
            <a:br/>
            <a:r>
              <a:t>Row-Factory Dictionaries, Foreign Key Constraints, Safe Schema Migration Engine</a:t>
            </a:r>
            <a:br/>
            <a:r>
              <a:t>Tables: `citizens`, `admins`, `rescue_teams`, `shelters`, `requests`, `road_hazards`, `notifications`</a:t>
            </a:r>
          </a:p>
        </p:txBody>
      </p:sp>
      <p:sp>
        <p:nvSpPr>
          <p:cNvPr id="15" name="Rounded Rectangle 14"/>
          <p:cNvSpPr/>
          <p:nvPr/>
        </p:nvSpPr>
        <p:spPr>
          <a:xfrm>
            <a:off x="731520" y="5303520"/>
            <a:ext cx="10728655" cy="841248"/>
          </a:xfrm>
          <a:prstGeom prst="roundRect">
            <a:avLst/>
          </a:prstGeom>
          <a:solidFill>
            <a:srgbClr val="172A45"/>
          </a:solidFill>
          <a:ln w="1905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376672"/>
            <a:ext cx="10332720" cy="685800"/>
          </a:xfrm>
          <a:prstGeom prst="rect">
            <a:avLst/>
          </a:prstGeom>
          <a:noFill/>
        </p:spPr>
        <p:txBody>
          <a:bodyPr wrap="square">
            <a:spAutoFit/>
          </a:bodyPr>
          <a:lstStyle/>
          <a:p>
            <a:pPr>
              <a:defRPr sz="1300" b="1">
                <a:solidFill>
                  <a:srgbClr val="60A5FA"/>
                </a:solidFill>
                <a:latin typeface="Calibri"/>
              </a:defRPr>
            </a:pPr>
            <a:r>
              <a:t>5. External Geospatial &amp; Weather Services</a:t>
            </a:r>
          </a:p>
          <a:p>
            <a:pPr>
              <a:defRPr sz="1000">
                <a:solidFill>
                  <a:srgbClr val="F8FAFC"/>
                </a:solidFill>
                <a:latin typeface="Calibri"/>
              </a:defRPr>
            </a:pPr>
            <a:r>
              <a:t>Open-Meteo Geocoding API (Global city &amp; coordinate resolution)</a:t>
            </a:r>
            <a:br/>
            <a:r>
              <a:t>Open-Meteo Forecast API (High-Resolution NWP ECMWF/GFS Models)</a:t>
            </a:r>
            <a:br/>
            <a:r>
              <a:t>OpenStreetMap (OSRM Live Routing Engine &amp; Overpass/Nominatim Shelter Discovery)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System Workflow: End-to-End Emergency Lifecycle</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06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3410712" cy="2286000"/>
          </a:xfrm>
          <a:prstGeom prst="roundRect">
            <a:avLst/>
          </a:prstGeom>
          <a:solidFill>
            <a:srgbClr val="172A45"/>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3044952" cy="1920240"/>
          </a:xfrm>
          <a:prstGeom prst="rect">
            <a:avLst/>
          </a:prstGeom>
          <a:noFill/>
        </p:spPr>
        <p:txBody>
          <a:bodyPr wrap="square" lIns="0" tIns="0" rIns="0" bIns="0">
            <a:spAutoFit/>
          </a:bodyPr>
          <a:lstStyle/>
          <a:p>
            <a:pPr>
              <a:spcAft>
                <a:spcPts val="300"/>
              </a:spcAft>
              <a:defRPr sz="1500" b="1">
                <a:solidFill>
                  <a:srgbClr val="2563EB"/>
                </a:solidFill>
                <a:latin typeface="Calibri"/>
              </a:defRPr>
            </a:pPr>
            <a:r>
              <a:t>Step 1: SOS Distress Submission</a:t>
            </a:r>
          </a:p>
          <a:p>
            <a:pPr>
              <a:spcAft>
                <a:spcPts val="400"/>
              </a:spcAft>
              <a:defRPr sz="1100">
                <a:solidFill>
                  <a:srgbClr val="F8FAFC"/>
                </a:solidFill>
                <a:latin typeface="Calibri"/>
              </a:defRPr>
            </a:pPr>
            <a:r>
              <a:t>•  Citizen logs in and opens emergency SOS form.</a:t>
            </a:r>
          </a:p>
          <a:p>
            <a:pPr>
              <a:spcAft>
                <a:spcPts val="400"/>
              </a:spcAft>
              <a:defRPr sz="1100">
                <a:solidFill>
                  <a:srgbClr val="F8FAFC"/>
                </a:solidFill>
                <a:latin typeface="Calibri"/>
              </a:defRPr>
            </a:pPr>
            <a:r>
              <a:t>•  Browser captures GPS coordinates or user enters location.</a:t>
            </a:r>
          </a:p>
          <a:p>
            <a:pPr>
              <a:spcAft>
                <a:spcPts val="400"/>
              </a:spcAft>
              <a:defRPr sz="1100">
                <a:solidFill>
                  <a:srgbClr val="F8FAFC"/>
                </a:solidFill>
                <a:latin typeface="Calibri"/>
              </a:defRPr>
            </a:pPr>
            <a:r>
              <a:t>•  Submits people count, water depth (1–5), and medical urgency.</a:t>
            </a:r>
          </a:p>
          <a:p>
            <a:pPr>
              <a:spcAft>
                <a:spcPts val="400"/>
              </a:spcAft>
              <a:defRPr sz="1100">
                <a:solidFill>
                  <a:srgbClr val="F8FAFC"/>
                </a:solidFill>
                <a:latin typeface="Calibri"/>
              </a:defRPr>
            </a:pPr>
            <a:r>
              <a:t>•  Record stored with initial status = 'Pending'.</a:t>
            </a:r>
          </a:p>
        </p:txBody>
      </p:sp>
      <p:sp>
        <p:nvSpPr>
          <p:cNvPr id="9" name="Rounded Rectangle 8"/>
          <p:cNvSpPr/>
          <p:nvPr/>
        </p:nvSpPr>
        <p:spPr>
          <a:xfrm>
            <a:off x="4389120" y="1463040"/>
            <a:ext cx="3410712" cy="2286000"/>
          </a:xfrm>
          <a:prstGeom prst="roundRect">
            <a:avLst/>
          </a:prstGeom>
          <a:solidFill>
            <a:srgbClr val="172A4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645920"/>
            <a:ext cx="3044952" cy="1920240"/>
          </a:xfrm>
          <a:prstGeom prst="rect">
            <a:avLst/>
          </a:prstGeom>
          <a:noFill/>
        </p:spPr>
        <p:txBody>
          <a:bodyPr wrap="square" lIns="0" tIns="0" rIns="0" bIns="0">
            <a:spAutoFit/>
          </a:bodyPr>
          <a:lstStyle/>
          <a:p>
            <a:pPr>
              <a:spcAft>
                <a:spcPts val="300"/>
              </a:spcAft>
              <a:defRPr sz="1500" b="1">
                <a:solidFill>
                  <a:srgbClr val="EF4444"/>
                </a:solidFill>
                <a:latin typeface="Calibri"/>
              </a:defRPr>
            </a:pPr>
            <a:r>
              <a:t>Step 2: Automated Triage Scoring</a:t>
            </a:r>
          </a:p>
          <a:p>
            <a:pPr>
              <a:spcAft>
                <a:spcPts val="400"/>
              </a:spcAft>
              <a:defRPr sz="1100">
                <a:solidFill>
                  <a:srgbClr val="F8FAFC"/>
                </a:solidFill>
                <a:latin typeface="Calibri"/>
              </a:defRPr>
            </a:pPr>
            <a:r>
              <a:t>•  `prioritization.py` executes synchronous risk calculation.</a:t>
            </a:r>
          </a:p>
          <a:p>
            <a:pPr>
              <a:spcAft>
                <a:spcPts val="400"/>
              </a:spcAft>
              <a:defRPr sz="1100">
                <a:solidFill>
                  <a:srgbClr val="F8FAFC"/>
                </a:solidFill>
                <a:latin typeface="Calibri"/>
              </a:defRPr>
            </a:pPr>
            <a:r>
              <a:t>•  Evaluates flood severity, headcount, and vulnerability factors.</a:t>
            </a:r>
          </a:p>
          <a:p>
            <a:pPr>
              <a:spcAft>
                <a:spcPts val="400"/>
              </a:spcAft>
              <a:defRPr sz="1100">
                <a:solidFill>
                  <a:srgbClr val="F8FAFC"/>
                </a:solidFill>
                <a:latin typeface="Calibri"/>
              </a:defRPr>
            </a:pPr>
            <a:r>
              <a:t>•  Generates priority score (0–100) and priority category.</a:t>
            </a:r>
          </a:p>
          <a:p>
            <a:pPr>
              <a:spcAft>
                <a:spcPts val="400"/>
              </a:spcAft>
              <a:defRPr sz="1100">
                <a:solidFill>
                  <a:srgbClr val="F8FAFC"/>
                </a:solidFill>
                <a:latin typeface="Calibri"/>
              </a:defRPr>
            </a:pPr>
            <a:r>
              <a:t>•  Triage level stamped immediately on database record.</a:t>
            </a:r>
          </a:p>
        </p:txBody>
      </p:sp>
      <p:sp>
        <p:nvSpPr>
          <p:cNvPr id="11" name="Rounded Rectangle 10"/>
          <p:cNvSpPr/>
          <p:nvPr/>
        </p:nvSpPr>
        <p:spPr>
          <a:xfrm>
            <a:off x="8046720" y="1463040"/>
            <a:ext cx="3410712" cy="2286000"/>
          </a:xfrm>
          <a:prstGeom prst="roundRect">
            <a:avLst/>
          </a:prstGeom>
          <a:solidFill>
            <a:srgbClr val="172A4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645920"/>
            <a:ext cx="3044952" cy="1920240"/>
          </a:xfrm>
          <a:prstGeom prst="rect">
            <a:avLst/>
          </a:prstGeom>
          <a:noFill/>
        </p:spPr>
        <p:txBody>
          <a:bodyPr wrap="square" lIns="0" tIns="0" rIns="0" bIns="0">
            <a:spAutoFit/>
          </a:bodyPr>
          <a:lstStyle/>
          <a:p>
            <a:pPr>
              <a:spcAft>
                <a:spcPts val="300"/>
              </a:spcAft>
              <a:defRPr sz="1500" b="1">
                <a:solidFill>
                  <a:srgbClr val="F59E0B"/>
                </a:solidFill>
                <a:latin typeface="Calibri"/>
              </a:defRPr>
            </a:pPr>
            <a:r>
              <a:t>Step 3: EOC Admin Triage Review</a:t>
            </a:r>
          </a:p>
          <a:p>
            <a:pPr>
              <a:spcAft>
                <a:spcPts val="400"/>
              </a:spcAft>
              <a:defRPr sz="1100">
                <a:solidFill>
                  <a:srgbClr val="F8FAFC"/>
                </a:solidFill>
                <a:latin typeface="Calibri"/>
              </a:defRPr>
            </a:pPr>
            <a:r>
              <a:t>•  Emergency Operations Center queries `/admin/requests`.</a:t>
            </a:r>
          </a:p>
          <a:p>
            <a:pPr>
              <a:spcAft>
                <a:spcPts val="400"/>
              </a:spcAft>
              <a:defRPr sz="1100">
                <a:solidFill>
                  <a:srgbClr val="F8FAFC"/>
                </a:solidFill>
                <a:latin typeface="Calibri"/>
              </a:defRPr>
            </a:pPr>
            <a:r>
              <a:t>•  Backend executes multi-tier SQL ordering (Critical first).</a:t>
            </a:r>
          </a:p>
          <a:p>
            <a:pPr>
              <a:spcAft>
                <a:spcPts val="400"/>
              </a:spcAft>
              <a:defRPr sz="1100">
                <a:solidFill>
                  <a:srgbClr val="F8FAFC"/>
                </a:solidFill>
                <a:latin typeface="Calibri"/>
              </a:defRPr>
            </a:pPr>
            <a:r>
              <a:t>•  Color-coded badges alert commanders to urgent life threats.</a:t>
            </a:r>
          </a:p>
          <a:p>
            <a:pPr>
              <a:spcAft>
                <a:spcPts val="400"/>
              </a:spcAft>
              <a:defRPr sz="1100">
                <a:solidFill>
                  <a:srgbClr val="F8FAFC"/>
                </a:solidFill>
                <a:latin typeface="Calibri"/>
              </a:defRPr>
            </a:pPr>
            <a:r>
              <a:t>•  Administrator selects incident for resource deployment.</a:t>
            </a:r>
          </a:p>
        </p:txBody>
      </p:sp>
      <p:sp>
        <p:nvSpPr>
          <p:cNvPr id="13" name="Rounded Rectangle 12"/>
          <p:cNvSpPr/>
          <p:nvPr/>
        </p:nvSpPr>
        <p:spPr>
          <a:xfrm>
            <a:off x="731520" y="3931920"/>
            <a:ext cx="3410712" cy="2286000"/>
          </a:xfrm>
          <a:prstGeom prst="roundRect">
            <a:avLst/>
          </a:prstGeom>
          <a:solidFill>
            <a:srgbClr val="172A45"/>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114800"/>
            <a:ext cx="3044952" cy="1920240"/>
          </a:xfrm>
          <a:prstGeom prst="rect">
            <a:avLst/>
          </a:prstGeom>
          <a:noFill/>
        </p:spPr>
        <p:txBody>
          <a:bodyPr wrap="square" lIns="0" tIns="0" rIns="0" bIns="0">
            <a:spAutoFit/>
          </a:bodyPr>
          <a:lstStyle/>
          <a:p>
            <a:pPr>
              <a:spcAft>
                <a:spcPts val="300"/>
              </a:spcAft>
              <a:defRPr sz="1500" b="1">
                <a:solidFill>
                  <a:srgbClr val="22C55E"/>
                </a:solidFill>
                <a:latin typeface="Calibri"/>
              </a:defRPr>
            </a:pPr>
            <a:r>
              <a:t>Step 4: Team &amp; Shelter Allocation</a:t>
            </a:r>
          </a:p>
          <a:p>
            <a:pPr>
              <a:spcAft>
                <a:spcPts val="400"/>
              </a:spcAft>
              <a:defRPr sz="1100">
                <a:solidFill>
                  <a:srgbClr val="F8FAFC"/>
                </a:solidFill>
                <a:latin typeface="Calibri"/>
              </a:defRPr>
            </a:pPr>
            <a:r>
              <a:t>•  System filters teams with status = 'Available'.</a:t>
            </a:r>
          </a:p>
          <a:p>
            <a:pPr>
              <a:spcAft>
                <a:spcPts val="400"/>
              </a:spcAft>
              <a:defRPr sz="1100">
                <a:solidFill>
                  <a:srgbClr val="F8FAFC"/>
                </a:solidFill>
                <a:latin typeface="Calibri"/>
              </a:defRPr>
            </a:pPr>
            <a:r>
              <a:t>•  Filters vetted shelters with available capacity &gt;= headcount.</a:t>
            </a:r>
          </a:p>
          <a:p>
            <a:pPr>
              <a:spcAft>
                <a:spcPts val="400"/>
              </a:spcAft>
              <a:defRPr sz="1100">
                <a:solidFill>
                  <a:srgbClr val="F8FAFC"/>
                </a:solidFill>
                <a:latin typeface="Calibri"/>
              </a:defRPr>
            </a:pPr>
            <a:r>
              <a:t>•  Ranks eligible resources by Haversine proximity.</a:t>
            </a:r>
          </a:p>
          <a:p>
            <a:pPr>
              <a:spcAft>
                <a:spcPts val="400"/>
              </a:spcAft>
              <a:defRPr sz="1100">
                <a:solidFill>
                  <a:srgbClr val="F8FAFC"/>
                </a:solidFill>
                <a:latin typeface="Calibri"/>
              </a:defRPr>
            </a:pPr>
            <a:r>
              <a:t>•  Atomic transaction commits team and shelter assignment.</a:t>
            </a:r>
          </a:p>
        </p:txBody>
      </p:sp>
      <p:sp>
        <p:nvSpPr>
          <p:cNvPr id="15" name="Rounded Rectangle 14"/>
          <p:cNvSpPr/>
          <p:nvPr/>
        </p:nvSpPr>
        <p:spPr>
          <a:xfrm>
            <a:off x="4389120" y="3931920"/>
            <a:ext cx="3410712" cy="2286000"/>
          </a:xfrm>
          <a:prstGeom prst="roundRect">
            <a:avLst/>
          </a:prstGeom>
          <a:solidFill>
            <a:srgbClr val="17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4114800"/>
            <a:ext cx="3044952" cy="1920240"/>
          </a:xfrm>
          <a:prstGeom prst="rect">
            <a:avLst/>
          </a:prstGeom>
          <a:noFill/>
        </p:spPr>
        <p:txBody>
          <a:bodyPr wrap="square" lIns="0" tIns="0" rIns="0" bIns="0">
            <a:spAutoFit/>
          </a:bodyPr>
          <a:lstStyle/>
          <a:p>
            <a:pPr>
              <a:spcAft>
                <a:spcPts val="300"/>
              </a:spcAft>
              <a:defRPr sz="1500" b="1">
                <a:solidFill>
                  <a:srgbClr val="38BDF8"/>
                </a:solidFill>
                <a:latin typeface="Calibri"/>
              </a:defRPr>
            </a:pPr>
            <a:r>
              <a:t>Step 5: Hazard-Aware Route Generation</a:t>
            </a:r>
          </a:p>
          <a:p>
            <a:pPr>
              <a:spcAft>
                <a:spcPts val="400"/>
              </a:spcAft>
              <a:defRPr sz="1100">
                <a:solidFill>
                  <a:srgbClr val="F8FAFC"/>
                </a:solidFill>
                <a:latin typeface="Calibri"/>
              </a:defRPr>
            </a:pPr>
            <a:r>
              <a:t>•  Routing engine queries active road hazards from database.</a:t>
            </a:r>
          </a:p>
          <a:p>
            <a:pPr>
              <a:spcAft>
                <a:spcPts val="400"/>
              </a:spcAft>
              <a:defRPr sz="1100">
                <a:solidFill>
                  <a:srgbClr val="F8FAFC"/>
                </a:solidFill>
                <a:latin typeface="Calibri"/>
              </a:defRPr>
            </a:pPr>
            <a:r>
              <a:t>•  OSRM attempts live route; falls back to NetworkX Dijkstra.</a:t>
            </a:r>
          </a:p>
          <a:p>
            <a:pPr>
              <a:spcAft>
                <a:spcPts val="400"/>
              </a:spcAft>
              <a:defRPr sz="1100">
                <a:solidFill>
                  <a:srgbClr val="F8FAFC"/>
                </a:solidFill>
                <a:latin typeface="Calibri"/>
              </a:defRPr>
            </a:pPr>
            <a:r>
              <a:t>•  Flooded segments receive 100x penalty to force detour.</a:t>
            </a:r>
          </a:p>
          <a:p>
            <a:pPr>
              <a:spcAft>
                <a:spcPts val="400"/>
              </a:spcAft>
              <a:defRPr sz="1100">
                <a:solidFill>
                  <a:srgbClr val="F8FAFC"/>
                </a:solidFill>
                <a:latin typeface="Calibri"/>
              </a:defRPr>
            </a:pPr>
            <a:r>
              <a:t>•  Safe evacuation path rendered on citizen &amp; team Leaflet map.</a:t>
            </a:r>
          </a:p>
        </p:txBody>
      </p:sp>
      <p:sp>
        <p:nvSpPr>
          <p:cNvPr id="17" name="Rounded Rectangle 16"/>
          <p:cNvSpPr/>
          <p:nvPr/>
        </p:nvSpPr>
        <p:spPr>
          <a:xfrm>
            <a:off x="8046720" y="3931920"/>
            <a:ext cx="3410712" cy="2286000"/>
          </a:xfrm>
          <a:prstGeom prst="roundRect">
            <a:avLst/>
          </a:prstGeom>
          <a:solidFill>
            <a:srgbClr val="172A45"/>
          </a:solidFill>
          <a:ln w="1905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4114800"/>
            <a:ext cx="3044952" cy="1920240"/>
          </a:xfrm>
          <a:prstGeom prst="rect">
            <a:avLst/>
          </a:prstGeom>
          <a:noFill/>
        </p:spPr>
        <p:txBody>
          <a:bodyPr wrap="square" lIns="0" tIns="0" rIns="0" bIns="0">
            <a:spAutoFit/>
          </a:bodyPr>
          <a:lstStyle/>
          <a:p>
            <a:pPr>
              <a:spcAft>
                <a:spcPts val="300"/>
              </a:spcAft>
              <a:defRPr sz="1500" b="1">
                <a:solidFill>
                  <a:srgbClr val="60A5FA"/>
                </a:solidFill>
                <a:latin typeface="Calibri"/>
              </a:defRPr>
            </a:pPr>
            <a:r>
              <a:t>Step 6: Status Closure &amp; Telemetry Update</a:t>
            </a:r>
          </a:p>
          <a:p>
            <a:pPr>
              <a:spcAft>
                <a:spcPts val="400"/>
              </a:spcAft>
              <a:defRPr sz="1100">
                <a:solidFill>
                  <a:srgbClr val="F8FAFC"/>
                </a:solidFill>
                <a:latin typeface="Calibri"/>
              </a:defRPr>
            </a:pPr>
            <a:r>
              <a:t>•  Citizen receives SMS confirmation via notification engine.</a:t>
            </a:r>
          </a:p>
          <a:p>
            <a:pPr>
              <a:spcAft>
                <a:spcPts val="400"/>
              </a:spcAft>
              <a:defRPr sz="1100">
                <a:solidFill>
                  <a:srgbClr val="F8FAFC"/>
                </a:solidFill>
                <a:latin typeface="Calibri"/>
              </a:defRPr>
            </a:pPr>
            <a:r>
              <a:t>•  Team marks mission 'Completed', releasing unit back to 'Available'.</a:t>
            </a:r>
          </a:p>
          <a:p>
            <a:pPr>
              <a:spcAft>
                <a:spcPts val="400"/>
              </a:spcAft>
              <a:defRPr sz="1100">
                <a:solidFill>
                  <a:srgbClr val="F8FAFC"/>
                </a:solidFill>
                <a:latin typeface="Calibri"/>
              </a:defRPr>
            </a:pPr>
            <a:r>
              <a:t>•  Shelter occupancy counter incremented automatically.</a:t>
            </a:r>
          </a:p>
          <a:p>
            <a:pPr>
              <a:spcAft>
                <a:spcPts val="400"/>
              </a:spcAft>
              <a:defRPr sz="1100">
                <a:solidFill>
                  <a:srgbClr val="F8FAFC"/>
                </a:solidFill>
                <a:latin typeface="Calibri"/>
              </a:defRPr>
            </a:pPr>
            <a:r>
              <a:t>•  Continuous Open-Meteo telemetry monitors subsequent rain surges.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Main System Modules: Functional Decomposition</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07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3291840" cy="4846320"/>
          </a:xfrm>
          <a:prstGeom prst="roundRect">
            <a:avLst/>
          </a:prstGeom>
          <a:solidFill>
            <a:srgbClr val="172A45"/>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26080" cy="4480560"/>
          </a:xfrm>
          <a:prstGeom prst="rect">
            <a:avLst/>
          </a:prstGeom>
          <a:noFill/>
        </p:spPr>
        <p:txBody>
          <a:bodyPr wrap="square" lIns="0" tIns="0" rIns="0" bIns="0">
            <a:spAutoFit/>
          </a:bodyPr>
          <a:lstStyle/>
          <a:p>
            <a:pPr>
              <a:spcAft>
                <a:spcPts val="300"/>
              </a:spcAft>
              <a:defRPr sz="1500" b="1">
                <a:solidFill>
                  <a:srgbClr val="2563EB"/>
                </a:solidFill>
                <a:latin typeface="Calibri"/>
              </a:defRPr>
            </a:pPr>
            <a:r>
              <a:t>Citizen &amp; Field Portals</a:t>
            </a:r>
          </a:p>
          <a:p>
            <a:pPr>
              <a:spcAft>
                <a:spcPts val="600"/>
              </a:spcAft>
              <a:defRPr sz="1050">
                <a:solidFill>
                  <a:srgbClr val="94A3B8"/>
                </a:solidFill>
                <a:latin typeface="Calibri"/>
              </a:defRPr>
            </a:pPr>
            <a:r>
              <a:t>Frontend Interaction Points</a:t>
            </a:r>
          </a:p>
          <a:p>
            <a:pPr>
              <a:spcAft>
                <a:spcPts val="400"/>
              </a:spcAft>
              <a:defRPr sz="1100">
                <a:solidFill>
                  <a:srgbClr val="F8FAFC"/>
                </a:solidFill>
                <a:latin typeface="Calibri"/>
              </a:defRPr>
            </a:pPr>
            <a:r>
              <a:t>•  Citizen SOS Portal: One-click distress submission, location autocomplete, and emergency contact registry.</a:t>
            </a:r>
          </a:p>
          <a:p>
            <a:pPr>
              <a:spcAft>
                <a:spcPts val="400"/>
              </a:spcAft>
              <a:defRPr sz="1100">
                <a:solidFill>
                  <a:srgbClr val="F8FAFC"/>
                </a:solidFill>
                <a:latin typeface="Calibri"/>
              </a:defRPr>
            </a:pPr>
            <a:r>
              <a:t>•  Case Tracking View: Real-time visibility into assigned rescue unit, phone contacts, and allocated shelter.</a:t>
            </a:r>
          </a:p>
          <a:p>
            <a:pPr>
              <a:spcAft>
                <a:spcPts val="400"/>
              </a:spcAft>
              <a:defRPr sz="1100">
                <a:solidFill>
                  <a:srgbClr val="F8FAFC"/>
                </a:solidFill>
                <a:latin typeface="Calibri"/>
              </a:defRPr>
            </a:pPr>
            <a:r>
              <a:t>•  Rescue Team Dashboard: Frontline mobile view displaying assigned citizen coordinates, headcount, and medical flags.</a:t>
            </a:r>
          </a:p>
          <a:p>
            <a:pPr>
              <a:spcAft>
                <a:spcPts val="400"/>
              </a:spcAft>
              <a:defRPr sz="1100">
                <a:solidFill>
                  <a:srgbClr val="F8FAFC"/>
                </a:solidFill>
                <a:latin typeface="Calibri"/>
              </a:defRPr>
            </a:pPr>
            <a:r>
              <a:t>•  Field GPS Beaconing: Field units post live GPS updates to maintain spatial situational awareness.</a:t>
            </a:r>
          </a:p>
        </p:txBody>
      </p:sp>
      <p:sp>
        <p:nvSpPr>
          <p:cNvPr id="9" name="Rounded Rectangle 8"/>
          <p:cNvSpPr/>
          <p:nvPr/>
        </p:nvSpPr>
        <p:spPr>
          <a:xfrm>
            <a:off x="4389120" y="1463040"/>
            <a:ext cx="3291840" cy="4846320"/>
          </a:xfrm>
          <a:prstGeom prst="roundRect">
            <a:avLst/>
          </a:prstGeom>
          <a:solidFill>
            <a:srgbClr val="172A4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645920"/>
            <a:ext cx="2926080" cy="4480560"/>
          </a:xfrm>
          <a:prstGeom prst="rect">
            <a:avLst/>
          </a:prstGeom>
          <a:noFill/>
        </p:spPr>
        <p:txBody>
          <a:bodyPr wrap="square" lIns="0" tIns="0" rIns="0" bIns="0">
            <a:spAutoFit/>
          </a:bodyPr>
          <a:lstStyle/>
          <a:p>
            <a:pPr>
              <a:spcAft>
                <a:spcPts val="300"/>
              </a:spcAft>
              <a:defRPr sz="1500" b="1">
                <a:solidFill>
                  <a:srgbClr val="F59E0B"/>
                </a:solidFill>
                <a:latin typeface="Calibri"/>
              </a:defRPr>
            </a:pPr>
            <a:r>
              <a:t>Decision &amp; Risk Modules</a:t>
            </a:r>
          </a:p>
          <a:p>
            <a:pPr>
              <a:spcAft>
                <a:spcPts val="600"/>
              </a:spcAft>
              <a:defRPr sz="1050">
                <a:solidFill>
                  <a:srgbClr val="94A3B8"/>
                </a:solidFill>
                <a:latin typeface="Calibri"/>
              </a:defRPr>
            </a:pPr>
            <a:r>
              <a:t>Analytical Computational Core</a:t>
            </a:r>
          </a:p>
          <a:p>
            <a:pPr>
              <a:spcAft>
                <a:spcPts val="400"/>
              </a:spcAft>
              <a:defRPr sz="1100">
                <a:solidFill>
                  <a:srgbClr val="F8FAFC"/>
                </a:solidFill>
                <a:latin typeface="Calibri"/>
              </a:defRPr>
            </a:pPr>
            <a:r>
              <a:t>•  Prioritization Engine: Heuristic scoring evaluating flood depth, demographic vulnerability, and waiting duration.</a:t>
            </a:r>
          </a:p>
          <a:p>
            <a:pPr>
              <a:spcAft>
                <a:spcPts val="400"/>
              </a:spcAft>
              <a:defRPr sz="1100">
                <a:solidFill>
                  <a:srgbClr val="F8FAFC"/>
                </a:solidFill>
                <a:latin typeface="Calibri"/>
              </a:defRPr>
            </a:pPr>
            <a:r>
              <a:t>•  Meteorological Telemetry: Open-Meteo REST service integration parsing temperature, wind, humidity, and rainfall.</a:t>
            </a:r>
          </a:p>
          <a:p>
            <a:pPr>
              <a:spcAft>
                <a:spcPts val="400"/>
              </a:spcAft>
              <a:defRPr sz="1100">
                <a:solidFill>
                  <a:srgbClr val="F8FAFC"/>
                </a:solidFill>
                <a:latin typeface="Calibri"/>
              </a:defRPr>
            </a:pPr>
            <a:r>
              <a:t>•  Flood Risk Assessor: Synthesizes regional rainfall totals and historical vulnerability into actionable risk tiers.</a:t>
            </a:r>
          </a:p>
          <a:p>
            <a:pPr>
              <a:spcAft>
                <a:spcPts val="400"/>
              </a:spcAft>
              <a:defRPr sz="1100">
                <a:solidFill>
                  <a:srgbClr val="F8FAFC"/>
                </a:solidFill>
                <a:latin typeface="Calibri"/>
              </a:defRPr>
            </a:pPr>
            <a:r>
              <a:t>•  Safe Route Planner: Multi-engine navigation combining OSRM geometries with NetworkX Dijkstra detour graphs.</a:t>
            </a:r>
          </a:p>
        </p:txBody>
      </p:sp>
      <p:sp>
        <p:nvSpPr>
          <p:cNvPr id="11" name="Rounded Rectangle 10"/>
          <p:cNvSpPr/>
          <p:nvPr/>
        </p:nvSpPr>
        <p:spPr>
          <a:xfrm>
            <a:off x="8046720" y="1463040"/>
            <a:ext cx="3291840" cy="4846320"/>
          </a:xfrm>
          <a:prstGeom prst="roundRect">
            <a:avLst/>
          </a:prstGeom>
          <a:solidFill>
            <a:srgbClr val="172A45"/>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645920"/>
            <a:ext cx="2926080" cy="4480560"/>
          </a:xfrm>
          <a:prstGeom prst="rect">
            <a:avLst/>
          </a:prstGeom>
          <a:noFill/>
        </p:spPr>
        <p:txBody>
          <a:bodyPr wrap="square" lIns="0" tIns="0" rIns="0" bIns="0">
            <a:spAutoFit/>
          </a:bodyPr>
          <a:lstStyle/>
          <a:p>
            <a:pPr>
              <a:spcAft>
                <a:spcPts val="300"/>
              </a:spcAft>
              <a:defRPr sz="1500" b="1">
                <a:solidFill>
                  <a:srgbClr val="22C55E"/>
                </a:solidFill>
                <a:latin typeface="Calibri"/>
              </a:defRPr>
            </a:pPr>
            <a:r>
              <a:t>EOC Administration</a:t>
            </a:r>
          </a:p>
          <a:p>
            <a:pPr>
              <a:spcAft>
                <a:spcPts val="600"/>
              </a:spcAft>
              <a:defRPr sz="1050">
                <a:solidFill>
                  <a:srgbClr val="94A3B8"/>
                </a:solidFill>
                <a:latin typeface="Calibri"/>
              </a:defRPr>
            </a:pPr>
            <a:r>
              <a:t>Command &amp; Control Infrastructure</a:t>
            </a:r>
          </a:p>
          <a:p>
            <a:pPr>
              <a:spcAft>
                <a:spcPts val="400"/>
              </a:spcAft>
              <a:defRPr sz="1100">
                <a:solidFill>
                  <a:srgbClr val="F8FAFC"/>
                </a:solidFill>
                <a:latin typeface="Calibri"/>
              </a:defRPr>
            </a:pPr>
            <a:r>
              <a:t>•  Incident Command Center: Master administrative dashboard sorting emergencies by triage urgency.</a:t>
            </a:r>
          </a:p>
          <a:p>
            <a:pPr>
              <a:spcAft>
                <a:spcPts val="400"/>
              </a:spcAft>
              <a:defRPr sz="1100">
                <a:solidFill>
                  <a:srgbClr val="F8FAFC"/>
                </a:solidFill>
                <a:latin typeface="Calibri"/>
              </a:defRPr>
            </a:pPr>
            <a:r>
              <a:t>•  Shelter Operations: Real-time shelter verification, capacity tracking, and OSM candidate discovery.</a:t>
            </a:r>
          </a:p>
          <a:p>
            <a:pPr>
              <a:spcAft>
                <a:spcPts val="400"/>
              </a:spcAft>
              <a:defRPr sz="1100">
                <a:solidFill>
                  <a:srgbClr val="F8FAFC"/>
                </a:solidFill>
                <a:latin typeface="Calibri"/>
              </a:defRPr>
            </a:pPr>
            <a:r>
              <a:t>•  Road Hazard Manager: Interface to report, activate, and deactivate submerged road segments.</a:t>
            </a:r>
          </a:p>
          <a:p>
            <a:pPr>
              <a:spcAft>
                <a:spcPts val="400"/>
              </a:spcAft>
              <a:defRPr sz="1100">
                <a:solidFill>
                  <a:srgbClr val="F8FAFC"/>
                </a:solidFill>
                <a:latin typeface="Calibri"/>
              </a:defRPr>
            </a:pPr>
            <a:r>
              <a:t>•  Notification Engine: In-app operational notifications and SMS dispatch simulator.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Technology Stack: Tooling &amp; Engineering Justification</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08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1463040"/>
          <a:ext cx="10728655" cy="4846320"/>
        </p:xfrm>
        <a:graphic>
          <a:graphicData uri="http://schemas.openxmlformats.org/drawingml/2006/table">
            <a:tbl>
              <a:tblPr firstRow="1" bandRow="1">
                <a:tableStyleId>{5C22544A-7EE6-4342-B048-85BDC9FD1C3A}</a:tableStyleId>
              </a:tblPr>
              <a:tblGrid>
                <a:gridCol w="1645920"/>
                <a:gridCol w="2926080"/>
                <a:gridCol w="6156655"/>
              </a:tblGrid>
              <a:tr h="538480">
                <a:tc>
                  <a:txBody>
                    <a:bodyPr/>
                    <a:lstStyle/>
                    <a:p>
                      <a:pPr algn="ctr">
                        <a:defRPr sz="1100" b="1">
                          <a:solidFill>
                            <a:srgbClr val="38BDF8"/>
                          </a:solidFill>
                          <a:latin typeface="Calibri"/>
                        </a:defRPr>
                      </a:pPr>
                      <a:r>
                        <a:t>Technology</a:t>
                      </a:r>
                    </a:p>
                  </a:txBody>
                  <a:tcPr>
                    <a:solidFill>
                      <a:srgbClr val="1E3A5F"/>
                    </a:solidFill>
                  </a:tcPr>
                </a:tc>
                <a:tc>
                  <a:txBody>
                    <a:bodyPr/>
                    <a:lstStyle/>
                    <a:p>
                      <a:pPr algn="ctr">
                        <a:defRPr sz="1100" b="1">
                          <a:solidFill>
                            <a:srgbClr val="38BDF8"/>
                          </a:solidFill>
                          <a:latin typeface="Calibri"/>
                        </a:defRPr>
                      </a:pPr>
                      <a:r>
                        <a:t>Role in Project</a:t>
                      </a:r>
                    </a:p>
                  </a:txBody>
                  <a:tcPr>
                    <a:solidFill>
                      <a:srgbClr val="1E3A5F"/>
                    </a:solidFill>
                  </a:tcPr>
                </a:tc>
                <a:tc>
                  <a:txBody>
                    <a:bodyPr/>
                    <a:lstStyle/>
                    <a:p>
                      <a:pPr algn="ctr">
                        <a:defRPr sz="1100" b="1">
                          <a:solidFill>
                            <a:srgbClr val="38BDF8"/>
                          </a:solidFill>
                          <a:latin typeface="Calibri"/>
                        </a:defRPr>
                      </a:pPr>
                      <a:r>
                        <a:t>Engineering Justification / Why Chosen</a:t>
                      </a:r>
                    </a:p>
                  </a:txBody>
                  <a:tcPr>
                    <a:solidFill>
                      <a:srgbClr val="1E3A5F"/>
                    </a:solidFill>
                  </a:tcPr>
                </a:tc>
              </a:tr>
              <a:tr h="538480">
                <a:tc>
                  <a:txBody>
                    <a:bodyPr/>
                    <a:lstStyle/>
                    <a:p>
                      <a:pPr algn="l">
                        <a:defRPr sz="1050">
                          <a:solidFill>
                            <a:srgbClr val="F8FAFC"/>
                          </a:solidFill>
                          <a:latin typeface="Calibri"/>
                        </a:defRPr>
                      </a:pPr>
                      <a:r>
                        <a:t>Python 3.13</a:t>
                      </a:r>
                    </a:p>
                  </a:txBody>
                  <a:tcPr>
                    <a:solidFill>
                      <a:srgbClr val="172A45"/>
                    </a:solidFill>
                  </a:tcPr>
                </a:tc>
                <a:tc>
                  <a:txBody>
                    <a:bodyPr/>
                    <a:lstStyle/>
                    <a:p>
                      <a:pPr algn="l">
                        <a:defRPr sz="1050">
                          <a:solidFill>
                            <a:srgbClr val="F8FAFC"/>
                          </a:solidFill>
                          <a:latin typeface="Calibri"/>
                        </a:defRPr>
                      </a:pPr>
                      <a:r>
                        <a:t>Core Backend &amp; Algorithmic Runtime</a:t>
                      </a:r>
                    </a:p>
                  </a:txBody>
                  <a:tcPr>
                    <a:solidFill>
                      <a:srgbClr val="172A45"/>
                    </a:solidFill>
                  </a:tcPr>
                </a:tc>
                <a:tc>
                  <a:txBody>
                    <a:bodyPr/>
                    <a:lstStyle/>
                    <a:p>
                      <a:pPr algn="l">
                        <a:defRPr sz="1050">
                          <a:solidFill>
                            <a:srgbClr val="F8FAFC"/>
                          </a:solidFill>
                          <a:latin typeface="Calibri"/>
                        </a:defRPr>
                      </a:pPr>
                      <a:r>
                        <a:t>Provides rich mathematical, graph, and scientific libraries (NetworkX, math) with rapid development velocity.</a:t>
                      </a:r>
                    </a:p>
                  </a:txBody>
                  <a:tcPr>
                    <a:solidFill>
                      <a:srgbClr val="172A45"/>
                    </a:solidFill>
                  </a:tcPr>
                </a:tc>
              </a:tr>
              <a:tr h="538480">
                <a:tc>
                  <a:txBody>
                    <a:bodyPr/>
                    <a:lstStyle/>
                    <a:p>
                      <a:pPr algn="l">
                        <a:defRPr sz="1050">
                          <a:solidFill>
                            <a:srgbClr val="F8FAFC"/>
                          </a:solidFill>
                          <a:latin typeface="Calibri"/>
                        </a:defRPr>
                      </a:pPr>
                      <a:r>
                        <a:t>Flask (WSGI)</a:t>
                      </a:r>
                    </a:p>
                  </a:txBody>
                  <a:tcPr>
                    <a:solidFill>
                      <a:srgbClr val="12223A"/>
                    </a:solidFill>
                  </a:tcPr>
                </a:tc>
                <a:tc>
                  <a:txBody>
                    <a:bodyPr/>
                    <a:lstStyle/>
                    <a:p>
                      <a:pPr algn="l">
                        <a:defRPr sz="1050">
                          <a:solidFill>
                            <a:srgbClr val="F8FAFC"/>
                          </a:solidFill>
                          <a:latin typeface="Calibri"/>
                        </a:defRPr>
                      </a:pPr>
                      <a:r>
                        <a:t>Lightweight Web Application Framework</a:t>
                      </a:r>
                    </a:p>
                  </a:txBody>
                  <a:tcPr>
                    <a:solidFill>
                      <a:srgbClr val="12223A"/>
                    </a:solidFill>
                  </a:tcPr>
                </a:tc>
                <a:tc>
                  <a:txBody>
                    <a:bodyPr/>
                    <a:lstStyle/>
                    <a:p>
                      <a:pPr algn="l">
                        <a:defRPr sz="1050">
                          <a:solidFill>
                            <a:srgbClr val="F8FAFC"/>
                          </a:solidFill>
                          <a:latin typeface="Calibri"/>
                        </a:defRPr>
                      </a:pPr>
                      <a:r>
                        <a:t>Minimalist microframework allowing modular RESTful endpoint design without the overhead of heavy enterprise frameworks.</a:t>
                      </a:r>
                    </a:p>
                  </a:txBody>
                  <a:tcPr>
                    <a:solidFill>
                      <a:srgbClr val="12223A"/>
                    </a:solidFill>
                  </a:tcPr>
                </a:tc>
              </a:tr>
              <a:tr h="538480">
                <a:tc>
                  <a:txBody>
                    <a:bodyPr/>
                    <a:lstStyle/>
                    <a:p>
                      <a:pPr algn="l">
                        <a:defRPr sz="1050">
                          <a:solidFill>
                            <a:srgbClr val="F8FAFC"/>
                          </a:solidFill>
                          <a:latin typeface="Calibri"/>
                        </a:defRPr>
                      </a:pPr>
                      <a:r>
                        <a:t>SQLite / libSQL</a:t>
                      </a:r>
                    </a:p>
                  </a:txBody>
                  <a:tcPr>
                    <a:solidFill>
                      <a:srgbClr val="172A45"/>
                    </a:solidFill>
                  </a:tcPr>
                </a:tc>
                <a:tc>
                  <a:txBody>
                    <a:bodyPr/>
                    <a:lstStyle/>
                    <a:p>
                      <a:pPr algn="l">
                        <a:defRPr sz="1050">
                          <a:solidFill>
                            <a:srgbClr val="F8FAFC"/>
                          </a:solidFill>
                          <a:latin typeface="Calibri"/>
                        </a:defRPr>
                      </a:pPr>
                      <a:r>
                        <a:t>Relational Database Tier</a:t>
                      </a:r>
                    </a:p>
                  </a:txBody>
                  <a:tcPr>
                    <a:solidFill>
                      <a:srgbClr val="172A45"/>
                    </a:solidFill>
                  </a:tcPr>
                </a:tc>
                <a:tc>
                  <a:txBody>
                    <a:bodyPr/>
                    <a:lstStyle/>
                    <a:p>
                      <a:pPr algn="l">
                        <a:defRPr sz="1050">
                          <a:solidFill>
                            <a:srgbClr val="F8FAFC"/>
                          </a:solidFill>
                          <a:latin typeface="Calibri"/>
                        </a:defRPr>
                      </a:pPr>
                      <a:r>
                        <a:t>ACID-compliant, zero-configuration relational storage; supports Turso/libSQL edge replication and local development portability.</a:t>
                      </a:r>
                    </a:p>
                  </a:txBody>
                  <a:tcPr>
                    <a:solidFill>
                      <a:srgbClr val="172A45"/>
                    </a:solidFill>
                  </a:tcPr>
                </a:tc>
              </a:tr>
              <a:tr h="538480">
                <a:tc>
                  <a:txBody>
                    <a:bodyPr/>
                    <a:lstStyle/>
                    <a:p>
                      <a:pPr algn="l">
                        <a:defRPr sz="1050">
                          <a:solidFill>
                            <a:srgbClr val="F8FAFC"/>
                          </a:solidFill>
                          <a:latin typeface="Calibri"/>
                        </a:defRPr>
                      </a:pPr>
                      <a:r>
                        <a:t>NetworkX 3.x</a:t>
                      </a:r>
                    </a:p>
                  </a:txBody>
                  <a:tcPr>
                    <a:solidFill>
                      <a:srgbClr val="12223A"/>
                    </a:solidFill>
                  </a:tcPr>
                </a:tc>
                <a:tc>
                  <a:txBody>
                    <a:bodyPr/>
                    <a:lstStyle/>
                    <a:p>
                      <a:pPr algn="l">
                        <a:defRPr sz="1050">
                          <a:solidFill>
                            <a:srgbClr val="F8FAFC"/>
                          </a:solidFill>
                          <a:latin typeface="Calibri"/>
                        </a:defRPr>
                      </a:pPr>
                      <a:r>
                        <a:t>Graph Data Structures &amp; Algorithms</a:t>
                      </a:r>
                    </a:p>
                  </a:txBody>
                  <a:tcPr>
                    <a:solidFill>
                      <a:srgbClr val="12223A"/>
                    </a:solidFill>
                  </a:tcPr>
                </a:tc>
                <a:tc>
                  <a:txBody>
                    <a:bodyPr/>
                    <a:lstStyle/>
                    <a:p>
                      <a:pPr algn="l">
                        <a:defRPr sz="1050">
                          <a:solidFill>
                            <a:srgbClr val="F8FAFC"/>
                          </a:solidFill>
                          <a:latin typeface="Calibri"/>
                        </a:defRPr>
                      </a:pPr>
                      <a:r>
                        <a:t>Standard Python library for complex network analysis; provides robust, highly optimized Dijkstra implementations on weighted graphs.</a:t>
                      </a:r>
                    </a:p>
                  </a:txBody>
                  <a:tcPr>
                    <a:solidFill>
                      <a:srgbClr val="12223A"/>
                    </a:solidFill>
                  </a:tcPr>
                </a:tc>
              </a:tr>
              <a:tr h="538480">
                <a:tc>
                  <a:txBody>
                    <a:bodyPr/>
                    <a:lstStyle/>
                    <a:p>
                      <a:pPr algn="l">
                        <a:defRPr sz="1050">
                          <a:solidFill>
                            <a:srgbClr val="F8FAFC"/>
                          </a:solidFill>
                          <a:latin typeface="Calibri"/>
                        </a:defRPr>
                      </a:pPr>
                      <a:r>
                        <a:t>Leaflet.js 1.9</a:t>
                      </a:r>
                    </a:p>
                  </a:txBody>
                  <a:tcPr>
                    <a:solidFill>
                      <a:srgbClr val="172A45"/>
                    </a:solidFill>
                  </a:tcPr>
                </a:tc>
                <a:tc>
                  <a:txBody>
                    <a:bodyPr/>
                    <a:lstStyle/>
                    <a:p>
                      <a:pPr algn="l">
                        <a:defRPr sz="1050">
                          <a:solidFill>
                            <a:srgbClr val="F8FAFC"/>
                          </a:solidFill>
                          <a:latin typeface="Calibri"/>
                        </a:defRPr>
                      </a:pPr>
                      <a:r>
                        <a:t>Interactive Geospatial GIS Mapping</a:t>
                      </a:r>
                    </a:p>
                  </a:txBody>
                  <a:tcPr>
                    <a:solidFill>
                      <a:srgbClr val="172A45"/>
                    </a:solidFill>
                  </a:tcPr>
                </a:tc>
                <a:tc>
                  <a:txBody>
                    <a:bodyPr/>
                    <a:lstStyle/>
                    <a:p>
                      <a:pPr algn="l">
                        <a:defRPr sz="1050">
                          <a:solidFill>
                            <a:srgbClr val="F8FAFC"/>
                          </a:solidFill>
                          <a:latin typeface="Calibri"/>
                        </a:defRPr>
                      </a:pPr>
                      <a:r>
                        <a:t>Lightweight, mobile-friendly open-source mapping engine capable of rendering custom SVG hazard markers, routes, and layer groups.</a:t>
                      </a:r>
                    </a:p>
                  </a:txBody>
                  <a:tcPr>
                    <a:solidFill>
                      <a:srgbClr val="172A45"/>
                    </a:solidFill>
                  </a:tcPr>
                </a:tc>
              </a:tr>
              <a:tr h="538480">
                <a:tc>
                  <a:txBody>
                    <a:bodyPr/>
                    <a:lstStyle/>
                    <a:p>
                      <a:pPr algn="l">
                        <a:defRPr sz="1050">
                          <a:solidFill>
                            <a:srgbClr val="F8FAFC"/>
                          </a:solidFill>
                          <a:latin typeface="Calibri"/>
                        </a:defRPr>
                      </a:pPr>
                      <a:r>
                        <a:t>Chart.js 4.x</a:t>
                      </a:r>
                    </a:p>
                  </a:txBody>
                  <a:tcPr>
                    <a:solidFill>
                      <a:srgbClr val="12223A"/>
                    </a:solidFill>
                  </a:tcPr>
                </a:tc>
                <a:tc>
                  <a:txBody>
                    <a:bodyPr/>
                    <a:lstStyle/>
                    <a:p>
                      <a:pPr algn="l">
                        <a:defRPr sz="1050">
                          <a:solidFill>
                            <a:srgbClr val="F8FAFC"/>
                          </a:solidFill>
                          <a:latin typeface="Calibri"/>
                        </a:defRPr>
                      </a:pPr>
                      <a:r>
                        <a:t>Meteorological &amp; Capacity Analytics</a:t>
                      </a:r>
                    </a:p>
                  </a:txBody>
                  <a:tcPr>
                    <a:solidFill>
                      <a:srgbClr val="12223A"/>
                    </a:solidFill>
                  </a:tcPr>
                </a:tc>
                <a:tc>
                  <a:txBody>
                    <a:bodyPr/>
                    <a:lstStyle/>
                    <a:p>
                      <a:pPr algn="l">
                        <a:defRPr sz="1050">
                          <a:solidFill>
                            <a:srgbClr val="F8FAFC"/>
                          </a:solidFill>
                          <a:latin typeface="Calibri"/>
                        </a:defRPr>
                      </a:pPr>
                      <a:r>
                        <a:t>Hardware-accelerated HTML5 canvas charting engine for forward-looking 12-hour hourly rainfall and capacity utilization gauges.</a:t>
                      </a:r>
                    </a:p>
                  </a:txBody>
                  <a:tcPr>
                    <a:solidFill>
                      <a:srgbClr val="12223A"/>
                    </a:solidFill>
                  </a:tcPr>
                </a:tc>
              </a:tr>
              <a:tr h="538480">
                <a:tc>
                  <a:txBody>
                    <a:bodyPr/>
                    <a:lstStyle/>
                    <a:p>
                      <a:pPr algn="l">
                        <a:defRPr sz="1050">
                          <a:solidFill>
                            <a:srgbClr val="F8FAFC"/>
                          </a:solidFill>
                          <a:latin typeface="Calibri"/>
                        </a:defRPr>
                      </a:pPr>
                      <a:r>
                        <a:t>Open-Meteo APIs</a:t>
                      </a:r>
                    </a:p>
                  </a:txBody>
                  <a:tcPr>
                    <a:solidFill>
                      <a:srgbClr val="172A45"/>
                    </a:solidFill>
                  </a:tcPr>
                </a:tc>
                <a:tc>
                  <a:txBody>
                    <a:bodyPr/>
                    <a:lstStyle/>
                    <a:p>
                      <a:pPr algn="l">
                        <a:defRPr sz="1050">
                          <a:solidFill>
                            <a:srgbClr val="F8FAFC"/>
                          </a:solidFill>
                          <a:latin typeface="Calibri"/>
                        </a:defRPr>
                      </a:pPr>
                      <a:r>
                        <a:t>Live NWP Weather &amp; Geocoding</a:t>
                      </a:r>
                    </a:p>
                  </a:txBody>
                  <a:tcPr>
                    <a:solidFill>
                      <a:srgbClr val="172A45"/>
                    </a:solidFill>
                  </a:tcPr>
                </a:tc>
                <a:tc>
                  <a:txBody>
                    <a:bodyPr/>
                    <a:lstStyle/>
                    <a:p>
                      <a:pPr algn="l">
                        <a:defRPr sz="1050">
                          <a:solidFill>
                            <a:srgbClr val="F8FAFC"/>
                          </a:solidFill>
                          <a:latin typeface="Calibri"/>
                        </a:defRPr>
                      </a:pPr>
                      <a:r>
                        <a:t>Official meteorological forecast models (ECMWF/GFS) delivering real-time atmospheric readings and worldwide place geocoding.</a:t>
                      </a:r>
                    </a:p>
                  </a:txBody>
                  <a:tcPr>
                    <a:solidFill>
                      <a:srgbClr val="172A45"/>
                    </a:solidFill>
                  </a:tcPr>
                </a:tc>
              </a:tr>
              <a:tr h="538480">
                <a:tc>
                  <a:txBody>
                    <a:bodyPr/>
                    <a:lstStyle/>
                    <a:p>
                      <a:pPr algn="l">
                        <a:defRPr sz="1050">
                          <a:solidFill>
                            <a:srgbClr val="F8FAFC"/>
                          </a:solidFill>
                          <a:latin typeface="Calibri"/>
                        </a:defRPr>
                      </a:pPr>
                      <a:r>
                        <a:t>OSRM / OSM</a:t>
                      </a:r>
                    </a:p>
                  </a:txBody>
                  <a:tcPr>
                    <a:solidFill>
                      <a:srgbClr val="12223A"/>
                    </a:solidFill>
                  </a:tcPr>
                </a:tc>
                <a:tc>
                  <a:txBody>
                    <a:bodyPr/>
                    <a:lstStyle/>
                    <a:p>
                      <a:pPr algn="l">
                        <a:defRPr sz="1050">
                          <a:solidFill>
                            <a:srgbClr val="F8FAFC"/>
                          </a:solidFill>
                          <a:latin typeface="Calibri"/>
                        </a:defRPr>
                      </a:pPr>
                      <a:r>
                        <a:t>Road Geometries &amp; Shelter Discovery</a:t>
                      </a:r>
                    </a:p>
                  </a:txBody>
                  <a:tcPr>
                    <a:solidFill>
                      <a:srgbClr val="12223A"/>
                    </a:solidFill>
                  </a:tcPr>
                </a:tc>
                <a:tc>
                  <a:txBody>
                    <a:bodyPr/>
                    <a:lstStyle/>
                    <a:p>
                      <a:pPr algn="l">
                        <a:defRPr sz="1050">
                          <a:solidFill>
                            <a:srgbClr val="F8FAFC"/>
                          </a:solidFill>
                          <a:latin typeface="Calibri"/>
                        </a:defRPr>
                      </a:pPr>
                      <a:r>
                        <a:t>OpenStreetMap road network data providing real-world driving paths and Overpass/Nominatim amenity discovery for relief shelters.</a:t>
                      </a:r>
                    </a:p>
                  </a:txBody>
                  <a:tcPr>
                    <a:solidFill>
                      <a:srgbClr val="12223A"/>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Algorithms &amp; Data Structures: Project Inventory</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09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1463040"/>
          <a:ext cx="10728655" cy="4846320"/>
        </p:xfrm>
        <a:graphic>
          <a:graphicData uri="http://schemas.openxmlformats.org/drawingml/2006/table">
            <a:tbl>
              <a:tblPr firstRow="1" bandRow="1">
                <a:tableStyleId>{5C22544A-7EE6-4342-B048-85BDC9FD1C3A}</a:tableStyleId>
              </a:tblPr>
              <a:tblGrid>
                <a:gridCol w="2011680"/>
                <a:gridCol w="2377440"/>
                <a:gridCol w="2103120"/>
                <a:gridCol w="2103120"/>
                <a:gridCol w="2133295"/>
              </a:tblGrid>
              <a:tr h="692331">
                <a:tc>
                  <a:txBody>
                    <a:bodyPr/>
                    <a:lstStyle/>
                    <a:p>
                      <a:pPr algn="ctr">
                        <a:defRPr sz="1100" b="1">
                          <a:solidFill>
                            <a:srgbClr val="38BDF8"/>
                          </a:solidFill>
                          <a:latin typeface="Calibri"/>
                        </a:defRPr>
                      </a:pPr>
                      <a:r>
                        <a:t>Algorithm / Technique</a:t>
                      </a:r>
                    </a:p>
                  </a:txBody>
                  <a:tcPr>
                    <a:solidFill>
                      <a:srgbClr val="1E3A5F"/>
                    </a:solidFill>
                  </a:tcPr>
                </a:tc>
                <a:tc>
                  <a:txBody>
                    <a:bodyPr/>
                    <a:lstStyle/>
                    <a:p>
                      <a:pPr algn="ctr">
                        <a:defRPr sz="1100" b="1">
                          <a:solidFill>
                            <a:srgbClr val="38BDF8"/>
                          </a:solidFill>
                          <a:latin typeface="Calibri"/>
                        </a:defRPr>
                      </a:pPr>
                      <a:r>
                        <a:t>Purpose</a:t>
                      </a:r>
                    </a:p>
                  </a:txBody>
                  <a:tcPr>
                    <a:solidFill>
                      <a:srgbClr val="1E3A5F"/>
                    </a:solidFill>
                  </a:tcPr>
                </a:tc>
                <a:tc>
                  <a:txBody>
                    <a:bodyPr/>
                    <a:lstStyle/>
                    <a:p>
                      <a:pPr algn="ctr">
                        <a:defRPr sz="1100" b="1">
                          <a:solidFill>
                            <a:srgbClr val="38BDF8"/>
                          </a:solidFill>
                          <a:latin typeface="Calibri"/>
                        </a:defRPr>
                      </a:pPr>
                      <a:r>
                        <a:t>Where Used in Codebase</a:t>
                      </a:r>
                    </a:p>
                  </a:txBody>
                  <a:tcPr>
                    <a:solidFill>
                      <a:srgbClr val="1E3A5F"/>
                    </a:solidFill>
                  </a:tcPr>
                </a:tc>
                <a:tc>
                  <a:txBody>
                    <a:bodyPr/>
                    <a:lstStyle/>
                    <a:p>
                      <a:pPr algn="ctr">
                        <a:defRPr sz="1100" b="1">
                          <a:solidFill>
                            <a:srgbClr val="38BDF8"/>
                          </a:solidFill>
                          <a:latin typeface="Calibri"/>
                        </a:defRPr>
                      </a:pPr>
                      <a:r>
                        <a:t>Input Data</a:t>
                      </a:r>
                    </a:p>
                  </a:txBody>
                  <a:tcPr>
                    <a:solidFill>
                      <a:srgbClr val="1E3A5F"/>
                    </a:solidFill>
                  </a:tcPr>
                </a:tc>
                <a:tc>
                  <a:txBody>
                    <a:bodyPr/>
                    <a:lstStyle/>
                    <a:p>
                      <a:pPr algn="ctr">
                        <a:defRPr sz="1100" b="1">
                          <a:solidFill>
                            <a:srgbClr val="38BDF8"/>
                          </a:solidFill>
                          <a:latin typeface="Calibri"/>
                        </a:defRPr>
                      </a:pPr>
                      <a:r>
                        <a:t>Output Result</a:t>
                      </a:r>
                    </a:p>
                  </a:txBody>
                  <a:tcPr>
                    <a:solidFill>
                      <a:srgbClr val="1E3A5F"/>
                    </a:solidFill>
                  </a:tcPr>
                </a:tc>
              </a:tr>
              <a:tr h="692331">
                <a:tc>
                  <a:txBody>
                    <a:bodyPr/>
                    <a:lstStyle/>
                    <a:p>
                      <a:pPr algn="l">
                        <a:defRPr sz="1050">
                          <a:solidFill>
                            <a:srgbClr val="F8FAFC"/>
                          </a:solidFill>
                          <a:latin typeface="Calibri"/>
                        </a:defRPr>
                      </a:pPr>
                      <a:r>
                        <a:t>Dijkstra's Algorithm</a:t>
                      </a:r>
                    </a:p>
                  </a:txBody>
                  <a:tcPr>
                    <a:solidFill>
                      <a:srgbClr val="172A45"/>
                    </a:solidFill>
                  </a:tcPr>
                </a:tc>
                <a:tc>
                  <a:txBody>
                    <a:bodyPr/>
                    <a:lstStyle/>
                    <a:p>
                      <a:pPr algn="l">
                        <a:defRPr sz="1050">
                          <a:solidFill>
                            <a:srgbClr val="F8FAFC"/>
                          </a:solidFill>
                          <a:latin typeface="Calibri"/>
                        </a:defRPr>
                      </a:pPr>
                      <a:r>
                        <a:t>Single-source shortest path on weighted graphs</a:t>
                      </a:r>
                    </a:p>
                  </a:txBody>
                  <a:tcPr>
                    <a:solidFill>
                      <a:srgbClr val="172A45"/>
                    </a:solidFill>
                  </a:tcPr>
                </a:tc>
                <a:tc>
                  <a:txBody>
                    <a:bodyPr/>
                    <a:lstStyle/>
                    <a:p>
                      <a:pPr algn="l">
                        <a:defRPr sz="1050">
                          <a:solidFill>
                            <a:srgbClr val="F8FAFC"/>
                          </a:solidFill>
                          <a:latin typeface="Calibri"/>
                        </a:defRPr>
                      </a:pPr>
                      <a:r>
                        <a:t>`routing.py` (`nx.dijkstra_path`)</a:t>
                      </a:r>
                    </a:p>
                  </a:txBody>
                  <a:tcPr>
                    <a:solidFill>
                      <a:srgbClr val="172A45"/>
                    </a:solidFill>
                  </a:tcPr>
                </a:tc>
                <a:tc>
                  <a:txBody>
                    <a:bodyPr/>
                    <a:lstStyle/>
                    <a:p>
                      <a:pPr algn="l">
                        <a:defRPr sz="1050">
                          <a:solidFill>
                            <a:srgbClr val="F8FAFC"/>
                          </a:solidFill>
                          <a:latin typeface="Calibri"/>
                        </a:defRPr>
                      </a:pPr>
                      <a:r>
                        <a:t>Weighted Graph G(V, E), Start node, End node</a:t>
                      </a:r>
                    </a:p>
                  </a:txBody>
                  <a:tcPr>
                    <a:solidFill>
                      <a:srgbClr val="172A45"/>
                    </a:solidFill>
                  </a:tcPr>
                </a:tc>
                <a:tc>
                  <a:txBody>
                    <a:bodyPr/>
                    <a:lstStyle/>
                    <a:p>
                      <a:pPr algn="l">
                        <a:defRPr sz="1050">
                          <a:solidFill>
                            <a:srgbClr val="F8FAFC"/>
                          </a:solidFill>
                          <a:latin typeface="Calibri"/>
                        </a:defRPr>
                      </a:pPr>
                      <a:r>
                        <a:t>Ordered sequence of node IDs forming optimal path</a:t>
                      </a:r>
                    </a:p>
                  </a:txBody>
                  <a:tcPr>
                    <a:solidFill>
                      <a:srgbClr val="172A45"/>
                    </a:solidFill>
                  </a:tcPr>
                </a:tc>
              </a:tr>
              <a:tr h="692331">
                <a:tc>
                  <a:txBody>
                    <a:bodyPr/>
                    <a:lstStyle/>
                    <a:p>
                      <a:pPr algn="l">
                        <a:defRPr sz="1050">
                          <a:solidFill>
                            <a:srgbClr val="F8FAFC"/>
                          </a:solidFill>
                          <a:latin typeface="Calibri"/>
                        </a:defRPr>
                      </a:pPr>
                      <a:r>
                        <a:t>Haversine Formula</a:t>
                      </a:r>
                    </a:p>
                  </a:txBody>
                  <a:tcPr>
                    <a:solidFill>
                      <a:srgbClr val="12223A"/>
                    </a:solidFill>
                  </a:tcPr>
                </a:tc>
                <a:tc>
                  <a:txBody>
                    <a:bodyPr/>
                    <a:lstStyle/>
                    <a:p>
                      <a:pPr algn="l">
                        <a:defRPr sz="1050">
                          <a:solidFill>
                            <a:srgbClr val="F8FAFC"/>
                          </a:solidFill>
                          <a:latin typeface="Calibri"/>
                        </a:defRPr>
                      </a:pPr>
                      <a:r>
                        <a:t>Computes great-circle surface distance on sphere</a:t>
                      </a:r>
                    </a:p>
                  </a:txBody>
                  <a:tcPr>
                    <a:solidFill>
                      <a:srgbClr val="12223A"/>
                    </a:solidFill>
                  </a:tcPr>
                </a:tc>
                <a:tc>
                  <a:txBody>
                    <a:bodyPr/>
                    <a:lstStyle/>
                    <a:p>
                      <a:pPr algn="l">
                        <a:defRPr sz="1050">
                          <a:solidFill>
                            <a:srgbClr val="F8FAFC"/>
                          </a:solidFill>
                          <a:latin typeface="Calibri"/>
                        </a:defRPr>
                      </a:pPr>
                      <a:r>
                        <a:t>`routing.py` &amp; `shelter_discovery.py`</a:t>
                      </a:r>
                    </a:p>
                  </a:txBody>
                  <a:tcPr>
                    <a:solidFill>
                      <a:srgbClr val="12223A"/>
                    </a:solidFill>
                  </a:tcPr>
                </a:tc>
                <a:tc>
                  <a:txBody>
                    <a:bodyPr/>
                    <a:lstStyle/>
                    <a:p>
                      <a:pPr algn="l">
                        <a:defRPr sz="1050">
                          <a:solidFill>
                            <a:srgbClr val="F8FAFC"/>
                          </a:solidFill>
                          <a:latin typeface="Calibri"/>
                        </a:defRPr>
                      </a:pPr>
                      <a:r>
                        <a:t>Two GPS coordinate pairs (lat1, lon1), (lat2, lon2)</a:t>
                      </a:r>
                    </a:p>
                  </a:txBody>
                  <a:tcPr>
                    <a:solidFill>
                      <a:srgbClr val="12223A"/>
                    </a:solidFill>
                  </a:tcPr>
                </a:tc>
                <a:tc>
                  <a:txBody>
                    <a:bodyPr/>
                    <a:lstStyle/>
                    <a:p>
                      <a:pPr algn="l">
                        <a:defRPr sz="1050">
                          <a:solidFill>
                            <a:srgbClr val="F8FAFC"/>
                          </a:solidFill>
                          <a:latin typeface="Calibri"/>
                        </a:defRPr>
                      </a:pPr>
                      <a:r>
                        <a:t>Great-circle distance in kilometers (float)</a:t>
                      </a:r>
                    </a:p>
                  </a:txBody>
                  <a:tcPr>
                    <a:solidFill>
                      <a:srgbClr val="12223A"/>
                    </a:solidFill>
                  </a:tcPr>
                </a:tc>
              </a:tr>
              <a:tr h="692331">
                <a:tc>
                  <a:txBody>
                    <a:bodyPr/>
                    <a:lstStyle/>
                    <a:p>
                      <a:pPr algn="l">
                        <a:defRPr sz="1050">
                          <a:solidFill>
                            <a:srgbClr val="F8FAFC"/>
                          </a:solidFill>
                          <a:latin typeface="Calibri"/>
                        </a:defRPr>
                      </a:pPr>
                      <a:r>
                        <a:t>Distance-Based Sorting</a:t>
                      </a:r>
                    </a:p>
                  </a:txBody>
                  <a:tcPr>
                    <a:solidFill>
                      <a:srgbClr val="172A45"/>
                    </a:solidFill>
                  </a:tcPr>
                </a:tc>
                <a:tc>
                  <a:txBody>
                    <a:bodyPr/>
                    <a:lstStyle/>
                    <a:p>
                      <a:pPr algn="l">
                        <a:defRPr sz="1050">
                          <a:solidFill>
                            <a:srgbClr val="F8FAFC"/>
                          </a:solidFill>
                          <a:latin typeface="Calibri"/>
                        </a:defRPr>
                      </a:pPr>
                      <a:r>
                        <a:t>Orders eligible resources by spatial proximity</a:t>
                      </a:r>
                    </a:p>
                  </a:txBody>
                  <a:tcPr>
                    <a:solidFill>
                      <a:srgbClr val="172A45"/>
                    </a:solidFill>
                  </a:tcPr>
                </a:tc>
                <a:tc>
                  <a:txBody>
                    <a:bodyPr/>
                    <a:lstStyle/>
                    <a:p>
                      <a:pPr algn="l">
                        <a:defRPr sz="1050">
                          <a:solidFill>
                            <a:srgbClr val="F8FAFC"/>
                          </a:solidFill>
                          <a:latin typeface="Calibri"/>
                        </a:defRPr>
                      </a:pPr>
                      <a:r>
                        <a:t>`app.py` resource allocation loops</a:t>
                      </a:r>
                    </a:p>
                  </a:txBody>
                  <a:tcPr>
                    <a:solidFill>
                      <a:srgbClr val="172A45"/>
                    </a:solidFill>
                  </a:tcPr>
                </a:tc>
                <a:tc>
                  <a:txBody>
                    <a:bodyPr/>
                    <a:lstStyle/>
                    <a:p>
                      <a:pPr algn="l">
                        <a:defRPr sz="1050">
                          <a:solidFill>
                            <a:srgbClr val="F8FAFC"/>
                          </a:solidFill>
                          <a:latin typeface="Calibri"/>
                        </a:defRPr>
                      </a:pPr>
                      <a:r>
                        <a:t>Unordered list of eligible teams/shelters with distances</a:t>
                      </a:r>
                    </a:p>
                  </a:txBody>
                  <a:tcPr>
                    <a:solidFill>
                      <a:srgbClr val="172A45"/>
                    </a:solidFill>
                  </a:tcPr>
                </a:tc>
                <a:tc>
                  <a:txBody>
                    <a:bodyPr/>
                    <a:lstStyle/>
                    <a:p>
                      <a:pPr algn="l">
                        <a:defRPr sz="1050">
                          <a:solidFill>
                            <a:srgbClr val="F8FAFC"/>
                          </a:solidFill>
                          <a:latin typeface="Calibri"/>
                        </a:defRPr>
                      </a:pPr>
                      <a:r>
                        <a:t>Ascending list of resources ranked from nearest to farthest</a:t>
                      </a:r>
                    </a:p>
                  </a:txBody>
                  <a:tcPr>
                    <a:solidFill>
                      <a:srgbClr val="172A45"/>
                    </a:solidFill>
                  </a:tcPr>
                </a:tc>
              </a:tr>
              <a:tr h="692331">
                <a:tc>
                  <a:txBody>
                    <a:bodyPr/>
                    <a:lstStyle/>
                    <a:p>
                      <a:pPr algn="l">
                        <a:defRPr sz="1050">
                          <a:solidFill>
                            <a:srgbClr val="F8FAFC"/>
                          </a:solidFill>
                          <a:latin typeface="Calibri"/>
                        </a:defRPr>
                      </a:pPr>
                      <a:r>
                        <a:t>SQL Multi-Tier Ordering</a:t>
                      </a:r>
                    </a:p>
                  </a:txBody>
                  <a:tcPr>
                    <a:solidFill>
                      <a:srgbClr val="12223A"/>
                    </a:solidFill>
                  </a:tcPr>
                </a:tc>
                <a:tc>
                  <a:txBody>
                    <a:bodyPr/>
                    <a:lstStyle/>
                    <a:p>
                      <a:pPr algn="l">
                        <a:defRPr sz="1050">
                          <a:solidFill>
                            <a:srgbClr val="F8FAFC"/>
                          </a:solidFill>
                          <a:latin typeface="Calibri"/>
                        </a:defRPr>
                      </a:pPr>
                      <a:r>
                        <a:t>Sorts emergency requests by priority &amp; score</a:t>
                      </a:r>
                    </a:p>
                  </a:txBody>
                  <a:tcPr>
                    <a:solidFill>
                      <a:srgbClr val="12223A"/>
                    </a:solidFill>
                  </a:tcPr>
                </a:tc>
                <a:tc>
                  <a:txBody>
                    <a:bodyPr/>
                    <a:lstStyle/>
                    <a:p>
                      <a:pPr algn="l">
                        <a:defRPr sz="1050">
                          <a:solidFill>
                            <a:srgbClr val="F8FAFC"/>
                          </a:solidFill>
                          <a:latin typeface="Calibri"/>
                        </a:defRPr>
                      </a:pPr>
                      <a:r>
                        <a:t>`app.py` in `@app.route('/admin/requests')`</a:t>
                      </a:r>
                    </a:p>
                  </a:txBody>
                  <a:tcPr>
                    <a:solidFill>
                      <a:srgbClr val="12223A"/>
                    </a:solidFill>
                  </a:tcPr>
                </a:tc>
                <a:tc>
                  <a:txBody>
                    <a:bodyPr/>
                    <a:lstStyle/>
                    <a:p>
                      <a:pPr algn="l">
                        <a:defRPr sz="1050">
                          <a:solidFill>
                            <a:srgbClr val="F8FAFC"/>
                          </a:solidFill>
                          <a:latin typeface="Calibri"/>
                        </a:defRPr>
                      </a:pPr>
                      <a:r>
                        <a:t>`requests` table rows with priority, score, id</a:t>
                      </a:r>
                    </a:p>
                  </a:txBody>
                  <a:tcPr>
                    <a:solidFill>
                      <a:srgbClr val="12223A"/>
                    </a:solidFill>
                  </a:tcPr>
                </a:tc>
                <a:tc>
                  <a:txBody>
                    <a:bodyPr/>
                    <a:lstStyle/>
                    <a:p>
                      <a:pPr algn="l">
                        <a:defRPr sz="1050">
                          <a:solidFill>
                            <a:srgbClr val="F8FAFC"/>
                          </a:solidFill>
                          <a:latin typeface="Calibri"/>
                        </a:defRPr>
                      </a:pPr>
                      <a:r>
                        <a:t>Relational rows ordered: Critical &gt; High &gt; Medium &gt; Low</a:t>
                      </a:r>
                    </a:p>
                  </a:txBody>
                  <a:tcPr>
                    <a:solidFill>
                      <a:srgbClr val="12223A"/>
                    </a:solidFill>
                  </a:tcPr>
                </a:tc>
              </a:tr>
              <a:tr h="692331">
                <a:tc>
                  <a:txBody>
                    <a:bodyPr/>
                    <a:lstStyle/>
                    <a:p>
                      <a:pPr algn="l">
                        <a:defRPr sz="1050">
                          <a:solidFill>
                            <a:srgbClr val="F8FAFC"/>
                          </a:solidFill>
                          <a:latin typeface="Calibri"/>
                        </a:defRPr>
                      </a:pPr>
                      <a:r>
                        <a:t>Conditional Allocation Logic</a:t>
                      </a:r>
                    </a:p>
                  </a:txBody>
                  <a:tcPr>
                    <a:solidFill>
                      <a:srgbClr val="172A45"/>
                    </a:solidFill>
                  </a:tcPr>
                </a:tc>
                <a:tc>
                  <a:txBody>
                    <a:bodyPr/>
                    <a:lstStyle/>
                    <a:p>
                      <a:pPr algn="l">
                        <a:defRPr sz="1050">
                          <a:solidFill>
                            <a:srgbClr val="F8FAFC"/>
                          </a:solidFill>
                          <a:latin typeface="Calibri"/>
                        </a:defRPr>
                      </a:pPr>
                      <a:r>
                        <a:t>Enforces capacity limits and availability states</a:t>
                      </a:r>
                    </a:p>
                  </a:txBody>
                  <a:tcPr>
                    <a:solidFill>
                      <a:srgbClr val="172A45"/>
                    </a:solidFill>
                  </a:tcPr>
                </a:tc>
                <a:tc>
                  <a:txBody>
                    <a:bodyPr/>
                    <a:lstStyle/>
                    <a:p>
                      <a:pPr algn="l">
                        <a:defRPr sz="1050">
                          <a:solidFill>
                            <a:srgbClr val="F8FAFC"/>
                          </a:solidFill>
                          <a:latin typeface="Calibri"/>
                        </a:defRPr>
                      </a:pPr>
                      <a:r>
                        <a:t>`app.py` team dispatch &amp; shelter selection</a:t>
                      </a:r>
                    </a:p>
                  </a:txBody>
                  <a:tcPr>
                    <a:solidFill>
                      <a:srgbClr val="172A45"/>
                    </a:solidFill>
                  </a:tcPr>
                </a:tc>
                <a:tc>
                  <a:txBody>
                    <a:bodyPr/>
                    <a:lstStyle/>
                    <a:p>
                      <a:pPr algn="l">
                        <a:defRPr sz="1050">
                          <a:solidFill>
                            <a:srgbClr val="F8FAFC"/>
                          </a:solidFill>
                          <a:latin typeface="Calibri"/>
                        </a:defRPr>
                      </a:pPr>
                      <a:r>
                        <a:t>Candidate status, total capacity, occupied headcount</a:t>
                      </a:r>
                    </a:p>
                  </a:txBody>
                  <a:tcPr>
                    <a:solidFill>
                      <a:srgbClr val="172A45"/>
                    </a:solidFill>
                  </a:tcPr>
                </a:tc>
                <a:tc>
                  <a:txBody>
                    <a:bodyPr/>
                    <a:lstStyle/>
                    <a:p>
                      <a:pPr algn="l">
                        <a:defRPr sz="1050">
                          <a:solidFill>
                            <a:srgbClr val="F8FAFC"/>
                          </a:solidFill>
                          <a:latin typeface="Calibri"/>
                        </a:defRPr>
                      </a:pPr>
                      <a:r>
                        <a:t>Binary pass/fail selection; atomic state mutation</a:t>
                      </a:r>
                    </a:p>
                  </a:txBody>
                  <a:tcPr>
                    <a:solidFill>
                      <a:srgbClr val="172A45"/>
                    </a:solidFill>
                  </a:tcPr>
                </a:tc>
              </a:tr>
              <a:tr h="692334">
                <a:tc>
                  <a:txBody>
                    <a:bodyPr/>
                    <a:lstStyle/>
                    <a:p>
                      <a:pPr algn="l">
                        <a:defRPr sz="1050">
                          <a:solidFill>
                            <a:srgbClr val="F8FAFC"/>
                          </a:solidFill>
                          <a:latin typeface="Calibri"/>
                        </a:defRPr>
                      </a:pPr>
                      <a:r>
                        <a:t>Graph Representation</a:t>
                      </a:r>
                    </a:p>
                  </a:txBody>
                  <a:tcPr>
                    <a:solidFill>
                      <a:srgbClr val="12223A"/>
                    </a:solidFill>
                  </a:tcPr>
                </a:tc>
                <a:tc>
                  <a:txBody>
                    <a:bodyPr/>
                    <a:lstStyle/>
                    <a:p>
                      <a:pPr algn="l">
                        <a:defRPr sz="1050">
                          <a:solidFill>
                            <a:srgbClr val="F8FAFC"/>
                          </a:solidFill>
                          <a:latin typeface="Calibri"/>
                        </a:defRPr>
                      </a:pPr>
                      <a:r>
                        <a:t>Models navigable road corridors and detours</a:t>
                      </a:r>
                    </a:p>
                  </a:txBody>
                  <a:tcPr>
                    <a:solidFill>
                      <a:srgbClr val="12223A"/>
                    </a:solidFill>
                  </a:tcPr>
                </a:tc>
                <a:tc>
                  <a:txBody>
                    <a:bodyPr/>
                    <a:lstStyle/>
                    <a:p>
                      <a:pPr algn="l">
                        <a:defRPr sz="1050">
                          <a:solidFill>
                            <a:srgbClr val="F8FAFC"/>
                          </a:solidFill>
                          <a:latin typeface="Calibri"/>
                        </a:defRPr>
                      </a:pPr>
                      <a:r>
                        <a:t>`routing.py` (`COIMBATORE_ROAD_NODES`, edges)</a:t>
                      </a:r>
                    </a:p>
                  </a:txBody>
                  <a:tcPr>
                    <a:solidFill>
                      <a:srgbClr val="12223A"/>
                    </a:solidFill>
                  </a:tcPr>
                </a:tc>
                <a:tc>
                  <a:txBody>
                    <a:bodyPr/>
                    <a:lstStyle/>
                    <a:p>
                      <a:pPr algn="l">
                        <a:defRPr sz="1050">
                          <a:solidFill>
                            <a:srgbClr val="F8FAFC"/>
                          </a:solidFill>
                          <a:latin typeface="Calibri"/>
                        </a:defRPr>
                      </a:pPr>
                      <a:r>
                        <a:t>Road network vertices (lat/lon) and base edge distances</a:t>
                      </a:r>
                    </a:p>
                  </a:txBody>
                  <a:tcPr>
                    <a:solidFill>
                      <a:srgbClr val="12223A"/>
                    </a:solidFill>
                  </a:tcPr>
                </a:tc>
                <a:tc>
                  <a:txBody>
                    <a:bodyPr/>
                    <a:lstStyle/>
                    <a:p>
                      <a:pPr algn="l">
                        <a:defRPr sz="1050">
                          <a:solidFill>
                            <a:srgbClr val="F8FAFC"/>
                          </a:solidFill>
                          <a:latin typeface="Calibri"/>
                        </a:defRPr>
                      </a:pPr>
                      <a:r>
                        <a:t>NetworkX Graph instance G with penalized edge weights</a:t>
                      </a:r>
                    </a:p>
                  </a:txBody>
                  <a:tcPr>
                    <a:solidFill>
                      <a:srgbClr val="12223A"/>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Dijkstra's Algorithm — Part 1: Graph Foundations</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10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5212080" cy="4846320"/>
          </a:xfrm>
          <a:prstGeom prst="roundRect">
            <a:avLst/>
          </a:prstGeom>
          <a:solidFill>
            <a:srgbClr val="17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846320" cy="4480560"/>
          </a:xfrm>
          <a:prstGeom prst="rect">
            <a:avLst/>
          </a:prstGeom>
          <a:noFill/>
        </p:spPr>
        <p:txBody>
          <a:bodyPr wrap="square" lIns="0" tIns="0" rIns="0" bIns="0">
            <a:spAutoFit/>
          </a:bodyPr>
          <a:lstStyle/>
          <a:p>
            <a:pPr>
              <a:spcAft>
                <a:spcPts val="300"/>
              </a:spcAft>
              <a:defRPr sz="1500" b="1">
                <a:solidFill>
                  <a:srgbClr val="38BDF8"/>
                </a:solidFill>
                <a:latin typeface="Calibri"/>
              </a:defRPr>
            </a:pPr>
            <a:r>
              <a:t>Formal Graph Terminology &amp; Definitions</a:t>
            </a:r>
          </a:p>
          <a:p>
            <a:pPr>
              <a:spcAft>
                <a:spcPts val="600"/>
              </a:spcAft>
              <a:defRPr sz="1050">
                <a:solidFill>
                  <a:srgbClr val="94A3B8"/>
                </a:solidFill>
                <a:latin typeface="Calibri"/>
              </a:defRPr>
            </a:pPr>
            <a:r>
              <a:t>Theoretical Foundations</a:t>
            </a:r>
          </a:p>
          <a:p>
            <a:pPr>
              <a:spcAft>
                <a:spcPts val="400"/>
              </a:spcAft>
              <a:defRPr sz="1100">
                <a:solidFill>
                  <a:srgbClr val="F8FAFC"/>
                </a:solidFill>
                <a:latin typeface="Calibri"/>
              </a:defRPr>
            </a:pPr>
            <a:r>
              <a:t>•  What is a Graph?: A mathematical structure G = (V, E) composed of a set of vertices (V) and a set of connecting edges (E).</a:t>
            </a:r>
          </a:p>
          <a:p>
            <a:pPr>
              <a:spcAft>
                <a:spcPts val="400"/>
              </a:spcAft>
              <a:defRPr sz="1100">
                <a:solidFill>
                  <a:srgbClr val="F8FAFC"/>
                </a:solidFill>
                <a:latin typeface="Calibri"/>
              </a:defRPr>
            </a:pPr>
            <a:r>
              <a:t>•  Vertex (Node): A discrete spatial point or intersection in our road network (e.g., Gandhipuram Hub, Town Hall).</a:t>
            </a:r>
          </a:p>
          <a:p>
            <a:pPr>
              <a:spcAft>
                <a:spcPts val="400"/>
              </a:spcAft>
              <a:defRPr sz="1100">
                <a:solidFill>
                  <a:srgbClr val="F8FAFC"/>
                </a:solidFill>
                <a:latin typeface="Calibri"/>
              </a:defRPr>
            </a:pPr>
            <a:r>
              <a:t>•  Edge (Link): A navigable transportation link connecting two adjacent vertices, representing a road segment.</a:t>
            </a:r>
          </a:p>
          <a:p>
            <a:pPr>
              <a:spcAft>
                <a:spcPts val="400"/>
              </a:spcAft>
              <a:defRPr sz="1100">
                <a:solidFill>
                  <a:srgbClr val="F8FAFC"/>
                </a:solidFill>
                <a:latin typeface="Calibri"/>
              </a:defRPr>
            </a:pPr>
            <a:r>
              <a:t>•  Edge Weight (Cost): A non-negative scalar value representing the impedance of traversing that edge (base distance in km, travel time, or flood hazard penalty).</a:t>
            </a:r>
          </a:p>
          <a:p>
            <a:pPr>
              <a:spcAft>
                <a:spcPts val="400"/>
              </a:spcAft>
              <a:defRPr sz="1100">
                <a:solidFill>
                  <a:srgbClr val="F8FAFC"/>
                </a:solidFill>
                <a:latin typeface="Calibri"/>
              </a:defRPr>
            </a:pPr>
            <a:r>
              <a:t>•  Weighted Graph: A graph where every edge (u, v) is assigned a numerical weight w(u, v) ≥ 0.</a:t>
            </a:r>
          </a:p>
          <a:p>
            <a:pPr>
              <a:spcAft>
                <a:spcPts val="400"/>
              </a:spcAft>
              <a:defRPr sz="1100">
                <a:solidFill>
                  <a:srgbClr val="F8FAFC"/>
                </a:solidFill>
                <a:latin typeface="Calibri"/>
              </a:defRPr>
            </a:pPr>
            <a:r>
              <a:t>•  Directed vs. Undirected: Our road network is modeled as an undirected graph G, assuming two-way vehicle navigability unless blocked.</a:t>
            </a:r>
          </a:p>
        </p:txBody>
      </p:sp>
      <p:sp>
        <p:nvSpPr>
          <p:cNvPr id="9" name="Rounded Rectangle 8"/>
          <p:cNvSpPr/>
          <p:nvPr/>
        </p:nvSpPr>
        <p:spPr>
          <a:xfrm>
            <a:off x="6217920" y="1463040"/>
            <a:ext cx="5212080" cy="4846320"/>
          </a:xfrm>
          <a:prstGeom prst="roundRect">
            <a:avLst/>
          </a:prstGeom>
          <a:solidFill>
            <a:srgbClr val="172A45"/>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480560"/>
          </a:xfrm>
          <a:prstGeom prst="rect">
            <a:avLst/>
          </a:prstGeom>
          <a:noFill/>
        </p:spPr>
        <p:txBody>
          <a:bodyPr wrap="square" lIns="0" tIns="0" rIns="0" bIns="0">
            <a:spAutoFit/>
          </a:bodyPr>
          <a:lstStyle/>
          <a:p>
            <a:pPr>
              <a:spcAft>
                <a:spcPts val="300"/>
              </a:spcAft>
              <a:defRPr sz="1500" b="1">
                <a:solidFill>
                  <a:srgbClr val="2563EB"/>
                </a:solidFill>
                <a:latin typeface="Calibri"/>
              </a:defRPr>
            </a:pPr>
            <a:r>
              <a:t>Why Dijkstra is Needed for Emergency Routing</a:t>
            </a:r>
          </a:p>
          <a:p>
            <a:pPr>
              <a:spcAft>
                <a:spcPts val="600"/>
              </a:spcAft>
              <a:defRPr sz="1050">
                <a:solidFill>
                  <a:srgbClr val="94A3B8"/>
                </a:solidFill>
                <a:latin typeface="Calibri"/>
              </a:defRPr>
            </a:pPr>
            <a:r>
              <a:t>Algorithmic Justification</a:t>
            </a:r>
          </a:p>
          <a:p>
            <a:pPr>
              <a:spcAft>
                <a:spcPts val="400"/>
              </a:spcAft>
              <a:defRPr sz="1100">
                <a:solidFill>
                  <a:srgbClr val="F8FAFC"/>
                </a:solidFill>
                <a:latin typeface="Calibri"/>
              </a:defRPr>
            </a:pPr>
            <a:r>
              <a:t>•  The Problem Solved: Given a road network G, a start location S, and an evacuation shelter T, find the trajectory that minimizes the cumulative cost: ∑ w(u, v).</a:t>
            </a:r>
          </a:p>
          <a:p>
            <a:pPr>
              <a:spcAft>
                <a:spcPts val="400"/>
              </a:spcAft>
              <a:defRPr sz="1100">
                <a:solidFill>
                  <a:srgbClr val="F8FAFC"/>
                </a:solidFill>
                <a:latin typeface="Calibri"/>
              </a:defRPr>
            </a:pPr>
            <a:r>
              <a:t>•  Why Simple BFS Fails: Breadth-First Search (BFS) only computes shortest paths in unweighted graphs (where all edge costs equal 1). In road networks, edge distances and hazard conditions vary dramatically.</a:t>
            </a:r>
          </a:p>
          <a:p>
            <a:pPr>
              <a:spcAft>
                <a:spcPts val="400"/>
              </a:spcAft>
              <a:defRPr sz="1100">
                <a:solidFill>
                  <a:srgbClr val="F8FAFC"/>
                </a:solidFill>
                <a:latin typeface="Calibri"/>
              </a:defRPr>
            </a:pPr>
            <a:r>
              <a:t>•  Why Greedy Choice Works: Dijkstra operates on the principle of optimal substructure: any subpath of an optimal shortest path is itself an optimal shortest path.</a:t>
            </a:r>
          </a:p>
          <a:p>
            <a:pPr>
              <a:spcAft>
                <a:spcPts val="400"/>
              </a:spcAft>
              <a:defRPr sz="1100">
                <a:solidFill>
                  <a:srgbClr val="F8FAFC"/>
                </a:solidFill>
                <a:latin typeface="Calibri"/>
              </a:defRPr>
            </a:pPr>
            <a:r>
              <a:t>•  The Non-Negative Weight Invariant: Dijkstra strictly requires w(u, v) ≥ 0. In physical road networks, distances and hazard penalties are always non-negative, making Dijkstra mathematically sound.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Dijkstra's Algorithm — Part 2: Step-by-Step Numerical Trace</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11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4114800" cy="4846320"/>
          </a:xfrm>
          <a:prstGeom prst="roundRect">
            <a:avLst/>
          </a:prstGeom>
          <a:solidFill>
            <a:srgbClr val="172A4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3749040" cy="4480560"/>
          </a:xfrm>
          <a:prstGeom prst="rect">
            <a:avLst/>
          </a:prstGeom>
          <a:noFill/>
        </p:spPr>
        <p:txBody>
          <a:bodyPr wrap="square" lIns="0" tIns="0" rIns="0" bIns="0">
            <a:spAutoFit/>
          </a:bodyPr>
          <a:lstStyle/>
          <a:p>
            <a:pPr>
              <a:spcAft>
                <a:spcPts val="300"/>
              </a:spcAft>
              <a:defRPr sz="1500" b="1">
                <a:solidFill>
                  <a:srgbClr val="F59E0B"/>
                </a:solidFill>
                <a:latin typeface="Calibri"/>
              </a:defRPr>
            </a:pPr>
            <a:r>
              <a:t>Example Graph Definition</a:t>
            </a:r>
          </a:p>
          <a:p>
            <a:pPr>
              <a:spcAft>
                <a:spcPts val="600"/>
              </a:spcAft>
              <a:defRPr sz="1050">
                <a:solidFill>
                  <a:srgbClr val="94A3B8"/>
                </a:solidFill>
                <a:latin typeface="Calibri"/>
              </a:defRPr>
            </a:pPr>
            <a:r>
              <a:t>S → T Minimum Weight Problem</a:t>
            </a:r>
          </a:p>
          <a:p>
            <a:pPr>
              <a:spcAft>
                <a:spcPts val="400"/>
              </a:spcAft>
              <a:defRPr sz="1100">
                <a:solidFill>
                  <a:srgbClr val="F8FAFC"/>
                </a:solidFill>
                <a:latin typeface="Calibri"/>
              </a:defRPr>
            </a:pPr>
            <a:r>
              <a:t>•  We trace Dijkstra on this directed weighted graph:</a:t>
            </a:r>
          </a:p>
          <a:p>
            <a:pPr>
              <a:spcAft>
                <a:spcPts val="400"/>
              </a:spcAft>
              <a:defRPr sz="1100">
                <a:solidFill>
                  <a:srgbClr val="F8FAFC"/>
                </a:solidFill>
                <a:latin typeface="Calibri"/>
              </a:defRPr>
            </a:pPr>
            <a:r>
              <a:t>•    • S → A with weight = 2</a:t>
            </a:r>
          </a:p>
          <a:p>
            <a:pPr>
              <a:spcAft>
                <a:spcPts val="400"/>
              </a:spcAft>
              <a:defRPr sz="1100">
                <a:solidFill>
                  <a:srgbClr val="F8FAFC"/>
                </a:solidFill>
                <a:latin typeface="Calibri"/>
              </a:defRPr>
            </a:pPr>
            <a:r>
              <a:t>•    • S → B with weight = 1</a:t>
            </a:r>
          </a:p>
          <a:p>
            <a:pPr>
              <a:spcAft>
                <a:spcPts val="400"/>
              </a:spcAft>
              <a:defRPr sz="1100">
                <a:solidFill>
                  <a:srgbClr val="F8FAFC"/>
                </a:solidFill>
                <a:latin typeface="Calibri"/>
              </a:defRPr>
            </a:pPr>
            <a:r>
              <a:t>•    • A → T with weight = 3</a:t>
            </a:r>
          </a:p>
          <a:p>
            <a:pPr>
              <a:spcAft>
                <a:spcPts val="400"/>
              </a:spcAft>
              <a:defRPr sz="1100">
                <a:solidFill>
                  <a:srgbClr val="F8FAFC"/>
                </a:solidFill>
                <a:latin typeface="Calibri"/>
              </a:defRPr>
            </a:pPr>
            <a:r>
              <a:t>•    • B → T with weight = 6</a:t>
            </a:r>
          </a:p>
          <a:p>
            <a:pPr>
              <a:spcAft>
                <a:spcPts val="400"/>
              </a:spcAft>
              <a:defRPr sz="1100">
                <a:solidFill>
                  <a:srgbClr val="F8FAFC"/>
                </a:solidFill>
                <a:latin typeface="Calibri"/>
              </a:defRPr>
            </a:pPr>
            <a:r>
              <a:t>•  Source Node: S   |   Target Node: T</a:t>
            </a:r>
          </a:p>
          <a:p>
            <a:pPr>
              <a:spcAft>
                <a:spcPts val="400"/>
              </a:spcAft>
              <a:defRPr sz="1100">
                <a:solidFill>
                  <a:srgbClr val="F8FAFC"/>
                </a:solidFill>
                <a:latin typeface="Calibri"/>
              </a:defRPr>
            </a:pPr>
            <a:r>
              <a:t>•  Initial State:</a:t>
            </a:r>
          </a:p>
          <a:p>
            <a:pPr>
              <a:spcAft>
                <a:spcPts val="400"/>
              </a:spcAft>
              <a:defRPr sz="1100">
                <a:solidFill>
                  <a:srgbClr val="F8FAFC"/>
                </a:solidFill>
                <a:latin typeface="Calibri"/>
              </a:defRPr>
            </a:pPr>
            <a:r>
              <a:t>•    • dist[S] = 0</a:t>
            </a:r>
          </a:p>
          <a:p>
            <a:pPr>
              <a:spcAft>
                <a:spcPts val="400"/>
              </a:spcAft>
              <a:defRPr sz="1100">
                <a:solidFill>
                  <a:srgbClr val="F8FAFC"/>
                </a:solidFill>
                <a:latin typeface="Calibri"/>
              </a:defRPr>
            </a:pPr>
            <a:r>
              <a:t>•    • dist[A] = ∞, dist[B] = ∞, dist[T] = ∞</a:t>
            </a:r>
          </a:p>
          <a:p>
            <a:pPr>
              <a:spcAft>
                <a:spcPts val="400"/>
              </a:spcAft>
              <a:defRPr sz="1100">
                <a:solidFill>
                  <a:srgbClr val="F8FAFC"/>
                </a:solidFill>
                <a:latin typeface="Calibri"/>
              </a:defRPr>
            </a:pPr>
            <a:r>
              <a:t>•    • Visited set: Q = ∅</a:t>
            </a:r>
          </a:p>
          <a:p>
            <a:pPr>
              <a:spcAft>
                <a:spcPts val="400"/>
              </a:spcAft>
              <a:defRPr sz="1100">
                <a:solidFill>
                  <a:srgbClr val="F8FAFC"/>
                </a:solidFill>
                <a:latin typeface="Calibri"/>
              </a:defRPr>
            </a:pPr>
            <a:r>
              <a:t>•  Candidate Paths to Target T:</a:t>
            </a:r>
          </a:p>
          <a:p>
            <a:pPr>
              <a:spcAft>
                <a:spcPts val="400"/>
              </a:spcAft>
              <a:defRPr sz="1100">
                <a:solidFill>
                  <a:srgbClr val="F8FAFC"/>
                </a:solidFill>
                <a:latin typeface="Calibri"/>
              </a:defRPr>
            </a:pPr>
            <a:r>
              <a:t>•    1. Path S → A → T: Cost = 2 + 3 = 5</a:t>
            </a:r>
          </a:p>
          <a:p>
            <a:pPr>
              <a:spcAft>
                <a:spcPts val="400"/>
              </a:spcAft>
              <a:defRPr sz="1100">
                <a:solidFill>
                  <a:srgbClr val="F8FAFC"/>
                </a:solidFill>
                <a:latin typeface="Calibri"/>
              </a:defRPr>
            </a:pPr>
            <a:r>
              <a:t>•    2. Path S → B → T: Cost = 1 + 6 = 7</a:t>
            </a:r>
          </a:p>
          <a:p>
            <a:pPr>
              <a:spcAft>
                <a:spcPts val="400"/>
              </a:spcAft>
              <a:defRPr sz="1100">
                <a:solidFill>
                  <a:srgbClr val="F8FAFC"/>
                </a:solidFill>
                <a:latin typeface="Calibri"/>
              </a:defRPr>
            </a:pPr>
            <a:r>
              <a:t>•  Optimal Solution: S → A → T (Total Cost = 5)</a:t>
            </a:r>
          </a:p>
        </p:txBody>
      </p:sp>
      <p:graphicFrame>
        <p:nvGraphicFramePr>
          <p:cNvPr id="9" name="Table 8"/>
          <p:cNvGraphicFramePr>
            <a:graphicFrameLocks noGrp="1"/>
          </p:cNvGraphicFramePr>
          <p:nvPr/>
        </p:nvGraphicFramePr>
        <p:xfrm>
          <a:off x="5029200" y="1463040"/>
          <a:ext cx="6430975" cy="2926080"/>
        </p:xfrm>
        <a:graphic>
          <a:graphicData uri="http://schemas.openxmlformats.org/drawingml/2006/table">
            <a:tbl>
              <a:tblPr firstRow="1" bandRow="1">
                <a:tableStyleId>{5C22544A-7EE6-4342-B048-85BDC9FD1C3A}</a:tableStyleId>
              </a:tblPr>
              <a:tblGrid>
                <a:gridCol w="548640"/>
                <a:gridCol w="1463040"/>
                <a:gridCol w="1097280"/>
                <a:gridCol w="1097280"/>
                <a:gridCol w="1280160"/>
                <a:gridCol w="944575"/>
              </a:tblGrid>
              <a:tr h="487680">
                <a:tc>
                  <a:txBody>
                    <a:bodyPr/>
                    <a:lstStyle/>
                    <a:p>
                      <a:pPr algn="ctr">
                        <a:defRPr sz="1100" b="1">
                          <a:solidFill>
                            <a:srgbClr val="38BDF8"/>
                          </a:solidFill>
                          <a:latin typeface="Calibri"/>
                        </a:defRPr>
                      </a:pPr>
                      <a:r>
                        <a:t>Step</a:t>
                      </a:r>
                    </a:p>
                  </a:txBody>
                  <a:tcPr>
                    <a:solidFill>
                      <a:srgbClr val="1E3A5F"/>
                    </a:solidFill>
                  </a:tcPr>
                </a:tc>
                <a:tc>
                  <a:txBody>
                    <a:bodyPr/>
                    <a:lstStyle/>
                    <a:p>
                      <a:pPr algn="ctr">
                        <a:defRPr sz="1100" b="1">
                          <a:solidFill>
                            <a:srgbClr val="38BDF8"/>
                          </a:solidFill>
                          <a:latin typeface="Calibri"/>
                        </a:defRPr>
                      </a:pPr>
                      <a:r>
                        <a:t>Selected Node</a:t>
                      </a:r>
                    </a:p>
                  </a:txBody>
                  <a:tcPr>
                    <a:solidFill>
                      <a:srgbClr val="1E3A5F"/>
                    </a:solidFill>
                  </a:tcPr>
                </a:tc>
                <a:tc>
                  <a:txBody>
                    <a:bodyPr/>
                    <a:lstStyle/>
                    <a:p>
                      <a:pPr algn="ctr">
                        <a:defRPr sz="1100" b="1">
                          <a:solidFill>
                            <a:srgbClr val="38BDF8"/>
                          </a:solidFill>
                          <a:latin typeface="Calibri"/>
                        </a:defRPr>
                      </a:pPr>
                      <a:r>
                        <a:t>Tentative dist[A]</a:t>
                      </a:r>
                    </a:p>
                  </a:txBody>
                  <a:tcPr>
                    <a:solidFill>
                      <a:srgbClr val="1E3A5F"/>
                    </a:solidFill>
                  </a:tcPr>
                </a:tc>
                <a:tc>
                  <a:txBody>
                    <a:bodyPr/>
                    <a:lstStyle/>
                    <a:p>
                      <a:pPr algn="ctr">
                        <a:defRPr sz="1100" b="1">
                          <a:solidFill>
                            <a:srgbClr val="38BDF8"/>
                          </a:solidFill>
                          <a:latin typeface="Calibri"/>
                        </a:defRPr>
                      </a:pPr>
                      <a:r>
                        <a:t>Tentative dist[B]</a:t>
                      </a:r>
                    </a:p>
                  </a:txBody>
                  <a:tcPr>
                    <a:solidFill>
                      <a:srgbClr val="1E3A5F"/>
                    </a:solidFill>
                  </a:tcPr>
                </a:tc>
                <a:tc>
                  <a:txBody>
                    <a:bodyPr/>
                    <a:lstStyle/>
                    <a:p>
                      <a:pPr algn="ctr">
                        <a:defRPr sz="1100" b="1">
                          <a:solidFill>
                            <a:srgbClr val="38BDF8"/>
                          </a:solidFill>
                          <a:latin typeface="Calibri"/>
                        </a:defRPr>
                      </a:pPr>
                      <a:r>
                        <a:t>Tentative dist[T]</a:t>
                      </a:r>
                    </a:p>
                  </a:txBody>
                  <a:tcPr>
                    <a:solidFill>
                      <a:srgbClr val="1E3A5F"/>
                    </a:solidFill>
                  </a:tcPr>
                </a:tc>
                <a:tc>
                  <a:txBody>
                    <a:bodyPr/>
                    <a:lstStyle/>
                    <a:p>
                      <a:pPr algn="ctr">
                        <a:defRPr sz="1100" b="1">
                          <a:solidFill>
                            <a:srgbClr val="38BDF8"/>
                          </a:solidFill>
                          <a:latin typeface="Calibri"/>
                        </a:defRPr>
                      </a:pPr>
                      <a:r>
                        <a:t>Visited Set Q</a:t>
                      </a:r>
                    </a:p>
                  </a:txBody>
                  <a:tcPr>
                    <a:solidFill>
                      <a:srgbClr val="1E3A5F"/>
                    </a:solidFill>
                  </a:tcPr>
                </a:tc>
              </a:tr>
              <a:tr h="487680">
                <a:tc>
                  <a:txBody>
                    <a:bodyPr/>
                    <a:lstStyle/>
                    <a:p>
                      <a:pPr algn="l">
                        <a:defRPr sz="1050">
                          <a:solidFill>
                            <a:srgbClr val="F8FAFC"/>
                          </a:solidFill>
                          <a:latin typeface="Calibri"/>
                        </a:defRPr>
                      </a:pPr>
                      <a:r>
                        <a:t>0</a:t>
                      </a:r>
                    </a:p>
                  </a:txBody>
                  <a:tcPr>
                    <a:solidFill>
                      <a:srgbClr val="172A45"/>
                    </a:solidFill>
                  </a:tcPr>
                </a:tc>
                <a:tc>
                  <a:txBody>
                    <a:bodyPr/>
                    <a:lstStyle/>
                    <a:p>
                      <a:pPr algn="ctr">
                        <a:defRPr sz="1050">
                          <a:solidFill>
                            <a:srgbClr val="F8FAFC"/>
                          </a:solidFill>
                          <a:latin typeface="Calibri"/>
                        </a:defRPr>
                      </a:pPr>
                      <a:r>
                        <a:t>Initialization</a:t>
                      </a:r>
                    </a:p>
                  </a:txBody>
                  <a:tcPr>
                    <a:solidFill>
                      <a:srgbClr val="172A45"/>
                    </a:solidFill>
                  </a:tcPr>
                </a:tc>
                <a:tc>
                  <a:txBody>
                    <a:bodyPr/>
                    <a:lstStyle/>
                    <a:p>
                      <a:pPr algn="ctr">
                        <a:defRPr sz="1050">
                          <a:solidFill>
                            <a:srgbClr val="F8FAFC"/>
                          </a:solidFill>
                          <a:latin typeface="Calibri"/>
                        </a:defRPr>
                      </a:pPr>
                      <a:r>
                        <a:t>∞</a:t>
                      </a:r>
                    </a:p>
                  </a:txBody>
                  <a:tcPr>
                    <a:solidFill>
                      <a:srgbClr val="172A45"/>
                    </a:solidFill>
                  </a:tcPr>
                </a:tc>
                <a:tc>
                  <a:txBody>
                    <a:bodyPr/>
                    <a:lstStyle/>
                    <a:p>
                      <a:pPr algn="ctr">
                        <a:defRPr sz="1050">
                          <a:solidFill>
                            <a:srgbClr val="F8FAFC"/>
                          </a:solidFill>
                          <a:latin typeface="Calibri"/>
                        </a:defRPr>
                      </a:pPr>
                      <a:r>
                        <a:t>∞</a:t>
                      </a:r>
                    </a:p>
                  </a:txBody>
                  <a:tcPr>
                    <a:solidFill>
                      <a:srgbClr val="172A45"/>
                    </a:solidFill>
                  </a:tcPr>
                </a:tc>
                <a:tc>
                  <a:txBody>
                    <a:bodyPr/>
                    <a:lstStyle/>
                    <a:p>
                      <a:pPr algn="ctr">
                        <a:defRPr sz="1050">
                          <a:solidFill>
                            <a:srgbClr val="F8FAFC"/>
                          </a:solidFill>
                          <a:latin typeface="Calibri"/>
                        </a:defRPr>
                      </a:pPr>
                      <a:r>
                        <a:t>∞</a:t>
                      </a:r>
                    </a:p>
                  </a:txBody>
                  <a:tcPr>
                    <a:solidFill>
                      <a:srgbClr val="172A45"/>
                    </a:solidFill>
                  </a:tcPr>
                </a:tc>
                <a:tc>
                  <a:txBody>
                    <a:bodyPr/>
                    <a:lstStyle/>
                    <a:p>
                      <a:pPr algn="ctr">
                        <a:defRPr sz="1050">
                          <a:solidFill>
                            <a:srgbClr val="F8FAFC"/>
                          </a:solidFill>
                          <a:latin typeface="Calibri"/>
                        </a:defRPr>
                      </a:pPr>
                      <a:r>
                        <a:t>∅</a:t>
                      </a:r>
                    </a:p>
                  </a:txBody>
                  <a:tcPr>
                    <a:solidFill>
                      <a:srgbClr val="172A45"/>
                    </a:solidFill>
                  </a:tcPr>
                </a:tc>
              </a:tr>
              <a:tr h="487680">
                <a:tc>
                  <a:txBody>
                    <a:bodyPr/>
                    <a:lstStyle/>
                    <a:p>
                      <a:pPr algn="l">
                        <a:defRPr sz="1050">
                          <a:solidFill>
                            <a:srgbClr val="F8FAFC"/>
                          </a:solidFill>
                          <a:latin typeface="Calibri"/>
                        </a:defRPr>
                      </a:pPr>
                      <a:r>
                        <a:t>1</a:t>
                      </a:r>
                    </a:p>
                  </a:txBody>
                  <a:tcPr>
                    <a:solidFill>
                      <a:srgbClr val="12223A"/>
                    </a:solidFill>
                  </a:tcPr>
                </a:tc>
                <a:tc>
                  <a:txBody>
                    <a:bodyPr/>
                    <a:lstStyle/>
                    <a:p>
                      <a:pPr algn="l">
                        <a:defRPr sz="1050">
                          <a:solidFill>
                            <a:srgbClr val="F8FAFC"/>
                          </a:solidFill>
                          <a:latin typeface="Calibri"/>
                        </a:defRPr>
                      </a:pPr>
                      <a:r>
                        <a:t>Node S (dist=0)</a:t>
                      </a:r>
                    </a:p>
                  </a:txBody>
                  <a:tcPr>
                    <a:solidFill>
                      <a:srgbClr val="12223A"/>
                    </a:solidFill>
                  </a:tcPr>
                </a:tc>
                <a:tc>
                  <a:txBody>
                    <a:bodyPr/>
                    <a:lstStyle/>
                    <a:p>
                      <a:pPr algn="ctr">
                        <a:defRPr sz="1050">
                          <a:solidFill>
                            <a:srgbClr val="F8FAFC"/>
                          </a:solidFill>
                          <a:latin typeface="Calibri"/>
                        </a:defRPr>
                      </a:pPr>
                      <a:r>
                        <a:t>2 (via S)</a:t>
                      </a:r>
                    </a:p>
                  </a:txBody>
                  <a:tcPr>
                    <a:solidFill>
                      <a:srgbClr val="12223A"/>
                    </a:solidFill>
                  </a:tcPr>
                </a:tc>
                <a:tc>
                  <a:txBody>
                    <a:bodyPr/>
                    <a:lstStyle/>
                    <a:p>
                      <a:pPr algn="ctr">
                        <a:defRPr sz="1050">
                          <a:solidFill>
                            <a:srgbClr val="F8FAFC"/>
                          </a:solidFill>
                          <a:latin typeface="Calibri"/>
                        </a:defRPr>
                      </a:pPr>
                      <a:r>
                        <a:t>1 (via S)</a:t>
                      </a:r>
                    </a:p>
                  </a:txBody>
                  <a:tcPr>
                    <a:solidFill>
                      <a:srgbClr val="12223A"/>
                    </a:solidFill>
                  </a:tcPr>
                </a:tc>
                <a:tc>
                  <a:txBody>
                    <a:bodyPr/>
                    <a:lstStyle/>
                    <a:p>
                      <a:pPr algn="ctr">
                        <a:defRPr sz="1050">
                          <a:solidFill>
                            <a:srgbClr val="F8FAFC"/>
                          </a:solidFill>
                          <a:latin typeface="Calibri"/>
                        </a:defRPr>
                      </a:pPr>
                      <a:r>
                        <a:t>∞</a:t>
                      </a:r>
                    </a:p>
                  </a:txBody>
                  <a:tcPr>
                    <a:solidFill>
                      <a:srgbClr val="12223A"/>
                    </a:solidFill>
                  </a:tcPr>
                </a:tc>
                <a:tc>
                  <a:txBody>
                    <a:bodyPr/>
                    <a:lstStyle/>
                    <a:p>
                      <a:pPr algn="ctr">
                        <a:defRPr sz="1050">
                          <a:solidFill>
                            <a:srgbClr val="F8FAFC"/>
                          </a:solidFill>
                          <a:latin typeface="Calibri"/>
                        </a:defRPr>
                      </a:pPr>
                      <a:r>
                        <a:t>{S}</a:t>
                      </a:r>
                    </a:p>
                  </a:txBody>
                  <a:tcPr>
                    <a:solidFill>
                      <a:srgbClr val="12223A"/>
                    </a:solidFill>
                  </a:tcPr>
                </a:tc>
              </a:tr>
              <a:tr h="487680">
                <a:tc>
                  <a:txBody>
                    <a:bodyPr/>
                    <a:lstStyle/>
                    <a:p>
                      <a:pPr algn="l">
                        <a:defRPr sz="1050">
                          <a:solidFill>
                            <a:srgbClr val="F8FAFC"/>
                          </a:solidFill>
                          <a:latin typeface="Calibri"/>
                        </a:defRPr>
                      </a:pPr>
                      <a:r>
                        <a:t>2</a:t>
                      </a:r>
                    </a:p>
                  </a:txBody>
                  <a:tcPr>
                    <a:solidFill>
                      <a:srgbClr val="172A45"/>
                    </a:solidFill>
                  </a:tcPr>
                </a:tc>
                <a:tc>
                  <a:txBody>
                    <a:bodyPr/>
                    <a:lstStyle/>
                    <a:p>
                      <a:pPr algn="l">
                        <a:defRPr sz="1050">
                          <a:solidFill>
                            <a:srgbClr val="F8FAFC"/>
                          </a:solidFill>
                          <a:latin typeface="Calibri"/>
                        </a:defRPr>
                      </a:pPr>
                      <a:r>
                        <a:t>Node B (dist=1)</a:t>
                      </a:r>
                    </a:p>
                  </a:txBody>
                  <a:tcPr>
                    <a:solidFill>
                      <a:srgbClr val="172A45"/>
                    </a:solidFill>
                  </a:tcPr>
                </a:tc>
                <a:tc>
                  <a:txBody>
                    <a:bodyPr/>
                    <a:lstStyle/>
                    <a:p>
                      <a:pPr algn="ctr">
                        <a:defRPr sz="1050">
                          <a:solidFill>
                            <a:srgbClr val="F8FAFC"/>
                          </a:solidFill>
                          <a:latin typeface="Calibri"/>
                        </a:defRPr>
                      </a:pPr>
                      <a:r>
                        <a:t>2</a:t>
                      </a:r>
                    </a:p>
                  </a:txBody>
                  <a:tcPr>
                    <a:solidFill>
                      <a:srgbClr val="172A45"/>
                    </a:solidFill>
                  </a:tcPr>
                </a:tc>
                <a:tc>
                  <a:txBody>
                    <a:bodyPr/>
                    <a:lstStyle/>
                    <a:p>
                      <a:pPr algn="ctr">
                        <a:defRPr sz="1050">
                          <a:solidFill>
                            <a:srgbClr val="F8FAFC"/>
                          </a:solidFill>
                          <a:latin typeface="Calibri"/>
                        </a:defRPr>
                      </a:pPr>
                      <a:r>
                        <a:t>1</a:t>
                      </a:r>
                    </a:p>
                  </a:txBody>
                  <a:tcPr>
                    <a:solidFill>
                      <a:srgbClr val="172A45"/>
                    </a:solidFill>
                  </a:tcPr>
                </a:tc>
                <a:tc>
                  <a:txBody>
                    <a:bodyPr/>
                    <a:lstStyle/>
                    <a:p>
                      <a:pPr algn="l">
                        <a:defRPr sz="1050">
                          <a:solidFill>
                            <a:srgbClr val="F8FAFC"/>
                          </a:solidFill>
                          <a:latin typeface="Calibri"/>
                        </a:defRPr>
                      </a:pPr>
                      <a:r>
                        <a:t>1 + 6 = 7 (via B)</a:t>
                      </a:r>
                    </a:p>
                  </a:txBody>
                  <a:tcPr>
                    <a:solidFill>
                      <a:srgbClr val="172A45"/>
                    </a:solidFill>
                  </a:tcPr>
                </a:tc>
                <a:tc>
                  <a:txBody>
                    <a:bodyPr/>
                    <a:lstStyle/>
                    <a:p>
                      <a:pPr algn="ctr">
                        <a:defRPr sz="1050">
                          <a:solidFill>
                            <a:srgbClr val="F8FAFC"/>
                          </a:solidFill>
                          <a:latin typeface="Calibri"/>
                        </a:defRPr>
                      </a:pPr>
                      <a:r>
                        <a:t>{S, B}</a:t>
                      </a:r>
                    </a:p>
                  </a:txBody>
                  <a:tcPr>
                    <a:solidFill>
                      <a:srgbClr val="172A45"/>
                    </a:solidFill>
                  </a:tcPr>
                </a:tc>
              </a:tr>
              <a:tr h="487680">
                <a:tc>
                  <a:txBody>
                    <a:bodyPr/>
                    <a:lstStyle/>
                    <a:p>
                      <a:pPr algn="l">
                        <a:defRPr sz="1050">
                          <a:solidFill>
                            <a:srgbClr val="F8FAFC"/>
                          </a:solidFill>
                          <a:latin typeface="Calibri"/>
                        </a:defRPr>
                      </a:pPr>
                      <a:r>
                        <a:t>3</a:t>
                      </a:r>
                    </a:p>
                  </a:txBody>
                  <a:tcPr>
                    <a:solidFill>
                      <a:srgbClr val="12223A"/>
                    </a:solidFill>
                  </a:tcPr>
                </a:tc>
                <a:tc>
                  <a:txBody>
                    <a:bodyPr/>
                    <a:lstStyle/>
                    <a:p>
                      <a:pPr algn="l">
                        <a:defRPr sz="1050">
                          <a:solidFill>
                            <a:srgbClr val="F8FAFC"/>
                          </a:solidFill>
                          <a:latin typeface="Calibri"/>
                        </a:defRPr>
                      </a:pPr>
                      <a:r>
                        <a:t>Node A (dist=2)</a:t>
                      </a:r>
                    </a:p>
                  </a:txBody>
                  <a:tcPr>
                    <a:solidFill>
                      <a:srgbClr val="12223A"/>
                    </a:solidFill>
                  </a:tcPr>
                </a:tc>
                <a:tc>
                  <a:txBody>
                    <a:bodyPr/>
                    <a:lstStyle/>
                    <a:p>
                      <a:pPr algn="ctr">
                        <a:defRPr sz="1050">
                          <a:solidFill>
                            <a:srgbClr val="F8FAFC"/>
                          </a:solidFill>
                          <a:latin typeface="Calibri"/>
                        </a:defRPr>
                      </a:pPr>
                      <a:r>
                        <a:t>2</a:t>
                      </a:r>
                    </a:p>
                  </a:txBody>
                  <a:tcPr>
                    <a:solidFill>
                      <a:srgbClr val="12223A"/>
                    </a:solidFill>
                  </a:tcPr>
                </a:tc>
                <a:tc>
                  <a:txBody>
                    <a:bodyPr/>
                    <a:lstStyle/>
                    <a:p>
                      <a:pPr algn="ctr">
                        <a:defRPr sz="1050">
                          <a:solidFill>
                            <a:srgbClr val="F8FAFC"/>
                          </a:solidFill>
                          <a:latin typeface="Calibri"/>
                        </a:defRPr>
                      </a:pPr>
                      <a:r>
                        <a:t>1</a:t>
                      </a:r>
                    </a:p>
                  </a:txBody>
                  <a:tcPr>
                    <a:solidFill>
                      <a:srgbClr val="12223A"/>
                    </a:solidFill>
                  </a:tcPr>
                </a:tc>
                <a:tc>
                  <a:txBody>
                    <a:bodyPr/>
                    <a:lstStyle/>
                    <a:p>
                      <a:pPr algn="l">
                        <a:defRPr sz="1050">
                          <a:solidFill>
                            <a:srgbClr val="F8FAFC"/>
                          </a:solidFill>
                          <a:latin typeface="Calibri"/>
                        </a:defRPr>
                      </a:pPr>
                      <a:r>
                        <a:t>min(7, 2+3) = 5 (via A)</a:t>
                      </a:r>
                    </a:p>
                  </a:txBody>
                  <a:tcPr>
                    <a:solidFill>
                      <a:srgbClr val="12223A"/>
                    </a:solidFill>
                  </a:tcPr>
                </a:tc>
                <a:tc>
                  <a:txBody>
                    <a:bodyPr/>
                    <a:lstStyle/>
                    <a:p>
                      <a:pPr algn="ctr">
                        <a:defRPr sz="1050">
                          <a:solidFill>
                            <a:srgbClr val="F8FAFC"/>
                          </a:solidFill>
                          <a:latin typeface="Calibri"/>
                        </a:defRPr>
                      </a:pPr>
                      <a:r>
                        <a:t>{S, B, A}</a:t>
                      </a:r>
                    </a:p>
                  </a:txBody>
                  <a:tcPr>
                    <a:solidFill>
                      <a:srgbClr val="12223A"/>
                    </a:solidFill>
                  </a:tcPr>
                </a:tc>
              </a:tr>
              <a:tr h="487680">
                <a:tc>
                  <a:txBody>
                    <a:bodyPr/>
                    <a:lstStyle/>
                    <a:p>
                      <a:pPr algn="l">
                        <a:defRPr sz="1050">
                          <a:solidFill>
                            <a:srgbClr val="F8FAFC"/>
                          </a:solidFill>
                          <a:latin typeface="Calibri"/>
                        </a:defRPr>
                      </a:pPr>
                      <a:r>
                        <a:t>4</a:t>
                      </a:r>
                    </a:p>
                  </a:txBody>
                  <a:tcPr>
                    <a:solidFill>
                      <a:srgbClr val="172A45"/>
                    </a:solidFill>
                  </a:tcPr>
                </a:tc>
                <a:tc>
                  <a:txBody>
                    <a:bodyPr/>
                    <a:lstStyle/>
                    <a:p>
                      <a:pPr algn="l">
                        <a:defRPr sz="1050">
                          <a:solidFill>
                            <a:srgbClr val="F8FAFC"/>
                          </a:solidFill>
                          <a:latin typeface="Calibri"/>
                        </a:defRPr>
                      </a:pPr>
                      <a:r>
                        <a:t>Node T (dist=5)</a:t>
                      </a:r>
                    </a:p>
                  </a:txBody>
                  <a:tcPr>
                    <a:solidFill>
                      <a:srgbClr val="172A45"/>
                    </a:solidFill>
                  </a:tcPr>
                </a:tc>
                <a:tc>
                  <a:txBody>
                    <a:bodyPr/>
                    <a:lstStyle/>
                    <a:p>
                      <a:pPr algn="ctr">
                        <a:defRPr sz="1050">
                          <a:solidFill>
                            <a:srgbClr val="F8FAFC"/>
                          </a:solidFill>
                          <a:latin typeface="Calibri"/>
                        </a:defRPr>
                      </a:pPr>
                      <a:r>
                        <a:t>2</a:t>
                      </a:r>
                    </a:p>
                  </a:txBody>
                  <a:tcPr>
                    <a:solidFill>
                      <a:srgbClr val="172A45"/>
                    </a:solidFill>
                  </a:tcPr>
                </a:tc>
                <a:tc>
                  <a:txBody>
                    <a:bodyPr/>
                    <a:lstStyle/>
                    <a:p>
                      <a:pPr algn="ctr">
                        <a:defRPr sz="1050">
                          <a:solidFill>
                            <a:srgbClr val="F8FAFC"/>
                          </a:solidFill>
                          <a:latin typeface="Calibri"/>
                        </a:defRPr>
                      </a:pPr>
                      <a:r>
                        <a:t>1</a:t>
                      </a:r>
                    </a:p>
                  </a:txBody>
                  <a:tcPr>
                    <a:solidFill>
                      <a:srgbClr val="172A45"/>
                    </a:solidFill>
                  </a:tcPr>
                </a:tc>
                <a:tc>
                  <a:txBody>
                    <a:bodyPr/>
                    <a:lstStyle/>
                    <a:p>
                      <a:pPr algn="ctr">
                        <a:defRPr sz="1050">
                          <a:solidFill>
                            <a:srgbClr val="F8FAFC"/>
                          </a:solidFill>
                          <a:latin typeface="Calibri"/>
                        </a:defRPr>
                      </a:pPr>
                      <a:r>
                        <a:t>5</a:t>
                      </a:r>
                    </a:p>
                  </a:txBody>
                  <a:tcPr>
                    <a:solidFill>
                      <a:srgbClr val="172A45"/>
                    </a:solidFill>
                  </a:tcPr>
                </a:tc>
                <a:tc>
                  <a:txBody>
                    <a:bodyPr/>
                    <a:lstStyle/>
                    <a:p>
                      <a:pPr algn="ctr">
                        <a:defRPr sz="1050">
                          <a:solidFill>
                            <a:srgbClr val="F8FAFC"/>
                          </a:solidFill>
                          <a:latin typeface="Calibri"/>
                        </a:defRPr>
                      </a:pPr>
                      <a:r>
                        <a:t>{S, B, A, T}</a:t>
                      </a:r>
                    </a:p>
                  </a:txBody>
                  <a:tcPr>
                    <a:solidFill>
                      <a:srgbClr val="172A45"/>
                    </a:solidFill>
                  </a:tcPr>
                </a:tc>
              </a:tr>
            </a:tbl>
          </a:graphicData>
        </a:graphic>
      </p:graphicFrame>
      <p:sp>
        <p:nvSpPr>
          <p:cNvPr id="10" name="Rounded Rectangle 9"/>
          <p:cNvSpPr/>
          <p:nvPr/>
        </p:nvSpPr>
        <p:spPr>
          <a:xfrm>
            <a:off x="5029200" y="4572000"/>
            <a:ext cx="6430975" cy="1737360"/>
          </a:xfrm>
          <a:prstGeom prst="roundRect">
            <a:avLst/>
          </a:prstGeom>
          <a:solidFill>
            <a:srgbClr val="172A45"/>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4663440"/>
            <a:ext cx="6035040" cy="1554480"/>
          </a:xfrm>
          <a:prstGeom prst="rect">
            <a:avLst/>
          </a:prstGeom>
          <a:noFill/>
        </p:spPr>
        <p:txBody>
          <a:bodyPr wrap="square">
            <a:spAutoFit/>
          </a:bodyPr>
          <a:lstStyle/>
          <a:p>
            <a:pPr>
              <a:spcAft>
                <a:spcPts val="200"/>
              </a:spcAft>
              <a:defRPr sz="1300" b="1">
                <a:solidFill>
                  <a:srgbClr val="22C55E"/>
                </a:solidFill>
                <a:latin typeface="Calibri"/>
              </a:defRPr>
            </a:pPr>
            <a:r>
              <a:t>Why the Algorithm Selects Path S → A → T:</a:t>
            </a:r>
          </a:p>
          <a:p>
            <a:pPr>
              <a:defRPr sz="1000">
                <a:solidFill>
                  <a:srgbClr val="F8FAFC"/>
                </a:solidFill>
                <a:latin typeface="Calibri"/>
              </a:defRPr>
            </a:pPr>
            <a:r>
              <a:t>• At Step 2, node B is greedy-selected first because dist[B]=1 &lt; dist[A]=2.</a:t>
            </a:r>
          </a:p>
          <a:p>
            <a:pPr>
              <a:defRPr sz="1000">
                <a:solidFill>
                  <a:srgbClr val="F8FAFC"/>
                </a:solidFill>
                <a:latin typeface="Calibri"/>
              </a:defRPr>
            </a:pPr>
            <a:r>
              <a:t>• However, B's outward edge to T is very costly (weight 6), yielding tentative dist[T]=7.</a:t>
            </a:r>
          </a:p>
          <a:p>
            <a:pPr>
              <a:defRPr sz="1000">
                <a:solidFill>
                  <a:srgbClr val="F8FAFC"/>
                </a:solidFill>
                <a:latin typeface="Calibri"/>
              </a:defRPr>
            </a:pPr>
            <a:r>
              <a:t>• At Step 3, node A is extracted (dist=2) and relaxes edge A→T (cost 3), reducing dist[T] from 7 down to 5.</a:t>
            </a:r>
          </a:p>
          <a:p>
            <a:pPr>
              <a:defRPr sz="1000">
                <a:solidFill>
                  <a:srgbClr val="F8FAFC"/>
                </a:solidFill>
                <a:latin typeface="Calibri"/>
              </a:defRPr>
            </a:pPr>
            <a:r>
              <a:t>• Final Result: Dijkstra correctly identifies S → A → T (cost 5) over S → B → T (cost 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Dijkstra's Algorithm — Part 3: Code Implementation &amp; Analysis</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12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5212080" cy="4846320"/>
          </a:xfrm>
          <a:prstGeom prst="roundRect">
            <a:avLst/>
          </a:prstGeom>
          <a:solidFill>
            <a:srgbClr val="172A45"/>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846320" cy="4480560"/>
          </a:xfrm>
          <a:prstGeom prst="rect">
            <a:avLst/>
          </a:prstGeom>
          <a:noFill/>
        </p:spPr>
        <p:txBody>
          <a:bodyPr wrap="square" lIns="0" tIns="0" rIns="0" bIns="0">
            <a:spAutoFit/>
          </a:bodyPr>
          <a:lstStyle/>
          <a:p>
            <a:pPr>
              <a:spcAft>
                <a:spcPts val="300"/>
              </a:spcAft>
              <a:defRPr sz="1500" b="1">
                <a:solidFill>
                  <a:srgbClr val="2563EB"/>
                </a:solidFill>
                <a:latin typeface="Calibri"/>
              </a:defRPr>
            </a:pPr>
            <a:r>
              <a:t>Actual Code Pattern in routing.py</a:t>
            </a:r>
          </a:p>
          <a:p>
            <a:pPr>
              <a:spcAft>
                <a:spcPts val="600"/>
              </a:spcAft>
              <a:defRPr sz="1050">
                <a:solidFill>
                  <a:srgbClr val="94A3B8"/>
                </a:solidFill>
                <a:latin typeface="Calibri"/>
              </a:defRPr>
            </a:pPr>
            <a:r>
              <a:t>Source Code Inspection</a:t>
            </a:r>
          </a:p>
          <a:p>
            <a:pPr>
              <a:spcAft>
                <a:spcPts val="400"/>
              </a:spcAft>
              <a:defRPr sz="1100">
                <a:solidFill>
                  <a:srgbClr val="F8FAFC"/>
                </a:solidFill>
                <a:latin typeface="Calibri"/>
              </a:defRPr>
            </a:pPr>
            <a:r>
              <a:t>•  NetworkX Invocation in routing.py (Line 435):</a:t>
            </a:r>
          </a:p>
          <a:p>
            <a:pPr>
              <a:spcAft>
                <a:spcPts val="400"/>
              </a:spcAft>
              <a:defRPr sz="1100">
                <a:solidFill>
                  <a:srgbClr val="F8FAFC"/>
                </a:solidFill>
                <a:latin typeface="Calibri"/>
              </a:defRPr>
            </a:pPr>
            <a:r>
              <a:t>•    `path = nx.dijkstra_path(G, start_node, end_node, weight='weight')`</a:t>
            </a:r>
          </a:p>
          <a:p>
            <a:pPr>
              <a:spcAft>
                <a:spcPts val="400"/>
              </a:spcAft>
              <a:defRPr sz="1100">
                <a:solidFill>
                  <a:srgbClr val="F8FAFC"/>
                </a:solidFill>
                <a:latin typeface="Calibri"/>
              </a:defRPr>
            </a:pPr>
            <a:r>
              <a:t>•  Parameter Breakdown:</a:t>
            </a:r>
          </a:p>
          <a:p>
            <a:pPr>
              <a:spcAft>
                <a:spcPts val="400"/>
              </a:spcAft>
              <a:defRPr sz="1100">
                <a:solidFill>
                  <a:srgbClr val="F8FAFC"/>
                </a:solidFill>
                <a:latin typeface="Calibri"/>
              </a:defRPr>
            </a:pPr>
            <a:r>
              <a:t>•    • `nx.dijkstra_path`: NetworkX's built-in min-heap Dijkstra implementation.</a:t>
            </a:r>
          </a:p>
          <a:p>
            <a:pPr>
              <a:spcAft>
                <a:spcPts val="400"/>
              </a:spcAft>
              <a:defRPr sz="1100">
                <a:solidFill>
                  <a:srgbClr val="F8FAFC"/>
                </a:solidFill>
                <a:latin typeface="Calibri"/>
              </a:defRPr>
            </a:pPr>
            <a:r>
              <a:t>•    • `G`: NetworkX Graph containing road intersections and edges.</a:t>
            </a:r>
          </a:p>
          <a:p>
            <a:pPr>
              <a:spcAft>
                <a:spcPts val="400"/>
              </a:spcAft>
              <a:defRPr sz="1100">
                <a:solidFill>
                  <a:srgbClr val="F8FAFC"/>
                </a:solidFill>
                <a:latin typeface="Calibri"/>
              </a:defRPr>
            </a:pPr>
            <a:r>
              <a:t>•    • `start_node`: Origin road node closest to incident GPS.</a:t>
            </a:r>
          </a:p>
          <a:p>
            <a:pPr>
              <a:spcAft>
                <a:spcPts val="400"/>
              </a:spcAft>
              <a:defRPr sz="1100">
                <a:solidFill>
                  <a:srgbClr val="F8FAFC"/>
                </a:solidFill>
                <a:latin typeface="Calibri"/>
              </a:defRPr>
            </a:pPr>
            <a:r>
              <a:t>•    • `end_node`: Target road node closest to assigned shelter.</a:t>
            </a:r>
          </a:p>
          <a:p>
            <a:pPr>
              <a:spcAft>
                <a:spcPts val="400"/>
              </a:spcAft>
              <a:defRPr sz="1100">
                <a:solidFill>
                  <a:srgbClr val="F8FAFC"/>
                </a:solidFill>
                <a:latin typeface="Calibri"/>
              </a:defRPr>
            </a:pPr>
            <a:r>
              <a:t>•    • `weight='weight'`: Edge attribute holding distance + flood hazard penalty.</a:t>
            </a:r>
          </a:p>
          <a:p>
            <a:pPr>
              <a:spcAft>
                <a:spcPts val="400"/>
              </a:spcAft>
              <a:defRPr sz="1100">
                <a:solidFill>
                  <a:srgbClr val="F8FAFC"/>
                </a:solidFill>
                <a:latin typeface="Calibri"/>
              </a:defRPr>
            </a:pPr>
            <a:r>
              <a:t>•    • `path`: Returned Python list of node IDs forming optimal path.</a:t>
            </a:r>
          </a:p>
          <a:p>
            <a:pPr>
              <a:spcAft>
                <a:spcPts val="400"/>
              </a:spcAft>
              <a:defRPr sz="1100">
                <a:solidFill>
                  <a:srgbClr val="F8FAFC"/>
                </a:solidFill>
                <a:latin typeface="Calibri"/>
              </a:defRPr>
            </a:pPr>
            <a:r>
              <a:t>•  Built-in vs. Manual: The project leverages NetworkX's battle-tested implementation rather than hand-crafting a heap.</a:t>
            </a:r>
          </a:p>
          <a:p>
            <a:pPr>
              <a:spcAft>
                <a:spcPts val="400"/>
              </a:spcAft>
              <a:defRPr sz="1100">
                <a:solidFill>
                  <a:srgbClr val="F8FAFC"/>
                </a:solidFill>
                <a:latin typeface="Calibri"/>
              </a:defRPr>
            </a:pPr>
            <a:r>
              <a:t>•  Time Complexity: O(|E| + |V| log |V|) using a binary min-heap.</a:t>
            </a:r>
          </a:p>
        </p:txBody>
      </p:sp>
      <p:sp>
        <p:nvSpPr>
          <p:cNvPr id="9" name="Rounded Rectangle 8"/>
          <p:cNvSpPr/>
          <p:nvPr/>
        </p:nvSpPr>
        <p:spPr>
          <a:xfrm>
            <a:off x="6217920" y="1463040"/>
            <a:ext cx="5212080" cy="4846320"/>
          </a:xfrm>
          <a:prstGeom prst="roundRect">
            <a:avLst/>
          </a:prstGeom>
          <a:solidFill>
            <a:srgbClr val="17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480560"/>
          </a:xfrm>
          <a:prstGeom prst="rect">
            <a:avLst/>
          </a:prstGeom>
          <a:noFill/>
        </p:spPr>
        <p:txBody>
          <a:bodyPr wrap="square" lIns="0" tIns="0" rIns="0" bIns="0">
            <a:spAutoFit/>
          </a:bodyPr>
          <a:lstStyle/>
          <a:p>
            <a:pPr>
              <a:spcAft>
                <a:spcPts val="300"/>
              </a:spcAft>
              <a:defRPr sz="1500" b="1">
                <a:solidFill>
                  <a:srgbClr val="38BDF8"/>
                </a:solidFill>
                <a:latin typeface="Calibri"/>
              </a:defRPr>
            </a:pPr>
            <a:r>
              <a:t>Hazard Penalties &amp; Theoretical Comparison</a:t>
            </a:r>
          </a:p>
          <a:p>
            <a:pPr>
              <a:spcAft>
                <a:spcPts val="600"/>
              </a:spcAft>
              <a:defRPr sz="1050">
                <a:solidFill>
                  <a:srgbClr val="94A3B8"/>
                </a:solidFill>
                <a:latin typeface="Calibri"/>
              </a:defRPr>
            </a:pPr>
            <a:r>
              <a:t>Dynamic Detours &amp; Viva Concepts</a:t>
            </a:r>
          </a:p>
          <a:p>
            <a:pPr>
              <a:spcAft>
                <a:spcPts val="400"/>
              </a:spcAft>
              <a:defRPr sz="1100">
                <a:solidFill>
                  <a:srgbClr val="F8FAFC"/>
                </a:solidFill>
                <a:latin typeface="Calibri"/>
              </a:defRPr>
            </a:pPr>
            <a:r>
              <a:t>•  Illustrative Road Hazard Penalty Mechanism:</a:t>
            </a:r>
          </a:p>
          <a:p>
            <a:pPr>
              <a:spcAft>
                <a:spcPts val="400"/>
              </a:spcAft>
              <a:defRPr sz="1100">
                <a:solidFill>
                  <a:srgbClr val="F8FAFC"/>
                </a:solidFill>
                <a:latin typeface="Calibri"/>
              </a:defRPr>
            </a:pPr>
            <a:r>
              <a:t>•    • Route A: Base cost = 3.0 km, Hazard penalty = +8.0, Total = 11.0</a:t>
            </a:r>
          </a:p>
          <a:p>
            <a:pPr>
              <a:spcAft>
                <a:spcPts val="400"/>
              </a:spcAft>
              <a:defRPr sz="1100">
                <a:solidFill>
                  <a:srgbClr val="F8FAFC"/>
                </a:solidFill>
                <a:latin typeface="Calibri"/>
              </a:defRPr>
            </a:pPr>
            <a:r>
              <a:t>•    • Route B: Base cost = 5.0 km, Hazard penalty = +0.0, Total = 5.0</a:t>
            </a:r>
          </a:p>
          <a:p>
            <a:pPr>
              <a:spcAft>
                <a:spcPts val="400"/>
              </a:spcAft>
              <a:defRPr sz="1100">
                <a:solidFill>
                  <a:srgbClr val="F8FAFC"/>
                </a:solidFill>
                <a:latin typeface="Calibri"/>
              </a:defRPr>
            </a:pPr>
            <a:r>
              <a:t>•    • Decision: Route B is selected (5.0 &lt; 11.0) despite longer base distance!</a:t>
            </a:r>
          </a:p>
          <a:p>
            <a:pPr>
              <a:spcAft>
                <a:spcPts val="400"/>
              </a:spcAft>
              <a:defRPr sz="1100">
                <a:solidFill>
                  <a:srgbClr val="F8FAFC"/>
                </a:solidFill>
                <a:latin typeface="Calibri"/>
              </a:defRPr>
            </a:pPr>
            <a:r>
              <a:t>•  Code Multiplier in routing.py (Line 173):</a:t>
            </a:r>
          </a:p>
          <a:p>
            <a:pPr>
              <a:spcAft>
                <a:spcPts val="400"/>
              </a:spcAft>
              <a:defRPr sz="1100">
                <a:solidFill>
                  <a:srgbClr val="F8FAFC"/>
                </a:solidFill>
                <a:latin typeface="Calibri"/>
              </a:defRPr>
            </a:pPr>
            <a:r>
              <a:t>•    If segment is flooded: `weight *= 100.0` (severe edge penalty).</a:t>
            </a:r>
          </a:p>
          <a:p>
            <a:pPr>
              <a:spcAft>
                <a:spcPts val="400"/>
              </a:spcAft>
              <a:defRPr sz="1100">
                <a:solidFill>
                  <a:srgbClr val="F8FAFC"/>
                </a:solidFill>
                <a:latin typeface="Calibri"/>
              </a:defRPr>
            </a:pPr>
            <a:r>
              <a:t>•  Theoretical Comparisons for Viva:</a:t>
            </a:r>
          </a:p>
          <a:p>
            <a:pPr>
              <a:spcAft>
                <a:spcPts val="400"/>
              </a:spcAft>
              <a:defRPr sz="1100">
                <a:solidFill>
                  <a:srgbClr val="F8FAFC"/>
                </a:solidFill>
                <a:latin typeface="Calibri"/>
              </a:defRPr>
            </a:pPr>
            <a:r>
              <a:t>•    • Dijkstra vs. BFS: BFS is unweighted O(V+E); Dijkstra supports arbitrary non-negative weights.</a:t>
            </a:r>
          </a:p>
          <a:p>
            <a:pPr>
              <a:spcAft>
                <a:spcPts val="400"/>
              </a:spcAft>
              <a:defRPr sz="1100">
                <a:solidFill>
                  <a:srgbClr val="F8FAFC"/>
                </a:solidFill>
                <a:latin typeface="Calibri"/>
              </a:defRPr>
            </a:pPr>
            <a:r>
              <a:t>•    • Dijkstra vs. A*: A* adds a goal-directed heuristic h(n); Dijkstra is unguided (h(n)=0).</a:t>
            </a:r>
          </a:p>
          <a:p>
            <a:pPr>
              <a:spcAft>
                <a:spcPts val="400"/>
              </a:spcAft>
              <a:defRPr sz="1100">
                <a:solidFill>
                  <a:srgbClr val="F8FAFC"/>
                </a:solidFill>
                <a:latin typeface="Calibri"/>
              </a:defRPr>
            </a:pPr>
            <a:r>
              <a:t>•    • Non-Negative Constraint: Negative weights invalidate greedy relaxation.</a:t>
            </a:r>
          </a:p>
          <a:p>
            <a:pPr>
              <a:spcAft>
                <a:spcPts val="400"/>
              </a:spcAft>
              <a:defRPr sz="1100">
                <a:solidFill>
                  <a:srgbClr val="F8FAFC"/>
                </a:solidFill>
                <a:latin typeface="Calibri"/>
              </a:defRPr>
            </a:pPr>
            <a:r>
              <a:t>•    • Vital Limitation: Dijkstra guarantees optimality in the *modeled graph*, not real-world safety.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Haversine Formula — Part 1: Spherical Geometry &amp; Formulation</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13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5212080" cy="4846320"/>
          </a:xfrm>
          <a:prstGeom prst="roundRect">
            <a:avLst/>
          </a:prstGeom>
          <a:solidFill>
            <a:srgbClr val="17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846320" cy="4480560"/>
          </a:xfrm>
          <a:prstGeom prst="rect">
            <a:avLst/>
          </a:prstGeom>
          <a:noFill/>
        </p:spPr>
        <p:txBody>
          <a:bodyPr wrap="square" lIns="0" tIns="0" rIns="0" bIns="0">
            <a:spAutoFit/>
          </a:bodyPr>
          <a:lstStyle/>
          <a:p>
            <a:pPr>
              <a:spcAft>
                <a:spcPts val="300"/>
              </a:spcAft>
              <a:defRPr sz="1500" b="1">
                <a:solidFill>
                  <a:srgbClr val="38BDF8"/>
                </a:solidFill>
                <a:latin typeface="Calibri"/>
              </a:defRPr>
            </a:pPr>
            <a:r>
              <a:t>Why Geographic Distance Requires Spherical Trigonometry</a:t>
            </a:r>
          </a:p>
          <a:p>
            <a:pPr>
              <a:spcAft>
                <a:spcPts val="600"/>
              </a:spcAft>
              <a:defRPr sz="1050">
                <a:solidFill>
                  <a:srgbClr val="94A3B8"/>
                </a:solidFill>
                <a:latin typeface="Calibri"/>
              </a:defRPr>
            </a:pPr>
            <a:r>
              <a:t>Geodetic Principles</a:t>
            </a:r>
          </a:p>
          <a:p>
            <a:pPr>
              <a:spcAft>
                <a:spcPts val="400"/>
              </a:spcAft>
              <a:defRPr sz="1100">
                <a:solidFill>
                  <a:srgbClr val="F8FAFC"/>
                </a:solidFill>
                <a:latin typeface="Calibri"/>
              </a:defRPr>
            </a:pPr>
            <a:r>
              <a:t>•  The Flat-Earth Fallacy: Standard Euclidean distance d = √((x2-x1)² + (y2-y1)²) assumes a flat Cartesian 2D plane.</a:t>
            </a:r>
          </a:p>
          <a:p>
            <a:pPr>
              <a:spcAft>
                <a:spcPts val="400"/>
              </a:spcAft>
              <a:defRPr sz="1100">
                <a:solidFill>
                  <a:srgbClr val="F8FAFC"/>
                </a:solidFill>
                <a:latin typeface="Calibri"/>
              </a:defRPr>
            </a:pPr>
            <a:r>
              <a:t>•  Earth's Geometry: The Earth is an oblate spheroid. Meridians of longitude converge at the poles, meaning 1 degree of longitude varies from 111 km at the equator to 0 km at the poles.</a:t>
            </a:r>
          </a:p>
          <a:p>
            <a:pPr>
              <a:spcAft>
                <a:spcPts val="400"/>
              </a:spcAft>
              <a:defRPr sz="1100">
                <a:solidFill>
                  <a:srgbClr val="F8FAFC"/>
                </a:solidFill>
                <a:latin typeface="Calibri"/>
              </a:defRPr>
            </a:pPr>
            <a:r>
              <a:t>•  Latitude (φ): Angular distance north or south of the Equator (-90° to +90°).</a:t>
            </a:r>
          </a:p>
          <a:p>
            <a:pPr>
              <a:spcAft>
                <a:spcPts val="400"/>
              </a:spcAft>
              <a:defRPr sz="1100">
                <a:solidFill>
                  <a:srgbClr val="F8FAFC"/>
                </a:solidFill>
                <a:latin typeface="Calibri"/>
              </a:defRPr>
            </a:pPr>
            <a:r>
              <a:t>•  Longitude (λ): Angular distance east or west of the Prime Meridian (-180° to +180°).</a:t>
            </a:r>
          </a:p>
          <a:p>
            <a:pPr>
              <a:spcAft>
                <a:spcPts val="400"/>
              </a:spcAft>
              <a:defRPr sz="1100">
                <a:solidFill>
                  <a:srgbClr val="F8FAFC"/>
                </a:solidFill>
                <a:latin typeface="Calibri"/>
              </a:defRPr>
            </a:pPr>
            <a:r>
              <a:t>•  Great-Circle Distance: The shortest path between any two points along the surface of a sphere, formed by the intersection of the sphere with a plane passing through the Earth's center.</a:t>
            </a:r>
          </a:p>
        </p:txBody>
      </p:sp>
      <p:sp>
        <p:nvSpPr>
          <p:cNvPr id="9" name="Rounded Rectangle 8"/>
          <p:cNvSpPr/>
          <p:nvPr/>
        </p:nvSpPr>
        <p:spPr>
          <a:xfrm>
            <a:off x="6217920" y="1463040"/>
            <a:ext cx="5212080" cy="4846320"/>
          </a:xfrm>
          <a:prstGeom prst="roundRect">
            <a:avLst/>
          </a:prstGeom>
          <a:solidFill>
            <a:srgbClr val="172A45"/>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480560"/>
          </a:xfrm>
          <a:prstGeom prst="rect">
            <a:avLst/>
          </a:prstGeom>
          <a:noFill/>
        </p:spPr>
        <p:txBody>
          <a:bodyPr wrap="square" lIns="0" tIns="0" rIns="0" bIns="0">
            <a:spAutoFit/>
          </a:bodyPr>
          <a:lstStyle/>
          <a:p>
            <a:pPr>
              <a:spcAft>
                <a:spcPts val="300"/>
              </a:spcAft>
              <a:defRPr sz="1500" b="1">
                <a:solidFill>
                  <a:srgbClr val="2563EB"/>
                </a:solidFill>
                <a:latin typeface="Calibri"/>
              </a:defRPr>
            </a:pPr>
            <a:r>
              <a:t>The Mathematical Formulation</a:t>
            </a:r>
          </a:p>
          <a:p>
            <a:pPr>
              <a:spcAft>
                <a:spcPts val="600"/>
              </a:spcAft>
              <a:defRPr sz="1050">
                <a:solidFill>
                  <a:srgbClr val="94A3B8"/>
                </a:solidFill>
                <a:latin typeface="Calibri"/>
              </a:defRPr>
            </a:pPr>
            <a:r>
              <a:t>Formula Breakdown</a:t>
            </a:r>
          </a:p>
          <a:p>
            <a:pPr>
              <a:spcAft>
                <a:spcPts val="400"/>
              </a:spcAft>
              <a:defRPr sz="1100">
                <a:solidFill>
                  <a:srgbClr val="F8FAFC"/>
                </a:solidFill>
                <a:latin typeface="Calibri"/>
              </a:defRPr>
            </a:pPr>
            <a:r>
              <a:t>•  The Haversine Equation:</a:t>
            </a:r>
          </a:p>
          <a:p>
            <a:pPr>
              <a:spcAft>
                <a:spcPts val="400"/>
              </a:spcAft>
              <a:defRPr sz="1100">
                <a:solidFill>
                  <a:srgbClr val="F8FAFC"/>
                </a:solidFill>
                <a:latin typeface="Calibri"/>
              </a:defRPr>
            </a:pPr>
            <a:r>
              <a:t>•    a = sin²(Δφ / 2) + cos(φ1) · cos(φ2) · sin²(Δλ / 2)</a:t>
            </a:r>
          </a:p>
          <a:p>
            <a:pPr>
              <a:spcAft>
                <a:spcPts val="400"/>
              </a:spcAft>
              <a:defRPr sz="1100">
                <a:solidFill>
                  <a:srgbClr val="F8FAFC"/>
                </a:solidFill>
                <a:latin typeface="Calibri"/>
              </a:defRPr>
            </a:pPr>
            <a:r>
              <a:t>•    c = 2 · arcsin(√a)  =  2 · atan2(√a, √(1 - a))</a:t>
            </a:r>
          </a:p>
          <a:p>
            <a:pPr>
              <a:spcAft>
                <a:spcPts val="400"/>
              </a:spcAft>
              <a:defRPr sz="1100">
                <a:solidFill>
                  <a:srgbClr val="F8FAFC"/>
                </a:solidFill>
                <a:latin typeface="Calibri"/>
              </a:defRPr>
            </a:pPr>
            <a:r>
              <a:t>•    d = R · c</a:t>
            </a:r>
          </a:p>
          <a:p>
            <a:pPr>
              <a:spcAft>
                <a:spcPts val="400"/>
              </a:spcAft>
              <a:defRPr sz="1100">
                <a:solidFill>
                  <a:srgbClr val="F8FAFC"/>
                </a:solidFill>
                <a:latin typeface="Calibri"/>
              </a:defRPr>
            </a:pPr>
            <a:r>
              <a:t>•  Symbol Definitions:</a:t>
            </a:r>
          </a:p>
          <a:p>
            <a:pPr>
              <a:spcAft>
                <a:spcPts val="400"/>
              </a:spcAft>
              <a:defRPr sz="1100">
                <a:solidFill>
                  <a:srgbClr val="F8FAFC"/>
                </a:solidFill>
                <a:latin typeface="Calibri"/>
              </a:defRPr>
            </a:pPr>
            <a:r>
              <a:t>•    • φ1, φ2 = Latitudes of Point 1 and Point 2 in RADIANS.</a:t>
            </a:r>
          </a:p>
          <a:p>
            <a:pPr>
              <a:spcAft>
                <a:spcPts val="400"/>
              </a:spcAft>
              <a:defRPr sz="1100">
                <a:solidFill>
                  <a:srgbClr val="F8FAFC"/>
                </a:solidFill>
                <a:latin typeface="Calibri"/>
              </a:defRPr>
            </a:pPr>
            <a:r>
              <a:t>•    • λ1, λ2 = Longitudes of Point 1 and Point 2 in RADIANS.</a:t>
            </a:r>
          </a:p>
          <a:p>
            <a:pPr>
              <a:spcAft>
                <a:spcPts val="400"/>
              </a:spcAft>
              <a:defRPr sz="1100">
                <a:solidFill>
                  <a:srgbClr val="F8FAFC"/>
                </a:solidFill>
                <a:latin typeface="Calibri"/>
              </a:defRPr>
            </a:pPr>
            <a:r>
              <a:t>•    • Δφ = φ2 - φ1   (Latitude difference in radians).</a:t>
            </a:r>
          </a:p>
          <a:p>
            <a:pPr>
              <a:spcAft>
                <a:spcPts val="400"/>
              </a:spcAft>
              <a:defRPr sz="1100">
                <a:solidFill>
                  <a:srgbClr val="F8FAFC"/>
                </a:solidFill>
                <a:latin typeface="Calibri"/>
              </a:defRPr>
            </a:pPr>
            <a:r>
              <a:t>•    • Δλ = λ2 - λ1   (Longitude difference in radians).</a:t>
            </a:r>
          </a:p>
          <a:p>
            <a:pPr>
              <a:spcAft>
                <a:spcPts val="400"/>
              </a:spcAft>
              <a:defRPr sz="1100">
                <a:solidFill>
                  <a:srgbClr val="F8FAFC"/>
                </a:solidFill>
                <a:latin typeface="Calibri"/>
              </a:defRPr>
            </a:pPr>
            <a:r>
              <a:t>•    • R = 6,371.0 km (Earth's mean volumetric radius).</a:t>
            </a:r>
          </a:p>
          <a:p>
            <a:pPr>
              <a:spcAft>
                <a:spcPts val="400"/>
              </a:spcAft>
              <a:defRPr sz="1100">
                <a:solidFill>
                  <a:srgbClr val="F8FAFC"/>
                </a:solidFill>
                <a:latin typeface="Calibri"/>
              </a:defRPr>
            </a:pPr>
            <a:r>
              <a:t>•    • d = Calculated great-circle surface distance in kilometers.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Haversine Formula — Part 2: Numerical Example &amp; Application</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14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5212080" cy="4846320"/>
          </a:xfrm>
          <a:prstGeom prst="roundRect">
            <a:avLst/>
          </a:prstGeom>
          <a:solidFill>
            <a:srgbClr val="172A45"/>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846320" cy="4480560"/>
          </a:xfrm>
          <a:prstGeom prst="rect">
            <a:avLst/>
          </a:prstGeom>
          <a:noFill/>
        </p:spPr>
        <p:txBody>
          <a:bodyPr wrap="square" lIns="0" tIns="0" rIns="0" bIns="0">
            <a:spAutoFit/>
          </a:bodyPr>
          <a:lstStyle/>
          <a:p>
            <a:pPr>
              <a:spcAft>
                <a:spcPts val="300"/>
              </a:spcAft>
              <a:defRPr sz="1500" b="1">
                <a:solidFill>
                  <a:srgbClr val="22C55E"/>
                </a:solidFill>
                <a:latin typeface="Calibri"/>
              </a:defRPr>
            </a:pPr>
            <a:r>
              <a:t>Numerical Worked Example (Illustrative)</a:t>
            </a:r>
          </a:p>
          <a:p>
            <a:pPr>
              <a:spcAft>
                <a:spcPts val="600"/>
              </a:spcAft>
              <a:defRPr sz="1050">
                <a:solidFill>
                  <a:srgbClr val="94A3B8"/>
                </a:solidFill>
                <a:latin typeface="Calibri"/>
              </a:defRPr>
            </a:pPr>
            <a:r>
              <a:t>Step-by-Step Calculation</a:t>
            </a:r>
          </a:p>
          <a:p>
            <a:pPr>
              <a:spcAft>
                <a:spcPts val="400"/>
              </a:spcAft>
              <a:defRPr sz="1100">
                <a:solidFill>
                  <a:srgbClr val="F8FAFC"/>
                </a:solidFill>
                <a:latin typeface="Calibri"/>
              </a:defRPr>
            </a:pPr>
            <a:r>
              <a:t>•  Point 1 (Citizen SOS in Gandhipuram):</a:t>
            </a:r>
          </a:p>
          <a:p>
            <a:pPr>
              <a:spcAft>
                <a:spcPts val="400"/>
              </a:spcAft>
              <a:defRPr sz="1100">
                <a:solidFill>
                  <a:srgbClr val="F8FAFC"/>
                </a:solidFill>
                <a:latin typeface="Calibri"/>
              </a:defRPr>
            </a:pPr>
            <a:r>
              <a:t>•    lat1 = 11.0183° N, lon1 = 76.9725° E</a:t>
            </a:r>
          </a:p>
          <a:p>
            <a:pPr>
              <a:spcAft>
                <a:spcPts val="400"/>
              </a:spcAft>
              <a:defRPr sz="1100">
                <a:solidFill>
                  <a:srgbClr val="F8FAFC"/>
                </a:solidFill>
                <a:latin typeface="Calibri"/>
              </a:defRPr>
            </a:pPr>
            <a:r>
              <a:t>•  Point 2 (Shelter in RS Puram):</a:t>
            </a:r>
          </a:p>
          <a:p>
            <a:pPr>
              <a:spcAft>
                <a:spcPts val="400"/>
              </a:spcAft>
              <a:defRPr sz="1100">
                <a:solidFill>
                  <a:srgbClr val="F8FAFC"/>
                </a:solidFill>
                <a:latin typeface="Calibri"/>
              </a:defRPr>
            </a:pPr>
            <a:r>
              <a:t>•    lat2 = 11.0085° N, lon2 = 76.9485° E</a:t>
            </a:r>
          </a:p>
          <a:p>
            <a:pPr>
              <a:spcAft>
                <a:spcPts val="400"/>
              </a:spcAft>
              <a:defRPr sz="1100">
                <a:solidFill>
                  <a:srgbClr val="F8FAFC"/>
                </a:solidFill>
                <a:latin typeface="Calibri"/>
              </a:defRPr>
            </a:pPr>
            <a:r>
              <a:t>•  Step 1: Degree Differences</a:t>
            </a:r>
          </a:p>
          <a:p>
            <a:pPr>
              <a:spcAft>
                <a:spcPts val="400"/>
              </a:spcAft>
              <a:defRPr sz="1100">
                <a:solidFill>
                  <a:srgbClr val="F8FAFC"/>
                </a:solidFill>
                <a:latin typeface="Calibri"/>
              </a:defRPr>
            </a:pPr>
            <a:r>
              <a:t>•    Δlat = 11.0085 - 11.0183 = -0.0098°</a:t>
            </a:r>
          </a:p>
          <a:p>
            <a:pPr>
              <a:spcAft>
                <a:spcPts val="400"/>
              </a:spcAft>
              <a:defRPr sz="1100">
                <a:solidFill>
                  <a:srgbClr val="F8FAFC"/>
                </a:solidFill>
                <a:latin typeface="Calibri"/>
              </a:defRPr>
            </a:pPr>
            <a:r>
              <a:t>•    Δlon = 76.9485 - 76.9725 = -0.0240°</a:t>
            </a:r>
          </a:p>
          <a:p>
            <a:pPr>
              <a:spcAft>
                <a:spcPts val="400"/>
              </a:spcAft>
              <a:defRPr sz="1100">
                <a:solidFill>
                  <a:srgbClr val="F8FAFC"/>
                </a:solidFill>
                <a:latin typeface="Calibri"/>
              </a:defRPr>
            </a:pPr>
            <a:r>
              <a:t>•  Step 2: Convert to Radians (multiply by π / 180)</a:t>
            </a:r>
          </a:p>
          <a:p>
            <a:pPr>
              <a:spcAft>
                <a:spcPts val="400"/>
              </a:spcAft>
              <a:defRPr sz="1100">
                <a:solidFill>
                  <a:srgbClr val="F8FAFC"/>
                </a:solidFill>
                <a:latin typeface="Calibri"/>
              </a:defRPr>
            </a:pPr>
            <a:r>
              <a:t>•    Δφ = -0.000171 rad   |   Δλ = -0.000419 rad</a:t>
            </a:r>
          </a:p>
          <a:p>
            <a:pPr>
              <a:spcAft>
                <a:spcPts val="400"/>
              </a:spcAft>
              <a:defRPr sz="1100">
                <a:solidFill>
                  <a:srgbClr val="F8FAFC"/>
                </a:solidFill>
                <a:latin typeface="Calibri"/>
              </a:defRPr>
            </a:pPr>
            <a:r>
              <a:t>•    φ1 = 0.192305 rad   |   φ2 = 0.192134 rad</a:t>
            </a:r>
          </a:p>
          <a:p>
            <a:pPr>
              <a:spcAft>
                <a:spcPts val="400"/>
              </a:spcAft>
              <a:defRPr sz="1100">
                <a:solidFill>
                  <a:srgbClr val="F8FAFC"/>
                </a:solidFill>
                <a:latin typeface="Calibri"/>
              </a:defRPr>
            </a:pPr>
            <a:r>
              <a:t>•  Step 3: Evaluate Haversine a and c</a:t>
            </a:r>
          </a:p>
          <a:p>
            <a:pPr>
              <a:spcAft>
                <a:spcPts val="400"/>
              </a:spcAft>
              <a:defRPr sz="1100">
                <a:solidFill>
                  <a:srgbClr val="F8FAFC"/>
                </a:solidFill>
                <a:latin typeface="Calibri"/>
              </a:defRPr>
            </a:pPr>
            <a:r>
              <a:t>•    a = sin²(-0.0000855) + cos(0.1923)·cos(0.1921)·sin²(-0.000209)</a:t>
            </a:r>
          </a:p>
          <a:p>
            <a:pPr>
              <a:spcAft>
                <a:spcPts val="400"/>
              </a:spcAft>
              <a:defRPr sz="1100">
                <a:solidFill>
                  <a:srgbClr val="F8FAFC"/>
                </a:solidFill>
                <a:latin typeface="Calibri"/>
              </a:defRPr>
            </a:pPr>
            <a:r>
              <a:t>•    a ≈ 5.01 × 10⁻⁸  →  c ≈ 0.0004478 rad</a:t>
            </a:r>
          </a:p>
          <a:p>
            <a:pPr>
              <a:spcAft>
                <a:spcPts val="400"/>
              </a:spcAft>
              <a:defRPr sz="1100">
                <a:solidFill>
                  <a:srgbClr val="F8FAFC"/>
                </a:solidFill>
                <a:latin typeface="Calibri"/>
              </a:defRPr>
            </a:pPr>
            <a:r>
              <a:t>•  Step 4: Surface Distance d = 6371 × 0.0004478 ≈ 2.85 km</a:t>
            </a:r>
          </a:p>
        </p:txBody>
      </p:sp>
      <p:sp>
        <p:nvSpPr>
          <p:cNvPr id="9" name="Rounded Rectangle 8"/>
          <p:cNvSpPr/>
          <p:nvPr/>
        </p:nvSpPr>
        <p:spPr>
          <a:xfrm>
            <a:off x="6217920" y="1463040"/>
            <a:ext cx="5212080" cy="4846320"/>
          </a:xfrm>
          <a:prstGeom prst="roundRect">
            <a:avLst/>
          </a:prstGeom>
          <a:solidFill>
            <a:srgbClr val="172A4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480560"/>
          </a:xfrm>
          <a:prstGeom prst="rect">
            <a:avLst/>
          </a:prstGeom>
          <a:noFill/>
        </p:spPr>
        <p:txBody>
          <a:bodyPr wrap="square" lIns="0" tIns="0" rIns="0" bIns="0">
            <a:spAutoFit/>
          </a:bodyPr>
          <a:lstStyle/>
          <a:p>
            <a:pPr>
              <a:spcAft>
                <a:spcPts val="300"/>
              </a:spcAft>
              <a:defRPr sz="1500" b="1">
                <a:solidFill>
                  <a:srgbClr val="EF4444"/>
                </a:solidFill>
                <a:latin typeface="Calibri"/>
              </a:defRPr>
            </a:pPr>
            <a:r>
              <a:t>Implementation in Code &amp; Vital Safety Limitation</a:t>
            </a:r>
          </a:p>
          <a:p>
            <a:pPr>
              <a:spcAft>
                <a:spcPts val="600"/>
              </a:spcAft>
              <a:defRPr sz="1050">
                <a:solidFill>
                  <a:srgbClr val="94A3B8"/>
                </a:solidFill>
                <a:latin typeface="Calibri"/>
              </a:defRPr>
            </a:pPr>
            <a:r>
              <a:t>Source Code &amp; Geodetic Limits</a:t>
            </a:r>
          </a:p>
          <a:p>
            <a:pPr>
              <a:spcAft>
                <a:spcPts val="400"/>
              </a:spcAft>
              <a:defRPr sz="1100">
                <a:solidFill>
                  <a:srgbClr val="F8FAFC"/>
                </a:solidFill>
                <a:latin typeface="Calibri"/>
              </a:defRPr>
            </a:pPr>
            <a:r>
              <a:t>•  Code Implementation in routing.py (Lines 71–80):</a:t>
            </a:r>
          </a:p>
          <a:p>
            <a:pPr>
              <a:spcAft>
                <a:spcPts val="400"/>
              </a:spcAft>
              <a:defRPr sz="1100">
                <a:solidFill>
                  <a:srgbClr val="F8FAFC"/>
                </a:solidFill>
                <a:latin typeface="Calibri"/>
              </a:defRPr>
            </a:pPr>
            <a:r>
              <a:t>•    ```python</a:t>
            </a:r>
          </a:p>
          <a:p>
            <a:pPr>
              <a:spcAft>
                <a:spcPts val="400"/>
              </a:spcAft>
              <a:defRPr sz="1100">
                <a:solidFill>
                  <a:srgbClr val="F8FAFC"/>
                </a:solidFill>
                <a:latin typeface="Calibri"/>
              </a:defRPr>
            </a:pPr>
            <a:r>
              <a:t>•    def haversine_distance(lat1, lon1, lat2, lon2):</a:t>
            </a:r>
          </a:p>
          <a:p>
            <a:pPr>
              <a:spcAft>
                <a:spcPts val="400"/>
              </a:spcAft>
              <a:defRPr sz="1100">
                <a:solidFill>
                  <a:srgbClr val="F8FAFC"/>
                </a:solidFill>
                <a:latin typeface="Calibri"/>
              </a:defRPr>
            </a:pPr>
            <a:r>
              <a:t>•        R = 6371.0</a:t>
            </a:r>
          </a:p>
          <a:p>
            <a:pPr>
              <a:spcAft>
                <a:spcPts val="400"/>
              </a:spcAft>
              <a:defRPr sz="1100">
                <a:solidFill>
                  <a:srgbClr val="F8FAFC"/>
                </a:solidFill>
                <a:latin typeface="Calibri"/>
              </a:defRPr>
            </a:pPr>
            <a:r>
              <a:t>•        dlat = math.radians(lat2 - lat1)</a:t>
            </a:r>
          </a:p>
          <a:p>
            <a:pPr>
              <a:spcAft>
                <a:spcPts val="400"/>
              </a:spcAft>
              <a:defRPr sz="1100">
                <a:solidFill>
                  <a:srgbClr val="F8FAFC"/>
                </a:solidFill>
                <a:latin typeface="Calibri"/>
              </a:defRPr>
            </a:pPr>
            <a:r>
              <a:t>•        dlon = math.radians(lon2 - lon1)</a:t>
            </a:r>
          </a:p>
          <a:p>
            <a:pPr>
              <a:spcAft>
                <a:spcPts val="400"/>
              </a:spcAft>
              <a:defRPr sz="1100">
                <a:solidFill>
                  <a:srgbClr val="F8FAFC"/>
                </a:solidFill>
                <a:latin typeface="Calibri"/>
              </a:defRPr>
            </a:pPr>
            <a:r>
              <a:t>•        a = math.sin(dlat/2)**2 + math.cos(math.radians(lat1)) * \</a:t>
            </a:r>
          </a:p>
          <a:p>
            <a:pPr>
              <a:spcAft>
                <a:spcPts val="400"/>
              </a:spcAft>
              <a:defRPr sz="1100">
                <a:solidFill>
                  <a:srgbClr val="F8FAFC"/>
                </a:solidFill>
                <a:latin typeface="Calibri"/>
              </a:defRPr>
            </a:pPr>
            <a:r>
              <a:t>•            math.cos(math.radians(lat2)) * math.sin(dlon/2)**2</a:t>
            </a:r>
          </a:p>
          <a:p>
            <a:pPr>
              <a:spcAft>
                <a:spcPts val="400"/>
              </a:spcAft>
              <a:defRPr sz="1100">
                <a:solidFill>
                  <a:srgbClr val="F8FAFC"/>
                </a:solidFill>
                <a:latin typeface="Calibri"/>
              </a:defRPr>
            </a:pPr>
            <a:r>
              <a:t>•        c = 2 * math.atan2(math.sqrt(a), math.sqrt(1 - a))</a:t>
            </a:r>
          </a:p>
          <a:p>
            <a:pPr>
              <a:spcAft>
                <a:spcPts val="400"/>
              </a:spcAft>
              <a:defRPr sz="1100">
                <a:solidFill>
                  <a:srgbClr val="F8FAFC"/>
                </a:solidFill>
                <a:latin typeface="Calibri"/>
              </a:defRPr>
            </a:pPr>
            <a:r>
              <a:t>•        return R * c</a:t>
            </a:r>
          </a:p>
          <a:p>
            <a:pPr>
              <a:spcAft>
                <a:spcPts val="400"/>
              </a:spcAft>
              <a:defRPr sz="1100">
                <a:solidFill>
                  <a:srgbClr val="F8FAFC"/>
                </a:solidFill>
                <a:latin typeface="Calibri"/>
              </a:defRPr>
            </a:pPr>
            <a:r>
              <a:t>•    ```</a:t>
            </a:r>
          </a:p>
          <a:p>
            <a:pPr>
              <a:spcAft>
                <a:spcPts val="400"/>
              </a:spcAft>
              <a:defRPr sz="1100">
                <a:solidFill>
                  <a:srgbClr val="F8FAFC"/>
                </a:solidFill>
                <a:latin typeface="Calibri"/>
              </a:defRPr>
            </a:pPr>
            <a:r>
              <a:t>•  Where Used in Our Project:</a:t>
            </a:r>
          </a:p>
          <a:p>
            <a:pPr>
              <a:spcAft>
                <a:spcPts val="400"/>
              </a:spcAft>
              <a:defRPr sz="1100">
                <a:solidFill>
                  <a:srgbClr val="F8FAFC"/>
                </a:solidFill>
                <a:latin typeface="Calibri"/>
              </a:defRPr>
            </a:pPr>
            <a:r>
              <a:t>•    1. Comparing citizen request coordinates with candidate shelters.</a:t>
            </a:r>
          </a:p>
          <a:p>
            <a:pPr>
              <a:spcAft>
                <a:spcPts val="400"/>
              </a:spcAft>
              <a:defRPr sz="1100">
                <a:solidFill>
                  <a:srgbClr val="F8FAFC"/>
                </a:solidFill>
                <a:latin typeface="Calibri"/>
              </a:defRPr>
            </a:pPr>
            <a:r>
              <a:t>•    2. Spatial hazard proximity testing: flags edges within 0.8 km of flood.</a:t>
            </a:r>
          </a:p>
          <a:p>
            <a:pPr>
              <a:spcAft>
                <a:spcPts val="400"/>
              </a:spcAft>
              <a:defRPr sz="1100">
                <a:solidFill>
                  <a:srgbClr val="F8FAFC"/>
                </a:solidFill>
                <a:latin typeface="Calibri"/>
              </a:defRPr>
            </a:pPr>
            <a:r>
              <a:t>•  CRITICAL LIMITATION FOR VIVA:</a:t>
            </a:r>
          </a:p>
          <a:p>
            <a:pPr>
              <a:spcAft>
                <a:spcPts val="400"/>
              </a:spcAft>
              <a:defRPr sz="1100">
                <a:solidFill>
                  <a:srgbClr val="F8FAFC"/>
                </a:solidFill>
                <a:latin typeface="Calibri"/>
              </a:defRPr>
            </a:pPr>
            <a:r>
              <a:t>•    Haversine computes STRAIGHT-LINE ('as the crow flies') distance.</a:t>
            </a:r>
          </a:p>
          <a:p>
            <a:pPr>
              <a:spcAft>
                <a:spcPts val="400"/>
              </a:spcAft>
              <a:defRPr sz="1100">
                <a:solidFill>
                  <a:srgbClr val="F8FAFC"/>
                </a:solidFill>
                <a:latin typeface="Calibri"/>
              </a:defRPr>
            </a:pPr>
            <a:r>
              <a:t>•    It does NOT account for roads, rivers, or bridges. A shelter 1 km away across a swollen river may require a 7 km road detour!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Sorting &amp; Resource Selection: Proximity Ranking</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15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5212080" cy="4846320"/>
          </a:xfrm>
          <a:prstGeom prst="roundRect">
            <a:avLst/>
          </a:prstGeom>
          <a:solidFill>
            <a:srgbClr val="17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846320" cy="4480560"/>
          </a:xfrm>
          <a:prstGeom prst="rect">
            <a:avLst/>
          </a:prstGeom>
          <a:noFill/>
        </p:spPr>
        <p:txBody>
          <a:bodyPr wrap="square" lIns="0" tIns="0" rIns="0" bIns="0">
            <a:spAutoFit/>
          </a:bodyPr>
          <a:lstStyle/>
          <a:p>
            <a:pPr>
              <a:spcAft>
                <a:spcPts val="300"/>
              </a:spcAft>
              <a:defRPr sz="1500" b="1">
                <a:solidFill>
                  <a:srgbClr val="38BDF8"/>
                </a:solidFill>
                <a:latin typeface="Calibri"/>
              </a:defRPr>
            </a:pPr>
            <a:r>
              <a:t>Resource Selection Pipeline</a:t>
            </a:r>
          </a:p>
          <a:p>
            <a:pPr>
              <a:spcAft>
                <a:spcPts val="600"/>
              </a:spcAft>
              <a:defRPr sz="1050">
                <a:solidFill>
                  <a:srgbClr val="94A3B8"/>
                </a:solidFill>
                <a:latin typeface="Calibri"/>
              </a:defRPr>
            </a:pPr>
            <a:r>
              <a:t>5-Step Allocation Logic</a:t>
            </a:r>
          </a:p>
          <a:p>
            <a:pPr>
              <a:spcAft>
                <a:spcPts val="400"/>
              </a:spcAft>
              <a:defRPr sz="1100">
                <a:solidFill>
                  <a:srgbClr val="F8FAFC"/>
                </a:solidFill>
                <a:latin typeface="Calibri"/>
              </a:defRPr>
            </a:pPr>
            <a:r>
              <a:t>•  How the Application Selects Resources:</a:t>
            </a:r>
          </a:p>
          <a:p>
            <a:pPr>
              <a:spcAft>
                <a:spcPts val="400"/>
              </a:spcAft>
              <a:defRPr sz="1100">
                <a:solidFill>
                  <a:srgbClr val="F8FAFC"/>
                </a:solidFill>
                <a:latin typeface="Calibri"/>
              </a:defRPr>
            </a:pPr>
            <a:r>
              <a:t>•    1. Availability Filtering: Disqualifies busy teams: `status == 'Available'`.</a:t>
            </a:r>
          </a:p>
          <a:p>
            <a:pPr>
              <a:spcAft>
                <a:spcPts val="400"/>
              </a:spcAft>
              <a:defRPr sz="1100">
                <a:solidFill>
                  <a:srgbClr val="F8FAFC"/>
                </a:solidFill>
                <a:latin typeface="Calibri"/>
              </a:defRPr>
            </a:pPr>
            <a:r>
              <a:t>•    2. Capacity Filtering: Disqualifies full shelters: `(capacity - occupied) &gt;= people`.</a:t>
            </a:r>
          </a:p>
          <a:p>
            <a:pPr>
              <a:spcAft>
                <a:spcPts val="400"/>
              </a:spcAft>
              <a:defRPr sz="1100">
                <a:solidFill>
                  <a:srgbClr val="F8FAFC"/>
                </a:solidFill>
                <a:latin typeface="Calibri"/>
              </a:defRPr>
            </a:pPr>
            <a:r>
              <a:t>•    3. Verification Check: Only operational shelters (`verified == 1`) are considered.</a:t>
            </a:r>
          </a:p>
          <a:p>
            <a:pPr>
              <a:spcAft>
                <a:spcPts val="400"/>
              </a:spcAft>
              <a:defRPr sz="1100">
                <a:solidFill>
                  <a:srgbClr val="F8FAFC"/>
                </a:solidFill>
                <a:latin typeface="Calibri"/>
              </a:defRPr>
            </a:pPr>
            <a:r>
              <a:t>•    4. Distance Calculation: Evaluates Haversine distance from incident GPS to every eligible candidate.</a:t>
            </a:r>
          </a:p>
          <a:p>
            <a:pPr>
              <a:spcAft>
                <a:spcPts val="400"/>
              </a:spcAft>
              <a:defRPr sz="1100">
                <a:solidFill>
                  <a:srgbClr val="F8FAFC"/>
                </a:solidFill>
                <a:latin typeface="Calibri"/>
              </a:defRPr>
            </a:pPr>
            <a:r>
              <a:t>•    5. In-Memory Sorting: Sorts candidate list by computed distance in ascending order.</a:t>
            </a:r>
          </a:p>
          <a:p>
            <a:pPr>
              <a:spcAft>
                <a:spcPts val="400"/>
              </a:spcAft>
              <a:defRPr sz="1100">
                <a:solidFill>
                  <a:srgbClr val="F8FAFC"/>
                </a:solidFill>
                <a:latin typeface="Calibri"/>
              </a:defRPr>
            </a:pPr>
            <a:r>
              <a:t>•    6. Assignment Commitment: Dispatches top candidate and commits state changes atomically.</a:t>
            </a:r>
          </a:p>
          <a:p>
            <a:pPr>
              <a:spcAft>
                <a:spcPts val="400"/>
              </a:spcAft>
              <a:defRPr sz="1100">
                <a:solidFill>
                  <a:srgbClr val="F8FAFC"/>
                </a:solidFill>
                <a:latin typeface="Calibri"/>
              </a:defRPr>
            </a:pPr>
            <a:r>
              <a:t>•  Sorting vs. Nearest-Neighbour:</a:t>
            </a:r>
          </a:p>
          <a:p>
            <a:pPr>
              <a:spcAft>
                <a:spcPts val="400"/>
              </a:spcAft>
              <a:defRPr sz="1100">
                <a:solidFill>
                  <a:srgbClr val="F8FAFC"/>
                </a:solidFill>
                <a:latin typeface="Calibri"/>
              </a:defRPr>
            </a:pPr>
            <a:r>
              <a:t>•    • Sorting arranges an entire static list of n items in O(n log n) time.</a:t>
            </a:r>
          </a:p>
          <a:p>
            <a:pPr>
              <a:spcAft>
                <a:spcPts val="400"/>
              </a:spcAft>
              <a:defRPr sz="1100">
                <a:solidFill>
                  <a:srgbClr val="F8FAFC"/>
                </a:solidFill>
                <a:latin typeface="Calibri"/>
              </a:defRPr>
            </a:pPr>
            <a:r>
              <a:t>•    • Nearest-Neighbour in spatial trees (k-d trees) queries proximity in O(log n) time without sorting all elements.</a:t>
            </a:r>
          </a:p>
        </p:txBody>
      </p:sp>
      <p:graphicFrame>
        <p:nvGraphicFramePr>
          <p:cNvPr id="9" name="Table 8"/>
          <p:cNvGraphicFramePr>
            <a:graphicFrameLocks noGrp="1"/>
          </p:cNvGraphicFramePr>
          <p:nvPr/>
        </p:nvGraphicFramePr>
        <p:xfrm>
          <a:off x="6217920" y="1463040"/>
          <a:ext cx="5242255" cy="2377440"/>
        </p:xfrm>
        <a:graphic>
          <a:graphicData uri="http://schemas.openxmlformats.org/drawingml/2006/table">
            <a:tbl>
              <a:tblPr firstRow="1" bandRow="1">
                <a:tableStyleId>{5C22544A-7EE6-4342-B048-85BDC9FD1C3A}</a:tableStyleId>
              </a:tblPr>
              <a:tblGrid>
                <a:gridCol w="1188720"/>
                <a:gridCol w="1280160"/>
                <a:gridCol w="1280160"/>
                <a:gridCol w="1493215"/>
              </a:tblGrid>
              <a:tr h="594360">
                <a:tc>
                  <a:txBody>
                    <a:bodyPr/>
                    <a:lstStyle/>
                    <a:p>
                      <a:pPr algn="ctr">
                        <a:defRPr sz="1100" b="1">
                          <a:solidFill>
                            <a:srgbClr val="38BDF8"/>
                          </a:solidFill>
                          <a:latin typeface="Calibri"/>
                        </a:defRPr>
                      </a:pPr>
                      <a:r>
                        <a:t>Rescue Team</a:t>
                      </a:r>
                    </a:p>
                  </a:txBody>
                  <a:tcPr>
                    <a:solidFill>
                      <a:srgbClr val="1E3A5F"/>
                    </a:solidFill>
                  </a:tcPr>
                </a:tc>
                <a:tc>
                  <a:txBody>
                    <a:bodyPr/>
                    <a:lstStyle/>
                    <a:p>
                      <a:pPr algn="ctr">
                        <a:defRPr sz="1100" b="1">
                          <a:solidFill>
                            <a:srgbClr val="38BDF8"/>
                          </a:solidFill>
                          <a:latin typeface="Calibri"/>
                        </a:defRPr>
                      </a:pPr>
                      <a:r>
                        <a:t>Haversine Distance</a:t>
                      </a:r>
                    </a:p>
                  </a:txBody>
                  <a:tcPr>
                    <a:solidFill>
                      <a:srgbClr val="1E3A5F"/>
                    </a:solidFill>
                  </a:tcPr>
                </a:tc>
                <a:tc>
                  <a:txBody>
                    <a:bodyPr/>
                    <a:lstStyle/>
                    <a:p>
                      <a:pPr algn="ctr">
                        <a:defRPr sz="1100" b="1">
                          <a:solidFill>
                            <a:srgbClr val="38BDF8"/>
                          </a:solidFill>
                          <a:latin typeface="Calibri"/>
                        </a:defRPr>
                      </a:pPr>
                      <a:r>
                        <a:t>Operational Status</a:t>
                      </a:r>
                    </a:p>
                  </a:txBody>
                  <a:tcPr>
                    <a:solidFill>
                      <a:srgbClr val="1E3A5F"/>
                    </a:solidFill>
                  </a:tcPr>
                </a:tc>
                <a:tc>
                  <a:txBody>
                    <a:bodyPr/>
                    <a:lstStyle/>
                    <a:p>
                      <a:pPr algn="ctr">
                        <a:defRPr sz="1100" b="1">
                          <a:solidFill>
                            <a:srgbClr val="38BDF8"/>
                          </a:solidFill>
                          <a:latin typeface="Calibri"/>
                        </a:defRPr>
                      </a:pPr>
                      <a:r>
                        <a:t>Selection Outcome</a:t>
                      </a:r>
                    </a:p>
                  </a:txBody>
                  <a:tcPr>
                    <a:solidFill>
                      <a:srgbClr val="1E3A5F"/>
                    </a:solidFill>
                  </a:tcPr>
                </a:tc>
              </a:tr>
              <a:tr h="594360">
                <a:tc>
                  <a:txBody>
                    <a:bodyPr/>
                    <a:lstStyle/>
                    <a:p>
                      <a:pPr algn="l">
                        <a:defRPr sz="1050">
                          <a:solidFill>
                            <a:srgbClr val="F8FAFC"/>
                          </a:solidFill>
                          <a:latin typeface="Calibri"/>
                        </a:defRPr>
                      </a:pPr>
                      <a:r>
                        <a:t>Team A</a:t>
                      </a:r>
                    </a:p>
                  </a:txBody>
                  <a:tcPr>
                    <a:solidFill>
                      <a:srgbClr val="172A45"/>
                    </a:solidFill>
                  </a:tcPr>
                </a:tc>
                <a:tc>
                  <a:txBody>
                    <a:bodyPr/>
                    <a:lstStyle/>
                    <a:p>
                      <a:pPr algn="ctr">
                        <a:defRPr sz="1050">
                          <a:solidFill>
                            <a:srgbClr val="F8FAFC"/>
                          </a:solidFill>
                          <a:latin typeface="Calibri"/>
                        </a:defRPr>
                      </a:pPr>
                      <a:r>
                        <a:t>4.2 km</a:t>
                      </a:r>
                    </a:p>
                  </a:txBody>
                  <a:tcPr>
                    <a:solidFill>
                      <a:srgbClr val="172A45"/>
                    </a:solidFill>
                  </a:tcPr>
                </a:tc>
                <a:tc>
                  <a:txBody>
                    <a:bodyPr/>
                    <a:lstStyle/>
                    <a:p>
                      <a:pPr algn="ctr">
                        <a:defRPr sz="1050">
                          <a:solidFill>
                            <a:srgbClr val="F8FAFC"/>
                          </a:solidFill>
                          <a:latin typeface="Calibri"/>
                        </a:defRPr>
                      </a:pPr>
                      <a:r>
                        <a:t>Available</a:t>
                      </a:r>
                    </a:p>
                  </a:txBody>
                  <a:tcPr>
                    <a:solidFill>
                      <a:srgbClr val="172A45"/>
                    </a:solidFill>
                  </a:tcPr>
                </a:tc>
                <a:tc>
                  <a:txBody>
                    <a:bodyPr/>
                    <a:lstStyle/>
                    <a:p>
                      <a:pPr algn="l">
                        <a:defRPr sz="1050">
                          <a:solidFill>
                            <a:srgbClr val="F8FAFC"/>
                          </a:solidFill>
                          <a:latin typeface="Calibri"/>
                        </a:defRPr>
                      </a:pPr>
                      <a:r>
                        <a:t>Eligible (Rank 2)</a:t>
                      </a:r>
                    </a:p>
                  </a:txBody>
                  <a:tcPr>
                    <a:solidFill>
                      <a:srgbClr val="172A45"/>
                    </a:solidFill>
                  </a:tcPr>
                </a:tc>
              </a:tr>
              <a:tr h="594360">
                <a:tc>
                  <a:txBody>
                    <a:bodyPr/>
                    <a:lstStyle/>
                    <a:p>
                      <a:pPr algn="l">
                        <a:defRPr sz="1050">
                          <a:solidFill>
                            <a:srgbClr val="F8FAFC"/>
                          </a:solidFill>
                          <a:latin typeface="Calibri"/>
                        </a:defRPr>
                      </a:pPr>
                      <a:r>
                        <a:t>Team B</a:t>
                      </a:r>
                    </a:p>
                  </a:txBody>
                  <a:tcPr>
                    <a:solidFill>
                      <a:srgbClr val="12223A"/>
                    </a:solidFill>
                  </a:tcPr>
                </a:tc>
                <a:tc>
                  <a:txBody>
                    <a:bodyPr/>
                    <a:lstStyle/>
                    <a:p>
                      <a:pPr algn="ctr">
                        <a:defRPr sz="1050">
                          <a:solidFill>
                            <a:srgbClr val="F8FAFC"/>
                          </a:solidFill>
                          <a:latin typeface="Calibri"/>
                        </a:defRPr>
                      </a:pPr>
                      <a:r>
                        <a:t>2.1 km</a:t>
                      </a:r>
                    </a:p>
                  </a:txBody>
                  <a:tcPr>
                    <a:solidFill>
                      <a:srgbClr val="12223A"/>
                    </a:solidFill>
                  </a:tcPr>
                </a:tc>
                <a:tc>
                  <a:txBody>
                    <a:bodyPr/>
                    <a:lstStyle/>
                    <a:p>
                      <a:pPr algn="ctr">
                        <a:defRPr sz="1050">
                          <a:solidFill>
                            <a:srgbClr val="F8FAFC"/>
                          </a:solidFill>
                          <a:latin typeface="Calibri"/>
                        </a:defRPr>
                      </a:pPr>
                      <a:r>
                        <a:t>Available</a:t>
                      </a:r>
                    </a:p>
                  </a:txBody>
                  <a:tcPr>
                    <a:solidFill>
                      <a:srgbClr val="12223A"/>
                    </a:solidFill>
                  </a:tcPr>
                </a:tc>
                <a:tc>
                  <a:txBody>
                    <a:bodyPr/>
                    <a:lstStyle/>
                    <a:p>
                      <a:pPr algn="l">
                        <a:defRPr sz="1050">
                          <a:solidFill>
                            <a:srgbClr val="F8FAFC"/>
                          </a:solidFill>
                          <a:latin typeface="Calibri"/>
                        </a:defRPr>
                      </a:pPr>
                      <a:r>
                        <a:t>SELECTED (Nearest Eligible Rank 1)</a:t>
                      </a:r>
                    </a:p>
                  </a:txBody>
                  <a:tcPr>
                    <a:solidFill>
                      <a:srgbClr val="12223A"/>
                    </a:solidFill>
                  </a:tcPr>
                </a:tc>
              </a:tr>
              <a:tr h="594360">
                <a:tc>
                  <a:txBody>
                    <a:bodyPr/>
                    <a:lstStyle/>
                    <a:p>
                      <a:pPr algn="l">
                        <a:defRPr sz="1050">
                          <a:solidFill>
                            <a:srgbClr val="F8FAFC"/>
                          </a:solidFill>
                          <a:latin typeface="Calibri"/>
                        </a:defRPr>
                      </a:pPr>
                      <a:r>
                        <a:t>Team C</a:t>
                      </a:r>
                    </a:p>
                  </a:txBody>
                  <a:tcPr>
                    <a:solidFill>
                      <a:srgbClr val="172A45"/>
                    </a:solidFill>
                  </a:tcPr>
                </a:tc>
                <a:tc>
                  <a:txBody>
                    <a:bodyPr/>
                    <a:lstStyle/>
                    <a:p>
                      <a:pPr algn="ctr">
                        <a:defRPr sz="1050">
                          <a:solidFill>
                            <a:srgbClr val="F8FAFC"/>
                          </a:solidFill>
                          <a:latin typeface="Calibri"/>
                        </a:defRPr>
                      </a:pPr>
                      <a:r>
                        <a:t>1.0 km</a:t>
                      </a:r>
                    </a:p>
                  </a:txBody>
                  <a:tcPr>
                    <a:solidFill>
                      <a:srgbClr val="172A45"/>
                    </a:solidFill>
                  </a:tcPr>
                </a:tc>
                <a:tc>
                  <a:txBody>
                    <a:bodyPr/>
                    <a:lstStyle/>
                    <a:p>
                      <a:pPr algn="l">
                        <a:defRPr sz="1050">
                          <a:solidFill>
                            <a:srgbClr val="F8FAFC"/>
                          </a:solidFill>
                          <a:latin typeface="Calibri"/>
                        </a:defRPr>
                      </a:pPr>
                      <a:r>
                        <a:t>Busy (Assigned)</a:t>
                      </a:r>
                    </a:p>
                  </a:txBody>
                  <a:tcPr>
                    <a:solidFill>
                      <a:srgbClr val="172A45"/>
                    </a:solidFill>
                  </a:tcPr>
                </a:tc>
                <a:tc>
                  <a:txBody>
                    <a:bodyPr/>
                    <a:lstStyle/>
                    <a:p>
                      <a:pPr algn="l">
                        <a:defRPr sz="1050">
                          <a:solidFill>
                            <a:srgbClr val="F8FAFC"/>
                          </a:solidFill>
                          <a:latin typeface="Calibri"/>
                        </a:defRPr>
                      </a:pPr>
                      <a:r>
                        <a:t>DISQUALIFIED (Unavailable)</a:t>
                      </a:r>
                    </a:p>
                  </a:txBody>
                  <a:tcPr>
                    <a:solidFill>
                      <a:srgbClr val="172A45"/>
                    </a:solidFill>
                  </a:tcPr>
                </a:tc>
              </a:tr>
            </a:tbl>
          </a:graphicData>
        </a:graphic>
      </p:graphicFrame>
      <p:sp>
        <p:nvSpPr>
          <p:cNvPr id="10" name="Rounded Rectangle 9"/>
          <p:cNvSpPr/>
          <p:nvPr/>
        </p:nvSpPr>
        <p:spPr>
          <a:xfrm>
            <a:off x="6217920" y="4114800"/>
            <a:ext cx="5242255" cy="2194560"/>
          </a:xfrm>
          <a:prstGeom prst="roundRect">
            <a:avLst/>
          </a:prstGeom>
          <a:solidFill>
            <a:srgbClr val="172A4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206240"/>
            <a:ext cx="4846320" cy="2011680"/>
          </a:xfrm>
          <a:prstGeom prst="rect">
            <a:avLst/>
          </a:prstGeom>
          <a:noFill/>
        </p:spPr>
        <p:txBody>
          <a:bodyPr wrap="square">
            <a:spAutoFit/>
          </a:bodyPr>
          <a:lstStyle/>
          <a:p>
            <a:pPr>
              <a:spcAft>
                <a:spcPts val="200"/>
              </a:spcAft>
              <a:defRPr sz="1200" b="1">
                <a:solidFill>
                  <a:srgbClr val="F59E0B"/>
                </a:solidFill>
                <a:latin typeface="Calibri"/>
              </a:defRPr>
            </a:pPr>
            <a:r>
              <a:t>Key Viva Insights on Resource Selection:</a:t>
            </a:r>
          </a:p>
          <a:p>
            <a:pPr>
              <a:defRPr sz="950">
                <a:solidFill>
                  <a:srgbClr val="F8FAFC"/>
                </a:solidFill>
                <a:latin typeface="Calibri"/>
              </a:defRPr>
            </a:pPr>
            <a:r>
              <a:t>• Why isn't Team C chosen even though it is only 1.0 km away? Because Team C is 'Busy'. Availability strictly precedes distance.</a:t>
            </a:r>
          </a:p>
          <a:p>
            <a:pPr>
              <a:defRPr sz="950">
                <a:solidFill>
                  <a:srgbClr val="F8FAFC"/>
                </a:solidFill>
                <a:latin typeface="Calibri"/>
              </a:defRPr>
            </a:pPr>
            <a:r>
              <a:t>• Team B (2.1 km) is selected because it is the nearest ELIGIBLE team.</a:t>
            </a:r>
          </a:p>
          <a:p>
            <a:pPr>
              <a:defRPr sz="950">
                <a:solidFill>
                  <a:srgbClr val="F8FAFC"/>
                </a:solidFill>
                <a:latin typeface="Calibri"/>
              </a:defRPr>
            </a:pPr>
            <a:r>
              <a:t>• The nearest team is not automatically dispatched in every scenario; fallback rules apply if all teams are busy.</a:t>
            </a:r>
          </a:p>
          <a:p>
            <a:pPr>
              <a:defRPr sz="950">
                <a:solidFill>
                  <a:srgbClr val="F8FAFC"/>
                </a:solidFill>
                <a:latin typeface="Calibri"/>
              </a:defRPr>
            </a:pPr>
            <a:r>
              <a:t>• Python's Timsort algorithm (`sorted()` with `key=lambda x: x['dist']`) runs in O(n log n) worst-case time.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SQL-Based Emergency Priority Ordering</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16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5212080" cy="4846320"/>
          </a:xfrm>
          <a:prstGeom prst="roundRect">
            <a:avLst/>
          </a:prstGeom>
          <a:solidFill>
            <a:srgbClr val="172A45"/>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846320" cy="4480560"/>
          </a:xfrm>
          <a:prstGeom prst="rect">
            <a:avLst/>
          </a:prstGeom>
          <a:noFill/>
        </p:spPr>
        <p:txBody>
          <a:bodyPr wrap="square" lIns="0" tIns="0" rIns="0" bIns="0">
            <a:spAutoFit/>
          </a:bodyPr>
          <a:lstStyle/>
          <a:p>
            <a:pPr>
              <a:spcAft>
                <a:spcPts val="300"/>
              </a:spcAft>
              <a:defRPr sz="1500" b="1">
                <a:solidFill>
                  <a:srgbClr val="2563EB"/>
                </a:solidFill>
                <a:latin typeface="Calibri"/>
              </a:defRPr>
            </a:pPr>
            <a:r>
              <a:t>Actual SQL Query in app.py (Lines 1105–1116)</a:t>
            </a:r>
          </a:p>
          <a:p>
            <a:pPr>
              <a:spcAft>
                <a:spcPts val="600"/>
              </a:spcAft>
              <a:defRPr sz="1050">
                <a:solidFill>
                  <a:srgbClr val="94A3B8"/>
                </a:solidFill>
                <a:latin typeface="Calibri"/>
              </a:defRPr>
            </a:pPr>
            <a:r>
              <a:t>Relational Triage Implementation</a:t>
            </a:r>
          </a:p>
          <a:p>
            <a:pPr>
              <a:spcAft>
                <a:spcPts val="400"/>
              </a:spcAft>
              <a:defRPr sz="1100">
                <a:solidFill>
                  <a:srgbClr val="F8FAFC"/>
                </a:solidFill>
                <a:latin typeface="Calibri"/>
              </a:defRPr>
            </a:pPr>
            <a:r>
              <a:t>•  ```sql</a:t>
            </a:r>
          </a:p>
          <a:p>
            <a:pPr>
              <a:spcAft>
                <a:spcPts val="400"/>
              </a:spcAft>
              <a:defRPr sz="1100">
                <a:solidFill>
                  <a:srgbClr val="F8FAFC"/>
                </a:solidFill>
                <a:latin typeface="Calibri"/>
              </a:defRPr>
            </a:pPr>
            <a:r>
              <a:t>•  SELECT * FROM requests</a:t>
            </a:r>
          </a:p>
          <a:p>
            <a:pPr>
              <a:spcAft>
                <a:spcPts val="400"/>
              </a:spcAft>
              <a:defRPr sz="1100">
                <a:solidFill>
                  <a:srgbClr val="F8FAFC"/>
                </a:solidFill>
                <a:latin typeface="Calibri"/>
              </a:defRPr>
            </a:pPr>
            <a:r>
              <a:t>•  ORDER BY</a:t>
            </a:r>
          </a:p>
          <a:p>
            <a:pPr>
              <a:spcAft>
                <a:spcPts val="400"/>
              </a:spcAft>
              <a:defRPr sz="1100">
                <a:solidFill>
                  <a:srgbClr val="F8FAFC"/>
                </a:solidFill>
                <a:latin typeface="Calibri"/>
              </a:defRPr>
            </a:pPr>
            <a:r>
              <a:t>•      CASE priority</a:t>
            </a:r>
          </a:p>
          <a:p>
            <a:pPr>
              <a:spcAft>
                <a:spcPts val="400"/>
              </a:spcAft>
              <a:defRPr sz="1100">
                <a:solidFill>
                  <a:srgbClr val="F8FAFC"/>
                </a:solidFill>
                <a:latin typeface="Calibri"/>
              </a:defRPr>
            </a:pPr>
            <a:r>
              <a:t>•          WHEN 'Critical' THEN 1</a:t>
            </a:r>
          </a:p>
          <a:p>
            <a:pPr>
              <a:spcAft>
                <a:spcPts val="400"/>
              </a:spcAft>
              <a:defRPr sz="1100">
                <a:solidFill>
                  <a:srgbClr val="F8FAFC"/>
                </a:solidFill>
                <a:latin typeface="Calibri"/>
              </a:defRPr>
            </a:pPr>
            <a:r>
              <a:t>•          WHEN 'High'     THEN 2</a:t>
            </a:r>
          </a:p>
          <a:p>
            <a:pPr>
              <a:spcAft>
                <a:spcPts val="400"/>
              </a:spcAft>
              <a:defRPr sz="1100">
                <a:solidFill>
                  <a:srgbClr val="F8FAFC"/>
                </a:solidFill>
                <a:latin typeface="Calibri"/>
              </a:defRPr>
            </a:pPr>
            <a:r>
              <a:t>•          WHEN 'Medium'   THEN 3</a:t>
            </a:r>
          </a:p>
          <a:p>
            <a:pPr>
              <a:spcAft>
                <a:spcPts val="400"/>
              </a:spcAft>
              <a:defRPr sz="1100">
                <a:solidFill>
                  <a:srgbClr val="F8FAFC"/>
                </a:solidFill>
                <a:latin typeface="Calibri"/>
              </a:defRPr>
            </a:pPr>
            <a:r>
              <a:t>•          ELSE 4</a:t>
            </a:r>
          </a:p>
          <a:p>
            <a:pPr>
              <a:spcAft>
                <a:spcPts val="400"/>
              </a:spcAft>
              <a:defRPr sz="1100">
                <a:solidFill>
                  <a:srgbClr val="F8FAFC"/>
                </a:solidFill>
                <a:latin typeface="Calibri"/>
              </a:defRPr>
            </a:pPr>
            <a:r>
              <a:t>•      END,</a:t>
            </a:r>
          </a:p>
          <a:p>
            <a:pPr>
              <a:spcAft>
                <a:spcPts val="400"/>
              </a:spcAft>
              <a:defRPr sz="1100">
                <a:solidFill>
                  <a:srgbClr val="F8FAFC"/>
                </a:solidFill>
                <a:latin typeface="Calibri"/>
              </a:defRPr>
            </a:pPr>
            <a:r>
              <a:t>•      priority_score DESC,</a:t>
            </a:r>
          </a:p>
          <a:p>
            <a:pPr>
              <a:spcAft>
                <a:spcPts val="400"/>
              </a:spcAft>
              <a:defRPr sz="1100">
                <a:solidFill>
                  <a:srgbClr val="F8FAFC"/>
                </a:solidFill>
                <a:latin typeface="Calibri"/>
              </a:defRPr>
            </a:pPr>
            <a:r>
              <a:t>•      id DESC</a:t>
            </a:r>
          </a:p>
          <a:p>
            <a:pPr>
              <a:spcAft>
                <a:spcPts val="400"/>
              </a:spcAft>
              <a:defRPr sz="1100">
                <a:solidFill>
                  <a:srgbClr val="F8FAFC"/>
                </a:solidFill>
                <a:latin typeface="Calibri"/>
              </a:defRPr>
            </a:pPr>
            <a:r>
              <a:t>•  ```</a:t>
            </a:r>
          </a:p>
          <a:p>
            <a:pPr>
              <a:spcAft>
                <a:spcPts val="400"/>
              </a:spcAft>
              <a:defRPr sz="1100">
                <a:solidFill>
                  <a:srgbClr val="F8FAFC"/>
                </a:solidFill>
                <a:latin typeface="Calibri"/>
              </a:defRPr>
            </a:pPr>
            <a:r>
              <a:t>•  Line-by-Line Technical Breakdown:</a:t>
            </a:r>
          </a:p>
          <a:p>
            <a:pPr>
              <a:spcAft>
                <a:spcPts val="400"/>
              </a:spcAft>
              <a:defRPr sz="1100">
                <a:solidFill>
                  <a:srgbClr val="F8FAFC"/>
                </a:solidFill>
                <a:latin typeface="Calibri"/>
              </a:defRPr>
            </a:pPr>
            <a:r>
              <a:t>•    • `CASE priority`: Conditional expression mapping categorical text strings into numeric ranks (1, 2, 3, 4).</a:t>
            </a:r>
          </a:p>
          <a:p>
            <a:pPr>
              <a:spcAft>
                <a:spcPts val="400"/>
              </a:spcAft>
              <a:defRPr sz="1100">
                <a:solidFill>
                  <a:srgbClr val="F8FAFC"/>
                </a:solidFill>
                <a:latin typeface="Calibri"/>
              </a:defRPr>
            </a:pPr>
            <a:r>
              <a:t>•    • `WHEN 'Critical' THEN 1`: Guarantees all Critical incidents group at the very top.</a:t>
            </a:r>
          </a:p>
          <a:p>
            <a:pPr>
              <a:spcAft>
                <a:spcPts val="400"/>
              </a:spcAft>
              <a:defRPr sz="1100">
                <a:solidFill>
                  <a:srgbClr val="F8FAFC"/>
                </a:solidFill>
                <a:latin typeface="Calibri"/>
              </a:defRPr>
            </a:pPr>
            <a:r>
              <a:t>•    • `priority_score DESC`: Secondary sort criterion—orders by continuous score (e.g. 95 before 80) WITHIN the same category.</a:t>
            </a:r>
          </a:p>
          <a:p>
            <a:pPr>
              <a:spcAft>
                <a:spcPts val="400"/>
              </a:spcAft>
              <a:defRPr sz="1100">
                <a:solidFill>
                  <a:srgbClr val="F8FAFC"/>
                </a:solidFill>
                <a:latin typeface="Calibri"/>
              </a:defRPr>
            </a:pPr>
            <a:r>
              <a:t>•    • `id DESC`: Tertiary tie-breaker ensuring FIFO consistency.</a:t>
            </a:r>
          </a:p>
        </p:txBody>
      </p:sp>
      <p:graphicFrame>
        <p:nvGraphicFramePr>
          <p:cNvPr id="9" name="Table 8"/>
          <p:cNvGraphicFramePr>
            <a:graphicFrameLocks noGrp="1"/>
          </p:cNvGraphicFramePr>
          <p:nvPr/>
        </p:nvGraphicFramePr>
        <p:xfrm>
          <a:off x="6217920" y="1463040"/>
          <a:ext cx="5242255" cy="2560320"/>
        </p:xfrm>
        <a:graphic>
          <a:graphicData uri="http://schemas.openxmlformats.org/drawingml/2006/table">
            <a:tbl>
              <a:tblPr firstRow="1" bandRow="1">
                <a:tableStyleId>{5C22544A-7EE6-4342-B048-85BDC9FD1C3A}</a:tableStyleId>
              </a:tblPr>
              <a:tblGrid>
                <a:gridCol w="1005840"/>
                <a:gridCol w="1280160"/>
                <a:gridCol w="914400"/>
                <a:gridCol w="1005840"/>
                <a:gridCol w="1036015"/>
              </a:tblGrid>
              <a:tr h="512064">
                <a:tc>
                  <a:txBody>
                    <a:bodyPr/>
                    <a:lstStyle/>
                    <a:p>
                      <a:pPr algn="ctr">
                        <a:defRPr sz="1100" b="1">
                          <a:solidFill>
                            <a:srgbClr val="38BDF8"/>
                          </a:solidFill>
                          <a:latin typeface="Calibri"/>
                        </a:defRPr>
                      </a:pPr>
                      <a:r>
                        <a:t>Request</a:t>
                      </a:r>
                    </a:p>
                  </a:txBody>
                  <a:tcPr>
                    <a:solidFill>
                      <a:srgbClr val="1E3A5F"/>
                    </a:solidFill>
                  </a:tcPr>
                </a:tc>
                <a:tc>
                  <a:txBody>
                    <a:bodyPr/>
                    <a:lstStyle/>
                    <a:p>
                      <a:pPr algn="ctr">
                        <a:defRPr sz="1100" b="1">
                          <a:solidFill>
                            <a:srgbClr val="38BDF8"/>
                          </a:solidFill>
                          <a:latin typeface="Calibri"/>
                        </a:defRPr>
                      </a:pPr>
                      <a:r>
                        <a:t>Priority Category</a:t>
                      </a:r>
                    </a:p>
                  </a:txBody>
                  <a:tcPr>
                    <a:solidFill>
                      <a:srgbClr val="1E3A5F"/>
                    </a:solidFill>
                  </a:tcPr>
                </a:tc>
                <a:tc>
                  <a:txBody>
                    <a:bodyPr/>
                    <a:lstStyle/>
                    <a:p>
                      <a:pPr algn="ctr">
                        <a:defRPr sz="1100" b="1">
                          <a:solidFill>
                            <a:srgbClr val="38BDF8"/>
                          </a:solidFill>
                          <a:latin typeface="Calibri"/>
                        </a:defRPr>
                      </a:pPr>
                      <a:r>
                        <a:t>Priority Score</a:t>
                      </a:r>
                    </a:p>
                  </a:txBody>
                  <a:tcPr>
                    <a:solidFill>
                      <a:srgbClr val="1E3A5F"/>
                    </a:solidFill>
                  </a:tcPr>
                </a:tc>
                <a:tc>
                  <a:txBody>
                    <a:bodyPr/>
                    <a:lstStyle/>
                    <a:p>
                      <a:pPr algn="ctr">
                        <a:defRPr sz="1100" b="1">
                          <a:solidFill>
                            <a:srgbClr val="38BDF8"/>
                          </a:solidFill>
                          <a:latin typeface="Calibri"/>
                        </a:defRPr>
                      </a:pPr>
                      <a:r>
                        <a:t>Assigned Rank</a:t>
                      </a:r>
                    </a:p>
                  </a:txBody>
                  <a:tcPr>
                    <a:solidFill>
                      <a:srgbClr val="1E3A5F"/>
                    </a:solidFill>
                  </a:tcPr>
                </a:tc>
                <a:tc>
                  <a:txBody>
                    <a:bodyPr/>
                    <a:lstStyle/>
                    <a:p>
                      <a:pPr algn="ctr">
                        <a:defRPr sz="1100" b="1">
                          <a:solidFill>
                            <a:srgbClr val="38BDF8"/>
                          </a:solidFill>
                          <a:latin typeface="Calibri"/>
                        </a:defRPr>
                      </a:pPr>
                      <a:r>
                        <a:t>Display Position</a:t>
                      </a:r>
                    </a:p>
                  </a:txBody>
                  <a:tcPr>
                    <a:solidFill>
                      <a:srgbClr val="1E3A5F"/>
                    </a:solidFill>
                  </a:tcPr>
                </a:tc>
              </a:tr>
              <a:tr h="512064">
                <a:tc>
                  <a:txBody>
                    <a:bodyPr/>
                    <a:lstStyle/>
                    <a:p>
                      <a:pPr algn="l">
                        <a:defRPr sz="1050">
                          <a:solidFill>
                            <a:srgbClr val="F8FAFC"/>
                          </a:solidFill>
                          <a:latin typeface="Calibri"/>
                        </a:defRPr>
                      </a:pPr>
                      <a:r>
                        <a:t>Request A</a:t>
                      </a:r>
                    </a:p>
                  </a:txBody>
                  <a:tcPr>
                    <a:solidFill>
                      <a:srgbClr val="172A45"/>
                    </a:solidFill>
                  </a:tcPr>
                </a:tc>
                <a:tc>
                  <a:txBody>
                    <a:bodyPr/>
                    <a:lstStyle/>
                    <a:p>
                      <a:pPr algn="ctr">
                        <a:defRPr sz="1050">
                          <a:solidFill>
                            <a:srgbClr val="F8FAFC"/>
                          </a:solidFill>
                          <a:latin typeface="Calibri"/>
                        </a:defRPr>
                      </a:pPr>
                      <a:r>
                        <a:t>Critical</a:t>
                      </a:r>
                    </a:p>
                  </a:txBody>
                  <a:tcPr>
                    <a:solidFill>
                      <a:srgbClr val="172A45"/>
                    </a:solidFill>
                  </a:tcPr>
                </a:tc>
                <a:tc>
                  <a:txBody>
                    <a:bodyPr/>
                    <a:lstStyle/>
                    <a:p>
                      <a:pPr algn="ctr">
                        <a:defRPr sz="1050">
                          <a:solidFill>
                            <a:srgbClr val="F8FAFC"/>
                          </a:solidFill>
                          <a:latin typeface="Calibri"/>
                        </a:defRPr>
                      </a:pPr>
                      <a:r>
                        <a:t>95</a:t>
                      </a:r>
                    </a:p>
                  </a:txBody>
                  <a:tcPr>
                    <a:solidFill>
                      <a:srgbClr val="172A45"/>
                    </a:solidFill>
                  </a:tcPr>
                </a:tc>
                <a:tc>
                  <a:txBody>
                    <a:bodyPr/>
                    <a:lstStyle/>
                    <a:p>
                      <a:pPr algn="ctr">
                        <a:defRPr sz="1050">
                          <a:solidFill>
                            <a:srgbClr val="F8FAFC"/>
                          </a:solidFill>
                          <a:latin typeface="Calibri"/>
                        </a:defRPr>
                      </a:pPr>
                      <a:r>
                        <a:t>1 (Critical)</a:t>
                      </a:r>
                    </a:p>
                  </a:txBody>
                  <a:tcPr>
                    <a:solidFill>
                      <a:srgbClr val="172A45"/>
                    </a:solidFill>
                  </a:tcPr>
                </a:tc>
                <a:tc>
                  <a:txBody>
                    <a:bodyPr/>
                    <a:lstStyle/>
                    <a:p>
                      <a:pPr algn="l">
                        <a:defRPr sz="1050">
                          <a:solidFill>
                            <a:srgbClr val="F8FAFC"/>
                          </a:solidFill>
                          <a:latin typeface="Calibri"/>
                        </a:defRPr>
                      </a:pPr>
                      <a:r>
                        <a:t>1st (Top of Queue)</a:t>
                      </a:r>
                    </a:p>
                  </a:txBody>
                  <a:tcPr>
                    <a:solidFill>
                      <a:srgbClr val="172A45"/>
                    </a:solidFill>
                  </a:tcPr>
                </a:tc>
              </a:tr>
              <a:tr h="512064">
                <a:tc>
                  <a:txBody>
                    <a:bodyPr/>
                    <a:lstStyle/>
                    <a:p>
                      <a:pPr algn="l">
                        <a:defRPr sz="1050">
                          <a:solidFill>
                            <a:srgbClr val="F8FAFC"/>
                          </a:solidFill>
                          <a:latin typeface="Calibri"/>
                        </a:defRPr>
                      </a:pPr>
                      <a:r>
                        <a:t>Request B</a:t>
                      </a:r>
                    </a:p>
                  </a:txBody>
                  <a:tcPr>
                    <a:solidFill>
                      <a:srgbClr val="12223A"/>
                    </a:solidFill>
                  </a:tcPr>
                </a:tc>
                <a:tc>
                  <a:txBody>
                    <a:bodyPr/>
                    <a:lstStyle/>
                    <a:p>
                      <a:pPr algn="ctr">
                        <a:defRPr sz="1050">
                          <a:solidFill>
                            <a:srgbClr val="F8FAFC"/>
                          </a:solidFill>
                          <a:latin typeface="Calibri"/>
                        </a:defRPr>
                      </a:pPr>
                      <a:r>
                        <a:t>Critical</a:t>
                      </a:r>
                    </a:p>
                  </a:txBody>
                  <a:tcPr>
                    <a:solidFill>
                      <a:srgbClr val="12223A"/>
                    </a:solidFill>
                  </a:tcPr>
                </a:tc>
                <a:tc>
                  <a:txBody>
                    <a:bodyPr/>
                    <a:lstStyle/>
                    <a:p>
                      <a:pPr algn="ctr">
                        <a:defRPr sz="1050">
                          <a:solidFill>
                            <a:srgbClr val="F8FAFC"/>
                          </a:solidFill>
                          <a:latin typeface="Calibri"/>
                        </a:defRPr>
                      </a:pPr>
                      <a:r>
                        <a:t>80</a:t>
                      </a:r>
                    </a:p>
                  </a:txBody>
                  <a:tcPr>
                    <a:solidFill>
                      <a:srgbClr val="12223A"/>
                    </a:solidFill>
                  </a:tcPr>
                </a:tc>
                <a:tc>
                  <a:txBody>
                    <a:bodyPr/>
                    <a:lstStyle/>
                    <a:p>
                      <a:pPr algn="ctr">
                        <a:defRPr sz="1050">
                          <a:solidFill>
                            <a:srgbClr val="F8FAFC"/>
                          </a:solidFill>
                          <a:latin typeface="Calibri"/>
                        </a:defRPr>
                      </a:pPr>
                      <a:r>
                        <a:t>1 (Critical)</a:t>
                      </a:r>
                    </a:p>
                  </a:txBody>
                  <a:tcPr>
                    <a:solidFill>
                      <a:srgbClr val="12223A"/>
                    </a:solidFill>
                  </a:tcPr>
                </a:tc>
                <a:tc>
                  <a:txBody>
                    <a:bodyPr/>
                    <a:lstStyle/>
                    <a:p>
                      <a:pPr algn="ctr">
                        <a:defRPr sz="1050">
                          <a:solidFill>
                            <a:srgbClr val="F8FAFC"/>
                          </a:solidFill>
                          <a:latin typeface="Calibri"/>
                        </a:defRPr>
                      </a:pPr>
                      <a:r>
                        <a:t>2nd</a:t>
                      </a:r>
                    </a:p>
                  </a:txBody>
                  <a:tcPr>
                    <a:solidFill>
                      <a:srgbClr val="12223A"/>
                    </a:solidFill>
                  </a:tcPr>
                </a:tc>
              </a:tr>
              <a:tr h="512064">
                <a:tc>
                  <a:txBody>
                    <a:bodyPr/>
                    <a:lstStyle/>
                    <a:p>
                      <a:pPr algn="l">
                        <a:defRPr sz="1050">
                          <a:solidFill>
                            <a:srgbClr val="F8FAFC"/>
                          </a:solidFill>
                          <a:latin typeface="Calibri"/>
                        </a:defRPr>
                      </a:pPr>
                      <a:r>
                        <a:t>Request C</a:t>
                      </a:r>
                    </a:p>
                  </a:txBody>
                  <a:tcPr>
                    <a:solidFill>
                      <a:srgbClr val="172A45"/>
                    </a:solidFill>
                  </a:tcPr>
                </a:tc>
                <a:tc>
                  <a:txBody>
                    <a:bodyPr/>
                    <a:lstStyle/>
                    <a:p>
                      <a:pPr algn="ctr">
                        <a:defRPr sz="1050">
                          <a:solidFill>
                            <a:srgbClr val="F8FAFC"/>
                          </a:solidFill>
                          <a:latin typeface="Calibri"/>
                        </a:defRPr>
                      </a:pPr>
                      <a:r>
                        <a:t>High</a:t>
                      </a:r>
                    </a:p>
                  </a:txBody>
                  <a:tcPr>
                    <a:solidFill>
                      <a:srgbClr val="172A45"/>
                    </a:solidFill>
                  </a:tcPr>
                </a:tc>
                <a:tc>
                  <a:txBody>
                    <a:bodyPr/>
                    <a:lstStyle/>
                    <a:p>
                      <a:pPr algn="ctr">
                        <a:defRPr sz="1050">
                          <a:solidFill>
                            <a:srgbClr val="F8FAFC"/>
                          </a:solidFill>
                          <a:latin typeface="Calibri"/>
                        </a:defRPr>
                      </a:pPr>
                      <a:r>
                        <a:t>98</a:t>
                      </a:r>
                    </a:p>
                  </a:txBody>
                  <a:tcPr>
                    <a:solidFill>
                      <a:srgbClr val="172A45"/>
                    </a:solidFill>
                  </a:tcPr>
                </a:tc>
                <a:tc>
                  <a:txBody>
                    <a:bodyPr/>
                    <a:lstStyle/>
                    <a:p>
                      <a:pPr algn="ctr">
                        <a:defRPr sz="1050">
                          <a:solidFill>
                            <a:srgbClr val="F8FAFC"/>
                          </a:solidFill>
                          <a:latin typeface="Calibri"/>
                        </a:defRPr>
                      </a:pPr>
                      <a:r>
                        <a:t>2 (High)</a:t>
                      </a:r>
                    </a:p>
                  </a:txBody>
                  <a:tcPr>
                    <a:solidFill>
                      <a:srgbClr val="172A45"/>
                    </a:solidFill>
                  </a:tcPr>
                </a:tc>
                <a:tc>
                  <a:txBody>
                    <a:bodyPr/>
                    <a:lstStyle/>
                    <a:p>
                      <a:pPr algn="ctr">
                        <a:defRPr sz="1050">
                          <a:solidFill>
                            <a:srgbClr val="F8FAFC"/>
                          </a:solidFill>
                          <a:latin typeface="Calibri"/>
                        </a:defRPr>
                      </a:pPr>
                      <a:r>
                        <a:t>3rd</a:t>
                      </a:r>
                    </a:p>
                  </a:txBody>
                  <a:tcPr>
                    <a:solidFill>
                      <a:srgbClr val="172A45"/>
                    </a:solidFill>
                  </a:tcPr>
                </a:tc>
              </a:tr>
              <a:tr h="512064">
                <a:tc>
                  <a:txBody>
                    <a:bodyPr/>
                    <a:lstStyle/>
                    <a:p>
                      <a:pPr algn="l">
                        <a:defRPr sz="1050">
                          <a:solidFill>
                            <a:srgbClr val="F8FAFC"/>
                          </a:solidFill>
                          <a:latin typeface="Calibri"/>
                        </a:defRPr>
                      </a:pPr>
                      <a:r>
                        <a:t>Request D</a:t>
                      </a:r>
                    </a:p>
                  </a:txBody>
                  <a:tcPr>
                    <a:solidFill>
                      <a:srgbClr val="12223A"/>
                    </a:solidFill>
                  </a:tcPr>
                </a:tc>
                <a:tc>
                  <a:txBody>
                    <a:bodyPr/>
                    <a:lstStyle/>
                    <a:p>
                      <a:pPr algn="ctr">
                        <a:defRPr sz="1050">
                          <a:solidFill>
                            <a:srgbClr val="F8FAFC"/>
                          </a:solidFill>
                          <a:latin typeface="Calibri"/>
                        </a:defRPr>
                      </a:pPr>
                      <a:r>
                        <a:t>Medium</a:t>
                      </a:r>
                    </a:p>
                  </a:txBody>
                  <a:tcPr>
                    <a:solidFill>
                      <a:srgbClr val="12223A"/>
                    </a:solidFill>
                  </a:tcPr>
                </a:tc>
                <a:tc>
                  <a:txBody>
                    <a:bodyPr/>
                    <a:lstStyle/>
                    <a:p>
                      <a:pPr algn="ctr">
                        <a:defRPr sz="1050">
                          <a:solidFill>
                            <a:srgbClr val="F8FAFC"/>
                          </a:solidFill>
                          <a:latin typeface="Calibri"/>
                        </a:defRPr>
                      </a:pPr>
                      <a:r>
                        <a:t>45</a:t>
                      </a:r>
                    </a:p>
                  </a:txBody>
                  <a:tcPr>
                    <a:solidFill>
                      <a:srgbClr val="12223A"/>
                    </a:solidFill>
                  </a:tcPr>
                </a:tc>
                <a:tc>
                  <a:txBody>
                    <a:bodyPr/>
                    <a:lstStyle/>
                    <a:p>
                      <a:pPr algn="ctr">
                        <a:defRPr sz="1050">
                          <a:solidFill>
                            <a:srgbClr val="F8FAFC"/>
                          </a:solidFill>
                          <a:latin typeface="Calibri"/>
                        </a:defRPr>
                      </a:pPr>
                      <a:r>
                        <a:t>3 (Medium)</a:t>
                      </a:r>
                    </a:p>
                  </a:txBody>
                  <a:tcPr>
                    <a:solidFill>
                      <a:srgbClr val="12223A"/>
                    </a:solidFill>
                  </a:tcPr>
                </a:tc>
                <a:tc>
                  <a:txBody>
                    <a:bodyPr/>
                    <a:lstStyle/>
                    <a:p>
                      <a:pPr algn="ctr">
                        <a:defRPr sz="1050">
                          <a:solidFill>
                            <a:srgbClr val="F8FAFC"/>
                          </a:solidFill>
                          <a:latin typeface="Calibri"/>
                        </a:defRPr>
                      </a:pPr>
                      <a:r>
                        <a:t>4th</a:t>
                      </a:r>
                    </a:p>
                  </a:txBody>
                  <a:tcPr>
                    <a:solidFill>
                      <a:srgbClr val="12223A"/>
                    </a:solidFill>
                  </a:tcPr>
                </a:tc>
              </a:tr>
            </a:tbl>
          </a:graphicData>
        </a:graphic>
      </p:graphicFrame>
      <p:sp>
        <p:nvSpPr>
          <p:cNvPr id="10" name="Rounded Rectangle 9"/>
          <p:cNvSpPr/>
          <p:nvPr/>
        </p:nvSpPr>
        <p:spPr>
          <a:xfrm>
            <a:off x="6217920" y="4297680"/>
            <a:ext cx="5242255" cy="2011680"/>
          </a:xfrm>
          <a:prstGeom prst="roundRect">
            <a:avLst/>
          </a:prstGeom>
          <a:solidFill>
            <a:srgbClr val="172A4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389120"/>
            <a:ext cx="4846320" cy="1828800"/>
          </a:xfrm>
          <a:prstGeom prst="rect">
            <a:avLst/>
          </a:prstGeom>
          <a:noFill/>
        </p:spPr>
        <p:txBody>
          <a:bodyPr wrap="square">
            <a:spAutoFit/>
          </a:bodyPr>
          <a:lstStyle/>
          <a:p>
            <a:pPr>
              <a:spcAft>
                <a:spcPts val="200"/>
              </a:spcAft>
              <a:defRPr sz="1200" b="1">
                <a:solidFill>
                  <a:srgbClr val="EF4444"/>
                </a:solidFill>
                <a:latin typeface="Calibri"/>
              </a:defRPr>
            </a:pPr>
            <a:r>
              <a:t>CRITICAL ADSA DISTINCTION FOR VIVA:</a:t>
            </a:r>
          </a:p>
          <a:p>
            <a:pPr>
              <a:defRPr sz="950">
                <a:solidFill>
                  <a:srgbClr val="F8FAFC"/>
                </a:solidFill>
                <a:latin typeface="Calibri"/>
              </a:defRPr>
            </a:pPr>
            <a:r>
              <a:t>• Why does Request B (Critical, 80) appear BEFORE Request C (High, 98)? Because category rank 1 (Critical) strictly overrides numerical score!</a:t>
            </a:r>
          </a:p>
          <a:p>
            <a:pPr>
              <a:defRPr sz="950">
                <a:solidFill>
                  <a:srgbClr val="F8FAFC"/>
                </a:solidFill>
                <a:latin typeface="Calibri"/>
              </a:defRPr>
            </a:pPr>
            <a:r>
              <a:t>• THIS IS NOT A CUSTOM HEAP PRIORITY QUEUE: The administrator dashboard runs relational database sorting on every query.</a:t>
            </a:r>
          </a:p>
          <a:p>
            <a:pPr>
              <a:defRPr sz="950">
                <a:solidFill>
                  <a:srgbClr val="F8FAFC"/>
                </a:solidFill>
                <a:latin typeface="Calibri"/>
              </a:defRPr>
            </a:pPr>
            <a:r>
              <a:t>• SQL ORDER BY runs an O(N log N) database sort. A Heap Priority Queue maintains an in-memory binary tree with O(log N) insert and O(1) peek.</a:t>
            </a:r>
          </a:p>
          <a:p>
            <a:pPr>
              <a:defRPr sz="950">
                <a:solidFill>
                  <a:srgbClr val="F8FAFC"/>
                </a:solidFill>
                <a:latin typeface="Calibri"/>
              </a:defRPr>
            </a:pPr>
            <a:r>
              <a:t>• For web-based stateless REST APIs, SQL ordering ensures immediate database consistency across multiple admin browser tabs.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Conditional Business Logic: Resource Allocation &amp; Capacity</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17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5212080" cy="4846320"/>
          </a:xfrm>
          <a:prstGeom prst="roundRect">
            <a:avLst/>
          </a:prstGeom>
          <a:solidFill>
            <a:srgbClr val="172A45"/>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846320" cy="4480560"/>
          </a:xfrm>
          <a:prstGeom prst="rect">
            <a:avLst/>
          </a:prstGeom>
          <a:noFill/>
        </p:spPr>
        <p:txBody>
          <a:bodyPr wrap="square" lIns="0" tIns="0" rIns="0" bIns="0">
            <a:spAutoFit/>
          </a:bodyPr>
          <a:lstStyle/>
          <a:p>
            <a:pPr>
              <a:spcAft>
                <a:spcPts val="300"/>
              </a:spcAft>
              <a:defRPr sz="1500" b="1">
                <a:solidFill>
                  <a:srgbClr val="2563EB"/>
                </a:solidFill>
                <a:latin typeface="Calibri"/>
              </a:defRPr>
            </a:pPr>
            <a:r>
              <a:t>Rescue Team Assignment State Machine</a:t>
            </a:r>
          </a:p>
          <a:p>
            <a:pPr>
              <a:spcAft>
                <a:spcPts val="600"/>
              </a:spcAft>
              <a:defRPr sz="1050">
                <a:solidFill>
                  <a:srgbClr val="94A3B8"/>
                </a:solidFill>
                <a:latin typeface="Calibri"/>
              </a:defRPr>
            </a:pPr>
            <a:r>
              <a:t>Mutual Exclusion &amp; State Integrity</a:t>
            </a:r>
          </a:p>
          <a:p>
            <a:pPr>
              <a:spcAft>
                <a:spcPts val="400"/>
              </a:spcAft>
              <a:defRPr sz="1100">
                <a:solidFill>
                  <a:srgbClr val="F8FAFC"/>
                </a:solidFill>
                <a:latin typeface="Calibri"/>
              </a:defRPr>
            </a:pPr>
            <a:r>
              <a:t>•  Team Availability Invariant: A rescue unit can only be deployed if its current status is 'Available'.</a:t>
            </a:r>
          </a:p>
          <a:p>
            <a:pPr>
              <a:spcAft>
                <a:spcPts val="400"/>
              </a:spcAft>
              <a:defRPr sz="1100">
                <a:solidFill>
                  <a:srgbClr val="F8FAFC"/>
                </a:solidFill>
                <a:latin typeface="Calibri"/>
              </a:defRPr>
            </a:pPr>
            <a:r>
              <a:t>•  Concurrency Protection in app.py (Lines 1230–1255):</a:t>
            </a:r>
          </a:p>
          <a:p>
            <a:pPr>
              <a:spcAft>
                <a:spcPts val="400"/>
              </a:spcAft>
              <a:defRPr sz="1100">
                <a:solidFill>
                  <a:srgbClr val="F8FAFC"/>
                </a:solidFill>
                <a:latin typeface="Calibri"/>
              </a:defRPr>
            </a:pPr>
            <a:r>
              <a:t>•    ```python</a:t>
            </a:r>
          </a:p>
          <a:p>
            <a:pPr>
              <a:spcAft>
                <a:spcPts val="400"/>
              </a:spcAft>
              <a:defRPr sz="1100">
                <a:solidFill>
                  <a:srgbClr val="F8FAFC"/>
                </a:solidFill>
                <a:latin typeface="Calibri"/>
              </a:defRPr>
            </a:pPr>
            <a:r>
              <a:t>•    team = conn.execute('SELECT * FROM rescue_teams '</a:t>
            </a:r>
          </a:p>
          <a:p>
            <a:pPr>
              <a:spcAft>
                <a:spcPts val="400"/>
              </a:spcAft>
              <a:defRPr sz="1100">
                <a:solidFill>
                  <a:srgbClr val="F8FAFC"/>
                </a:solidFill>
                <a:latin typeface="Calibri"/>
              </a:defRPr>
            </a:pPr>
            <a:r>
              <a:t>•                        'WHERE status = "Available" '</a:t>
            </a:r>
          </a:p>
          <a:p>
            <a:pPr>
              <a:spcAft>
                <a:spcPts val="400"/>
              </a:spcAft>
              <a:defRPr sz="1100">
                <a:solidFill>
                  <a:srgbClr val="F8FAFC"/>
                </a:solidFill>
                <a:latin typeface="Calibri"/>
              </a:defRPr>
            </a:pPr>
            <a:r>
              <a:t>•                        'ORDER BY id LIMIT 1').fetchone()</a:t>
            </a:r>
          </a:p>
          <a:p>
            <a:pPr>
              <a:spcAft>
                <a:spcPts val="400"/>
              </a:spcAft>
              <a:defRPr sz="1100">
                <a:solidFill>
                  <a:srgbClr val="F8FAFC"/>
                </a:solidFill>
                <a:latin typeface="Calibri"/>
              </a:defRPr>
            </a:pPr>
            <a:r>
              <a:t>•    if team is None:</a:t>
            </a:r>
          </a:p>
          <a:p>
            <a:pPr>
              <a:spcAft>
                <a:spcPts val="400"/>
              </a:spcAft>
              <a:defRPr sz="1100">
                <a:solidFill>
                  <a:srgbClr val="F8FAFC"/>
                </a:solidFill>
                <a:latin typeface="Calibri"/>
              </a:defRPr>
            </a:pPr>
            <a:r>
              <a:t>•        return jsonify({'error': 'No available teams'}), 409</a:t>
            </a:r>
          </a:p>
          <a:p>
            <a:pPr>
              <a:spcAft>
                <a:spcPts val="400"/>
              </a:spcAft>
              <a:defRPr sz="1100">
                <a:solidFill>
                  <a:srgbClr val="F8FAFC"/>
                </a:solidFill>
                <a:latin typeface="Calibri"/>
              </a:defRPr>
            </a:pPr>
            <a:r>
              <a:t>•    # Atomic status transition</a:t>
            </a:r>
          </a:p>
          <a:p>
            <a:pPr>
              <a:spcAft>
                <a:spcPts val="400"/>
              </a:spcAft>
              <a:defRPr sz="1100">
                <a:solidFill>
                  <a:srgbClr val="F8FAFC"/>
                </a:solidFill>
                <a:latin typeface="Calibri"/>
              </a:defRPr>
            </a:pPr>
            <a:r>
              <a:t>•    conn.execute('UPDATE rescue_teams SET status = "Assigned" '</a:t>
            </a:r>
          </a:p>
          <a:p>
            <a:pPr>
              <a:spcAft>
                <a:spcPts val="400"/>
              </a:spcAft>
              <a:defRPr sz="1100">
                <a:solidFill>
                  <a:srgbClr val="F8FAFC"/>
                </a:solidFill>
                <a:latin typeface="Calibri"/>
              </a:defRPr>
            </a:pPr>
            <a:r>
              <a:t>•                 'WHERE id = ?', (team['id'],))</a:t>
            </a:r>
          </a:p>
          <a:p>
            <a:pPr>
              <a:spcAft>
                <a:spcPts val="400"/>
              </a:spcAft>
              <a:defRPr sz="1100">
                <a:solidFill>
                  <a:srgbClr val="F8FAFC"/>
                </a:solidFill>
                <a:latin typeface="Calibri"/>
              </a:defRPr>
            </a:pPr>
            <a:r>
              <a:t>•    ```</a:t>
            </a:r>
          </a:p>
          <a:p>
            <a:pPr>
              <a:spcAft>
                <a:spcPts val="400"/>
              </a:spcAft>
              <a:defRPr sz="1100">
                <a:solidFill>
                  <a:srgbClr val="F8FAFC"/>
                </a:solidFill>
                <a:latin typeface="Calibri"/>
              </a:defRPr>
            </a:pPr>
            <a:r>
              <a:t>•  State Machine Transitions:</a:t>
            </a:r>
          </a:p>
          <a:p>
            <a:pPr>
              <a:spcAft>
                <a:spcPts val="400"/>
              </a:spcAft>
              <a:defRPr sz="1100">
                <a:solidFill>
                  <a:srgbClr val="F8FAFC"/>
                </a:solidFill>
                <a:latin typeface="Calibri"/>
              </a:defRPr>
            </a:pPr>
            <a:r>
              <a:t>•    • Available → Assigned (when deployed to an emergency SOS)</a:t>
            </a:r>
          </a:p>
          <a:p>
            <a:pPr>
              <a:spcAft>
                <a:spcPts val="400"/>
              </a:spcAft>
              <a:defRPr sz="1100">
                <a:solidFill>
                  <a:srgbClr val="F8FAFC"/>
                </a:solidFill>
                <a:latin typeface="Calibri"/>
              </a:defRPr>
            </a:pPr>
            <a:r>
              <a:t>•    • Assigned → Completed (when evacuees are delivered to shelter)</a:t>
            </a:r>
          </a:p>
          <a:p>
            <a:pPr>
              <a:spcAft>
                <a:spcPts val="400"/>
              </a:spcAft>
              <a:defRPr sz="1100">
                <a:solidFill>
                  <a:srgbClr val="F8FAFC"/>
                </a:solidFill>
                <a:latin typeface="Calibri"/>
              </a:defRPr>
            </a:pPr>
            <a:r>
              <a:t>•    • Completed → Available (unit resets for next mission)</a:t>
            </a:r>
          </a:p>
        </p:txBody>
      </p:sp>
      <p:sp>
        <p:nvSpPr>
          <p:cNvPr id="9" name="Rounded Rectangle 8"/>
          <p:cNvSpPr/>
          <p:nvPr/>
        </p:nvSpPr>
        <p:spPr>
          <a:xfrm>
            <a:off x="6217920" y="1463040"/>
            <a:ext cx="5212080" cy="4846320"/>
          </a:xfrm>
          <a:prstGeom prst="roundRect">
            <a:avLst/>
          </a:prstGeom>
          <a:solidFill>
            <a:srgbClr val="172A45"/>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480560"/>
          </a:xfrm>
          <a:prstGeom prst="rect">
            <a:avLst/>
          </a:prstGeom>
          <a:noFill/>
        </p:spPr>
        <p:txBody>
          <a:bodyPr wrap="square" lIns="0" tIns="0" rIns="0" bIns="0">
            <a:spAutoFit/>
          </a:bodyPr>
          <a:lstStyle/>
          <a:p>
            <a:pPr>
              <a:spcAft>
                <a:spcPts val="300"/>
              </a:spcAft>
              <a:defRPr sz="1500" b="1">
                <a:solidFill>
                  <a:srgbClr val="22C55E"/>
                </a:solidFill>
                <a:latin typeface="Calibri"/>
              </a:defRPr>
            </a:pPr>
            <a:r>
              <a:t>Shelter Capacity Formula &amp; Allocation Logic</a:t>
            </a:r>
          </a:p>
          <a:p>
            <a:pPr>
              <a:spcAft>
                <a:spcPts val="600"/>
              </a:spcAft>
              <a:defRPr sz="1050">
                <a:solidFill>
                  <a:srgbClr val="94A3B8"/>
                </a:solidFill>
                <a:latin typeface="Calibri"/>
              </a:defRPr>
            </a:pPr>
            <a:r>
              <a:t>Mathematical Capacity Bounds</a:t>
            </a:r>
          </a:p>
          <a:p>
            <a:pPr>
              <a:spcAft>
                <a:spcPts val="400"/>
              </a:spcAft>
              <a:defRPr sz="1100">
                <a:solidFill>
                  <a:srgbClr val="F8FAFC"/>
                </a:solidFill>
                <a:latin typeface="Calibri"/>
              </a:defRPr>
            </a:pPr>
            <a:r>
              <a:t>•  Shelter Capacity Formula:</a:t>
            </a:r>
          </a:p>
          <a:p>
            <a:pPr>
              <a:spcAft>
                <a:spcPts val="400"/>
              </a:spcAft>
              <a:defRPr sz="1100">
                <a:solidFill>
                  <a:srgbClr val="F8FAFC"/>
                </a:solidFill>
                <a:latin typeface="Calibri"/>
              </a:defRPr>
            </a:pPr>
            <a:r>
              <a:t>•    Available Capacity = Total Capacity - Occupied Capacity</a:t>
            </a:r>
          </a:p>
          <a:p>
            <a:pPr>
              <a:spcAft>
                <a:spcPts val="400"/>
              </a:spcAft>
              <a:defRPr sz="1100">
                <a:solidFill>
                  <a:srgbClr val="F8FAFC"/>
                </a:solidFill>
                <a:latin typeface="Calibri"/>
              </a:defRPr>
            </a:pPr>
            <a:r>
              <a:t>•  Allocation Condition in app.py (Lines 1345–1360):</a:t>
            </a:r>
          </a:p>
          <a:p>
            <a:pPr>
              <a:spcAft>
                <a:spcPts val="400"/>
              </a:spcAft>
              <a:defRPr sz="1100">
                <a:solidFill>
                  <a:srgbClr val="F8FAFC"/>
                </a:solidFill>
                <a:latin typeface="Calibri"/>
              </a:defRPr>
            </a:pPr>
            <a:r>
              <a:t>•    A shelter S is eligible for incident with P people if and only if:</a:t>
            </a:r>
          </a:p>
          <a:p>
            <a:pPr>
              <a:spcAft>
                <a:spcPts val="400"/>
              </a:spcAft>
              <a:defRPr sz="1100">
                <a:solidFill>
                  <a:srgbClr val="F8FAFC"/>
                </a:solidFill>
                <a:latin typeface="Calibri"/>
              </a:defRPr>
            </a:pPr>
            <a:r>
              <a:t>•      S.verified == 1   AND   (S.capacity - S.occupied) &gt;= P</a:t>
            </a:r>
          </a:p>
          <a:p>
            <a:pPr>
              <a:spcAft>
                <a:spcPts val="400"/>
              </a:spcAft>
              <a:defRPr sz="1100">
                <a:solidFill>
                  <a:srgbClr val="F8FAFC"/>
                </a:solidFill>
                <a:latin typeface="Calibri"/>
              </a:defRPr>
            </a:pPr>
            <a:r>
              <a:t>•  Numerical Worked Example:</a:t>
            </a:r>
          </a:p>
          <a:p>
            <a:pPr>
              <a:spcAft>
                <a:spcPts val="400"/>
              </a:spcAft>
              <a:defRPr sz="1100">
                <a:solidFill>
                  <a:srgbClr val="F8FAFC"/>
                </a:solidFill>
                <a:latin typeface="Calibri"/>
              </a:defRPr>
            </a:pPr>
            <a:r>
              <a:t>•    • Shelter Name: Corporation Community Hall</a:t>
            </a:r>
          </a:p>
          <a:p>
            <a:pPr>
              <a:spcAft>
                <a:spcPts val="400"/>
              </a:spcAft>
              <a:defRPr sz="1100">
                <a:solidFill>
                  <a:srgbClr val="F8FAFC"/>
                </a:solidFill>
                <a:latin typeface="Calibri"/>
              </a:defRPr>
            </a:pPr>
            <a:r>
              <a:t>•    • Total Capacity: 300 evacuees</a:t>
            </a:r>
          </a:p>
          <a:p>
            <a:pPr>
              <a:spcAft>
                <a:spcPts val="400"/>
              </a:spcAft>
              <a:defRPr sz="1100">
                <a:solidFill>
                  <a:srgbClr val="F8FAFC"/>
                </a:solidFill>
                <a:latin typeface="Calibri"/>
              </a:defRPr>
            </a:pPr>
            <a:r>
              <a:t>•    • Current Occupancy: 282 evacuees</a:t>
            </a:r>
          </a:p>
          <a:p>
            <a:pPr>
              <a:spcAft>
                <a:spcPts val="400"/>
              </a:spcAft>
              <a:defRPr sz="1100">
                <a:solidFill>
                  <a:srgbClr val="F8FAFC"/>
                </a:solidFill>
                <a:latin typeface="Calibri"/>
              </a:defRPr>
            </a:pPr>
            <a:r>
              <a:t>•    • Available Capacity = 300 - 282 = 18 slots</a:t>
            </a:r>
          </a:p>
          <a:p>
            <a:pPr>
              <a:spcAft>
                <a:spcPts val="400"/>
              </a:spcAft>
              <a:defRPr sz="1100">
                <a:solidFill>
                  <a:srgbClr val="F8FAFC"/>
                </a:solidFill>
                <a:latin typeface="Calibri"/>
              </a:defRPr>
            </a:pPr>
            <a:r>
              <a:t>•    • Incident 1: 5 people → 18 ≥ 5 → ALLOCATED! (New occupied = 287)</a:t>
            </a:r>
          </a:p>
          <a:p>
            <a:pPr>
              <a:spcAft>
                <a:spcPts val="400"/>
              </a:spcAft>
              <a:defRPr sz="1100">
                <a:solidFill>
                  <a:srgbClr val="F8FAFC"/>
                </a:solidFill>
                <a:latin typeface="Calibri"/>
              </a:defRPr>
            </a:pPr>
            <a:r>
              <a:t>•    • Incident 2: 20 people → 18 &lt; 20 → REJECTED! (Overcrowding prevented)</a:t>
            </a:r>
          </a:p>
          <a:p>
            <a:pPr>
              <a:spcAft>
                <a:spcPts val="400"/>
              </a:spcAft>
              <a:defRPr sz="1100">
                <a:solidFill>
                  <a:srgbClr val="F8FAFC"/>
                </a:solidFill>
                <a:latin typeface="Calibri"/>
              </a:defRPr>
            </a:pPr>
            <a:r>
              <a:t>•  Distinction: This is conditional business logic, not a named graph algorithm.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Comparative Algorithm &amp; Technique Synthesis</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18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1463040"/>
          <a:ext cx="10728655" cy="4846320"/>
        </p:xfrm>
        <a:graphic>
          <a:graphicData uri="http://schemas.openxmlformats.org/drawingml/2006/table">
            <a:tbl>
              <a:tblPr firstRow="1" bandRow="1">
                <a:tableStyleId>{5C22544A-7EE6-4342-B048-85BDC9FD1C3A}</a:tableStyleId>
              </a:tblPr>
              <a:tblGrid>
                <a:gridCol w="1645920"/>
                <a:gridCol w="2377440"/>
                <a:gridCol w="1828800"/>
                <a:gridCol w="1645920"/>
                <a:gridCol w="3230575"/>
              </a:tblGrid>
              <a:tr h="807720">
                <a:tc>
                  <a:txBody>
                    <a:bodyPr/>
                    <a:lstStyle/>
                    <a:p>
                      <a:pPr algn="ctr">
                        <a:defRPr sz="1100" b="1">
                          <a:solidFill>
                            <a:srgbClr val="38BDF8"/>
                          </a:solidFill>
                          <a:latin typeface="Calibri"/>
                        </a:defRPr>
                      </a:pPr>
                      <a:r>
                        <a:t>Technique</a:t>
                      </a:r>
                    </a:p>
                  </a:txBody>
                  <a:tcPr>
                    <a:solidFill>
                      <a:srgbClr val="1E3A5F"/>
                    </a:solidFill>
                  </a:tcPr>
                </a:tc>
                <a:tc>
                  <a:txBody>
                    <a:bodyPr/>
                    <a:lstStyle/>
                    <a:p>
                      <a:pPr algn="ctr">
                        <a:defRPr sz="1100" b="1">
                          <a:solidFill>
                            <a:srgbClr val="38BDF8"/>
                          </a:solidFill>
                          <a:latin typeface="Calibri"/>
                        </a:defRPr>
                      </a:pPr>
                      <a:r>
                        <a:t>Core Purpose</a:t>
                      </a:r>
                    </a:p>
                  </a:txBody>
                  <a:tcPr>
                    <a:solidFill>
                      <a:srgbClr val="1E3A5F"/>
                    </a:solidFill>
                  </a:tcPr>
                </a:tc>
                <a:tc>
                  <a:txBody>
                    <a:bodyPr/>
                    <a:lstStyle/>
                    <a:p>
                      <a:pPr algn="ctr">
                        <a:defRPr sz="1100" b="1">
                          <a:solidFill>
                            <a:srgbClr val="38BDF8"/>
                          </a:solidFill>
                          <a:latin typeface="Calibri"/>
                        </a:defRPr>
                      </a:pPr>
                      <a:r>
                        <a:t>Computational Category</a:t>
                      </a:r>
                    </a:p>
                  </a:txBody>
                  <a:tcPr>
                    <a:solidFill>
                      <a:srgbClr val="1E3A5F"/>
                    </a:solidFill>
                  </a:tcPr>
                </a:tc>
                <a:tc>
                  <a:txBody>
                    <a:bodyPr/>
                    <a:lstStyle/>
                    <a:p>
                      <a:pPr algn="ctr">
                        <a:defRPr sz="1100" b="1">
                          <a:solidFill>
                            <a:srgbClr val="38BDF8"/>
                          </a:solidFill>
                          <a:latin typeface="Calibri"/>
                        </a:defRPr>
                      </a:pPr>
                      <a:r>
                        <a:t>Time Complexity</a:t>
                      </a:r>
                    </a:p>
                  </a:txBody>
                  <a:tcPr>
                    <a:solidFill>
                      <a:srgbClr val="1E3A5F"/>
                    </a:solidFill>
                  </a:tcPr>
                </a:tc>
                <a:tc>
                  <a:txBody>
                    <a:bodyPr/>
                    <a:lstStyle/>
                    <a:p>
                      <a:pPr algn="ctr">
                        <a:defRPr sz="1100" b="1">
                          <a:solidFill>
                            <a:srgbClr val="38BDF8"/>
                          </a:solidFill>
                          <a:latin typeface="Calibri"/>
                        </a:defRPr>
                      </a:pPr>
                      <a:r>
                        <a:t>When to Use in Emergency Systems</a:t>
                      </a:r>
                    </a:p>
                  </a:txBody>
                  <a:tcPr>
                    <a:solidFill>
                      <a:srgbClr val="1E3A5F"/>
                    </a:solidFill>
                  </a:tcPr>
                </a:tc>
              </a:tr>
              <a:tr h="807720">
                <a:tc>
                  <a:txBody>
                    <a:bodyPr/>
                    <a:lstStyle/>
                    <a:p>
                      <a:pPr algn="l">
                        <a:defRPr sz="1050">
                          <a:solidFill>
                            <a:srgbClr val="F8FAFC"/>
                          </a:solidFill>
                          <a:latin typeface="Calibri"/>
                        </a:defRPr>
                      </a:pPr>
                      <a:r>
                        <a:t>Dijkstra's Algorithm</a:t>
                      </a:r>
                    </a:p>
                  </a:txBody>
                  <a:tcPr>
                    <a:solidFill>
                      <a:srgbClr val="172A45"/>
                    </a:solidFill>
                  </a:tcPr>
                </a:tc>
                <a:tc>
                  <a:txBody>
                    <a:bodyPr/>
                    <a:lstStyle/>
                    <a:p>
                      <a:pPr algn="l">
                        <a:defRPr sz="1050">
                          <a:solidFill>
                            <a:srgbClr val="F8FAFC"/>
                          </a:solidFill>
                          <a:latin typeface="Calibri"/>
                        </a:defRPr>
                      </a:pPr>
                      <a:r>
                        <a:t>Minimum-cost path on weighted road graphs</a:t>
                      </a:r>
                    </a:p>
                  </a:txBody>
                  <a:tcPr>
                    <a:solidFill>
                      <a:srgbClr val="172A45"/>
                    </a:solidFill>
                  </a:tcPr>
                </a:tc>
                <a:tc>
                  <a:txBody>
                    <a:bodyPr/>
                    <a:lstStyle/>
                    <a:p>
                      <a:pPr algn="l">
                        <a:defRPr sz="1050">
                          <a:solidFill>
                            <a:srgbClr val="F8FAFC"/>
                          </a:solidFill>
                          <a:latin typeface="Calibri"/>
                        </a:defRPr>
                      </a:pPr>
                      <a:r>
                        <a:t>Greedy Graph Traversal</a:t>
                      </a:r>
                    </a:p>
                  </a:txBody>
                  <a:tcPr>
                    <a:solidFill>
                      <a:srgbClr val="172A45"/>
                    </a:solidFill>
                  </a:tcPr>
                </a:tc>
                <a:tc>
                  <a:txBody>
                    <a:bodyPr/>
                    <a:lstStyle/>
                    <a:p>
                      <a:pPr algn="l">
                        <a:defRPr sz="1050">
                          <a:solidFill>
                            <a:srgbClr val="F8FAFC"/>
                          </a:solidFill>
                          <a:latin typeface="Calibri"/>
                        </a:defRPr>
                      </a:pPr>
                      <a:r>
                        <a:t>O(|E| + |V| log |V|)</a:t>
                      </a:r>
                    </a:p>
                  </a:txBody>
                  <a:tcPr>
                    <a:solidFill>
                      <a:srgbClr val="172A45"/>
                    </a:solidFill>
                  </a:tcPr>
                </a:tc>
                <a:tc>
                  <a:txBody>
                    <a:bodyPr/>
                    <a:lstStyle/>
                    <a:p>
                      <a:pPr algn="l">
                        <a:defRPr sz="1050">
                          <a:solidFill>
                            <a:srgbClr val="F8FAFC"/>
                          </a:solidFill>
                          <a:latin typeface="Calibri"/>
                        </a:defRPr>
                      </a:pPr>
                      <a:r>
                        <a:t>When finding detour trajectories through road networks with variable distances and flood hazard penalties.</a:t>
                      </a:r>
                    </a:p>
                  </a:txBody>
                  <a:tcPr>
                    <a:solidFill>
                      <a:srgbClr val="172A45"/>
                    </a:solidFill>
                  </a:tcPr>
                </a:tc>
              </a:tr>
              <a:tr h="807720">
                <a:tc>
                  <a:txBody>
                    <a:bodyPr/>
                    <a:lstStyle/>
                    <a:p>
                      <a:pPr algn="l">
                        <a:defRPr sz="1050">
                          <a:solidFill>
                            <a:srgbClr val="F8FAFC"/>
                          </a:solidFill>
                          <a:latin typeface="Calibri"/>
                        </a:defRPr>
                      </a:pPr>
                      <a:r>
                        <a:t>Haversine Formula</a:t>
                      </a:r>
                    </a:p>
                  </a:txBody>
                  <a:tcPr>
                    <a:solidFill>
                      <a:srgbClr val="12223A"/>
                    </a:solidFill>
                  </a:tcPr>
                </a:tc>
                <a:tc>
                  <a:txBody>
                    <a:bodyPr/>
                    <a:lstStyle/>
                    <a:p>
                      <a:pPr algn="l">
                        <a:defRPr sz="1050">
                          <a:solidFill>
                            <a:srgbClr val="F8FAFC"/>
                          </a:solidFill>
                          <a:latin typeface="Calibri"/>
                        </a:defRPr>
                      </a:pPr>
                      <a:r>
                        <a:t>Great-circle distance across spherical surface</a:t>
                      </a:r>
                    </a:p>
                  </a:txBody>
                  <a:tcPr>
                    <a:solidFill>
                      <a:srgbClr val="12223A"/>
                    </a:solidFill>
                  </a:tcPr>
                </a:tc>
                <a:tc>
                  <a:txBody>
                    <a:bodyPr/>
                    <a:lstStyle/>
                    <a:p>
                      <a:pPr algn="l">
                        <a:defRPr sz="1050">
                          <a:solidFill>
                            <a:srgbClr val="F8FAFC"/>
                          </a:solidFill>
                          <a:latin typeface="Calibri"/>
                        </a:defRPr>
                      </a:pPr>
                      <a:r>
                        <a:t>Spherical Trigonometry</a:t>
                      </a:r>
                    </a:p>
                  </a:txBody>
                  <a:tcPr>
                    <a:solidFill>
                      <a:srgbClr val="12223A"/>
                    </a:solidFill>
                  </a:tcPr>
                </a:tc>
                <a:tc>
                  <a:txBody>
                    <a:bodyPr/>
                    <a:lstStyle/>
                    <a:p>
                      <a:pPr algn="l">
                        <a:defRPr sz="1050">
                          <a:solidFill>
                            <a:srgbClr val="F8FAFC"/>
                          </a:solidFill>
                          <a:latin typeface="Calibri"/>
                        </a:defRPr>
                      </a:pPr>
                      <a:r>
                        <a:t>O(1) constant time</a:t>
                      </a:r>
                    </a:p>
                  </a:txBody>
                  <a:tcPr>
                    <a:solidFill>
                      <a:srgbClr val="12223A"/>
                    </a:solidFill>
                  </a:tcPr>
                </a:tc>
                <a:tc>
                  <a:txBody>
                    <a:bodyPr/>
                    <a:lstStyle/>
                    <a:p>
                      <a:pPr algn="l">
                        <a:defRPr sz="1050">
                          <a:solidFill>
                            <a:srgbClr val="F8FAFC"/>
                          </a:solidFill>
                          <a:latin typeface="Calibri"/>
                        </a:defRPr>
                      </a:pPr>
                      <a:r>
                        <a:t>When rapidly filtering candidate shelters or rescue teams within a spatial radius before calculating road paths.</a:t>
                      </a:r>
                    </a:p>
                  </a:txBody>
                  <a:tcPr>
                    <a:solidFill>
                      <a:srgbClr val="12223A"/>
                    </a:solidFill>
                  </a:tcPr>
                </a:tc>
              </a:tr>
              <a:tr h="807720">
                <a:tc>
                  <a:txBody>
                    <a:bodyPr/>
                    <a:lstStyle/>
                    <a:p>
                      <a:pPr algn="l">
                        <a:defRPr sz="1050">
                          <a:solidFill>
                            <a:srgbClr val="F8FAFC"/>
                          </a:solidFill>
                          <a:latin typeface="Calibri"/>
                        </a:defRPr>
                      </a:pPr>
                      <a:r>
                        <a:t>Distance-Based Sorting</a:t>
                      </a:r>
                    </a:p>
                  </a:txBody>
                  <a:tcPr>
                    <a:solidFill>
                      <a:srgbClr val="172A45"/>
                    </a:solidFill>
                  </a:tcPr>
                </a:tc>
                <a:tc>
                  <a:txBody>
                    <a:bodyPr/>
                    <a:lstStyle/>
                    <a:p>
                      <a:pPr algn="l">
                        <a:defRPr sz="1050">
                          <a:solidFill>
                            <a:srgbClr val="F8FAFC"/>
                          </a:solidFill>
                          <a:latin typeface="Calibri"/>
                        </a:defRPr>
                      </a:pPr>
                      <a:r>
                        <a:t>Arranging candidate resources by proximity</a:t>
                      </a:r>
                    </a:p>
                  </a:txBody>
                  <a:tcPr>
                    <a:solidFill>
                      <a:srgbClr val="172A45"/>
                    </a:solidFill>
                  </a:tcPr>
                </a:tc>
                <a:tc>
                  <a:txBody>
                    <a:bodyPr/>
                    <a:lstStyle/>
                    <a:p>
                      <a:pPr algn="l">
                        <a:defRPr sz="1050">
                          <a:solidFill>
                            <a:srgbClr val="F8FAFC"/>
                          </a:solidFill>
                          <a:latin typeface="Calibri"/>
                        </a:defRPr>
                      </a:pPr>
                      <a:r>
                        <a:t>Comparison Sorting (Timsort)</a:t>
                      </a:r>
                    </a:p>
                  </a:txBody>
                  <a:tcPr>
                    <a:solidFill>
                      <a:srgbClr val="172A45"/>
                    </a:solidFill>
                  </a:tcPr>
                </a:tc>
                <a:tc>
                  <a:txBody>
                    <a:bodyPr/>
                    <a:lstStyle/>
                    <a:p>
                      <a:pPr algn="l">
                        <a:defRPr sz="1050">
                          <a:solidFill>
                            <a:srgbClr val="F8FAFC"/>
                          </a:solidFill>
                          <a:latin typeface="Calibri"/>
                        </a:defRPr>
                      </a:pPr>
                      <a:r>
                        <a:t>O(n log n) worst-case</a:t>
                      </a:r>
                    </a:p>
                  </a:txBody>
                  <a:tcPr>
                    <a:solidFill>
                      <a:srgbClr val="172A45"/>
                    </a:solidFill>
                  </a:tcPr>
                </a:tc>
                <a:tc>
                  <a:txBody>
                    <a:bodyPr/>
                    <a:lstStyle/>
                    <a:p>
                      <a:pPr algn="l">
                        <a:defRPr sz="1050">
                          <a:solidFill>
                            <a:srgbClr val="F8FAFC"/>
                          </a:solidFill>
                          <a:latin typeface="Calibri"/>
                        </a:defRPr>
                      </a:pPr>
                      <a:r>
                        <a:t>When prioritizing a filtered pool of eligible rescue teams or vetted shelters from nearest to farthest.</a:t>
                      </a:r>
                    </a:p>
                  </a:txBody>
                  <a:tcPr>
                    <a:solidFill>
                      <a:srgbClr val="172A45"/>
                    </a:solidFill>
                  </a:tcPr>
                </a:tc>
              </a:tr>
              <a:tr h="807720">
                <a:tc>
                  <a:txBody>
                    <a:bodyPr/>
                    <a:lstStyle/>
                    <a:p>
                      <a:pPr algn="l">
                        <a:defRPr sz="1050">
                          <a:solidFill>
                            <a:srgbClr val="F8FAFC"/>
                          </a:solidFill>
                          <a:latin typeface="Calibri"/>
                        </a:defRPr>
                      </a:pPr>
                      <a:r>
                        <a:t>SQL Multi-Tier Ordering</a:t>
                      </a:r>
                    </a:p>
                  </a:txBody>
                  <a:tcPr>
                    <a:solidFill>
                      <a:srgbClr val="12223A"/>
                    </a:solidFill>
                  </a:tcPr>
                </a:tc>
                <a:tc>
                  <a:txBody>
                    <a:bodyPr/>
                    <a:lstStyle/>
                    <a:p>
                      <a:pPr algn="l">
                        <a:defRPr sz="1050">
                          <a:solidFill>
                            <a:srgbClr val="F8FAFC"/>
                          </a:solidFill>
                          <a:latin typeface="Calibri"/>
                        </a:defRPr>
                      </a:pPr>
                      <a:r>
                        <a:t>Ordering emergency records by triage hierarchy</a:t>
                      </a:r>
                    </a:p>
                  </a:txBody>
                  <a:tcPr>
                    <a:solidFill>
                      <a:srgbClr val="12223A"/>
                    </a:solidFill>
                  </a:tcPr>
                </a:tc>
                <a:tc>
                  <a:txBody>
                    <a:bodyPr/>
                    <a:lstStyle/>
                    <a:p>
                      <a:pPr algn="l">
                        <a:defRPr sz="1050">
                          <a:solidFill>
                            <a:srgbClr val="F8FAFC"/>
                          </a:solidFill>
                          <a:latin typeface="Calibri"/>
                        </a:defRPr>
                      </a:pPr>
                      <a:r>
                        <a:t>Relational Database Sorting</a:t>
                      </a:r>
                    </a:p>
                  </a:txBody>
                  <a:tcPr>
                    <a:solidFill>
                      <a:srgbClr val="12223A"/>
                    </a:solidFill>
                  </a:tcPr>
                </a:tc>
                <a:tc>
                  <a:txBody>
                    <a:bodyPr/>
                    <a:lstStyle/>
                    <a:p>
                      <a:pPr algn="l">
                        <a:defRPr sz="1050">
                          <a:solidFill>
                            <a:srgbClr val="F8FAFC"/>
                          </a:solidFill>
                          <a:latin typeface="Calibri"/>
                        </a:defRPr>
                      </a:pPr>
                      <a:r>
                        <a:t>O(N log N) index query</a:t>
                      </a:r>
                    </a:p>
                  </a:txBody>
                  <a:tcPr>
                    <a:solidFill>
                      <a:srgbClr val="12223A"/>
                    </a:solidFill>
                  </a:tcPr>
                </a:tc>
                <a:tc>
                  <a:txBody>
                    <a:bodyPr/>
                    <a:lstStyle/>
                    <a:p>
                      <a:pPr algn="l">
                        <a:defRPr sz="1050">
                          <a:solidFill>
                            <a:srgbClr val="F8FAFC"/>
                          </a:solidFill>
                          <a:latin typeface="Calibri"/>
                        </a:defRPr>
                      </a:pPr>
                      <a:r>
                        <a:t>When rendering the central EOC incident command queue where life-safety priority strictly supersedes score.</a:t>
                      </a:r>
                    </a:p>
                  </a:txBody>
                  <a:tcPr>
                    <a:solidFill>
                      <a:srgbClr val="12223A"/>
                    </a:solidFill>
                  </a:tcPr>
                </a:tc>
              </a:tr>
              <a:tr h="807720">
                <a:tc>
                  <a:txBody>
                    <a:bodyPr/>
                    <a:lstStyle/>
                    <a:p>
                      <a:pPr algn="l">
                        <a:defRPr sz="1050">
                          <a:solidFill>
                            <a:srgbClr val="F8FAFC"/>
                          </a:solidFill>
                          <a:latin typeface="Calibri"/>
                        </a:defRPr>
                      </a:pPr>
                      <a:r>
                        <a:t>Conditional Allocation Logic</a:t>
                      </a:r>
                    </a:p>
                  </a:txBody>
                  <a:tcPr>
                    <a:solidFill>
                      <a:srgbClr val="172A45"/>
                    </a:solidFill>
                  </a:tcPr>
                </a:tc>
                <a:tc>
                  <a:txBody>
                    <a:bodyPr/>
                    <a:lstStyle/>
                    <a:p>
                      <a:pPr algn="l">
                        <a:defRPr sz="1050">
                          <a:solidFill>
                            <a:srgbClr val="F8FAFC"/>
                          </a:solidFill>
                          <a:latin typeface="Calibri"/>
                        </a:defRPr>
                      </a:pPr>
                      <a:r>
                        <a:t>Enforcing availability states &amp; capacity limits</a:t>
                      </a:r>
                    </a:p>
                  </a:txBody>
                  <a:tcPr>
                    <a:solidFill>
                      <a:srgbClr val="172A45"/>
                    </a:solidFill>
                  </a:tcPr>
                </a:tc>
                <a:tc>
                  <a:txBody>
                    <a:bodyPr/>
                    <a:lstStyle/>
                    <a:p>
                      <a:pPr algn="l">
                        <a:defRPr sz="1050">
                          <a:solidFill>
                            <a:srgbClr val="F8FAFC"/>
                          </a:solidFill>
                          <a:latin typeface="Calibri"/>
                        </a:defRPr>
                      </a:pPr>
                      <a:r>
                        <a:t>Procedural Decision Logic</a:t>
                      </a:r>
                    </a:p>
                  </a:txBody>
                  <a:tcPr>
                    <a:solidFill>
                      <a:srgbClr val="172A45"/>
                    </a:solidFill>
                  </a:tcPr>
                </a:tc>
                <a:tc>
                  <a:txBody>
                    <a:bodyPr/>
                    <a:lstStyle/>
                    <a:p>
                      <a:pPr algn="l">
                        <a:defRPr sz="1050">
                          <a:solidFill>
                            <a:srgbClr val="F8FAFC"/>
                          </a:solidFill>
                          <a:latin typeface="Calibri"/>
                        </a:defRPr>
                      </a:pPr>
                      <a:r>
                        <a:t>O(1) checks per item</a:t>
                      </a:r>
                    </a:p>
                  </a:txBody>
                  <a:tcPr>
                    <a:solidFill>
                      <a:srgbClr val="172A45"/>
                    </a:solidFill>
                  </a:tcPr>
                </a:tc>
                <a:tc>
                  <a:txBody>
                    <a:bodyPr/>
                    <a:lstStyle/>
                    <a:p>
                      <a:pPr algn="l">
                        <a:defRPr sz="1050">
                          <a:solidFill>
                            <a:srgbClr val="F8FAFC"/>
                          </a:solidFill>
                          <a:latin typeface="Calibri"/>
                        </a:defRPr>
                      </a:pPr>
                      <a:r>
                        <a:t>When committing state changes, verifying shelter vacancy, and preventing duplicate team deployments.</a:t>
                      </a:r>
                    </a:p>
                  </a:txBody>
                  <a:tcPr>
                    <a:solidFill>
                      <a:srgbClr val="172A45"/>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System Limitations &amp; Safety Considerations</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19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5212080" cy="4846320"/>
          </a:xfrm>
          <a:prstGeom prst="roundRect">
            <a:avLst/>
          </a:prstGeom>
          <a:solidFill>
            <a:srgbClr val="172A4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846320" cy="4480560"/>
          </a:xfrm>
          <a:prstGeom prst="rect">
            <a:avLst/>
          </a:prstGeom>
          <a:noFill/>
        </p:spPr>
        <p:txBody>
          <a:bodyPr wrap="square" lIns="0" tIns="0" rIns="0" bIns="0">
            <a:spAutoFit/>
          </a:bodyPr>
          <a:lstStyle/>
          <a:p>
            <a:pPr>
              <a:spcAft>
                <a:spcPts val="300"/>
              </a:spcAft>
              <a:defRPr sz="1500" b="1">
                <a:solidFill>
                  <a:srgbClr val="F59E0B"/>
                </a:solidFill>
                <a:latin typeface="Calibri"/>
              </a:defRPr>
            </a:pPr>
            <a:r>
              <a:t>Technical &amp; Data Limitations</a:t>
            </a:r>
          </a:p>
          <a:p>
            <a:pPr>
              <a:spcAft>
                <a:spcPts val="600"/>
              </a:spcAft>
              <a:defRPr sz="1050">
                <a:solidFill>
                  <a:srgbClr val="94A3B8"/>
                </a:solidFill>
                <a:latin typeface="Calibri"/>
              </a:defRPr>
            </a:pPr>
            <a:r>
              <a:t>Data &amp; Infrastructure Dependencies</a:t>
            </a:r>
          </a:p>
          <a:p>
            <a:pPr>
              <a:spcAft>
                <a:spcPts val="400"/>
              </a:spcAft>
              <a:defRPr sz="1100">
                <a:solidFill>
                  <a:srgbClr val="F8FAFC"/>
                </a:solidFill>
                <a:latin typeface="Calibri"/>
              </a:defRPr>
            </a:pPr>
            <a:r>
              <a:t>•  1. External Weather API Latency: Open-Meteo forecasts run on 15-minute or hourly assimilation steps. Micro-bursts occurring in the intervening minutes will not reflect instantaneously.</a:t>
            </a:r>
          </a:p>
          <a:p>
            <a:pPr>
              <a:spcAft>
                <a:spcPts val="400"/>
              </a:spcAft>
              <a:defRPr sz="1100">
                <a:solidFill>
                  <a:srgbClr val="F8FAFC"/>
                </a:solidFill>
                <a:latin typeface="Calibri"/>
              </a:defRPr>
            </a:pPr>
            <a:r>
              <a:t>•  2. Straight-Line vs. Travel Distance: Haversine distance ignores terrain barriers, bridges, and winding topography. Spatial proximity does not guarantee fast road arrival.</a:t>
            </a:r>
          </a:p>
          <a:p>
            <a:pPr>
              <a:spcAft>
                <a:spcPts val="400"/>
              </a:spcAft>
              <a:defRPr sz="1100">
                <a:solidFill>
                  <a:srgbClr val="F8FAFC"/>
                </a:solidFill>
                <a:latin typeface="Calibri"/>
              </a:defRPr>
            </a:pPr>
            <a:r>
              <a:t>•  3. Stale Road Hazard Data: Road closure reporting relies on dispatcher input or citizen reports. Unreported flash flooding on an unflagged street cannot be detected automatically by the graph.</a:t>
            </a:r>
          </a:p>
          <a:p>
            <a:pPr>
              <a:spcAft>
                <a:spcPts val="400"/>
              </a:spcAft>
              <a:defRPr sz="1100">
                <a:solidFill>
                  <a:srgbClr val="F8FAFC"/>
                </a:solidFill>
                <a:latin typeface="Calibri"/>
              </a:defRPr>
            </a:pPr>
            <a:r>
              <a:t>•  4. Cell Tower Collapses: Cellular network failure during severe cyclones disrupts live browser-to-server communication.</a:t>
            </a:r>
          </a:p>
        </p:txBody>
      </p:sp>
      <p:sp>
        <p:nvSpPr>
          <p:cNvPr id="9" name="Rounded Rectangle 8"/>
          <p:cNvSpPr/>
          <p:nvPr/>
        </p:nvSpPr>
        <p:spPr>
          <a:xfrm>
            <a:off x="6217920" y="1463040"/>
            <a:ext cx="5212080" cy="4846320"/>
          </a:xfrm>
          <a:prstGeom prst="roundRect">
            <a:avLst/>
          </a:prstGeom>
          <a:solidFill>
            <a:srgbClr val="172A4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480560"/>
          </a:xfrm>
          <a:prstGeom prst="rect">
            <a:avLst/>
          </a:prstGeom>
          <a:noFill/>
        </p:spPr>
        <p:txBody>
          <a:bodyPr wrap="square" lIns="0" tIns="0" rIns="0" bIns="0">
            <a:spAutoFit/>
          </a:bodyPr>
          <a:lstStyle/>
          <a:p>
            <a:pPr>
              <a:spcAft>
                <a:spcPts val="300"/>
              </a:spcAft>
              <a:defRPr sz="1500" b="1">
                <a:solidFill>
                  <a:srgbClr val="EF4444"/>
                </a:solidFill>
                <a:latin typeface="Calibri"/>
              </a:defRPr>
            </a:pPr>
            <a:r>
              <a:t>Safety Criticality &amp; Human-in-the-Loop</a:t>
            </a:r>
          </a:p>
          <a:p>
            <a:pPr>
              <a:spcAft>
                <a:spcPts val="600"/>
              </a:spcAft>
              <a:defRPr sz="1050">
                <a:solidFill>
                  <a:srgbClr val="94A3B8"/>
                </a:solidFill>
                <a:latin typeface="Calibri"/>
              </a:defRPr>
            </a:pPr>
            <a:r>
              <a:t>Ethical &amp; Life-Safety Realities</a:t>
            </a:r>
          </a:p>
          <a:p>
            <a:pPr>
              <a:spcAft>
                <a:spcPts val="400"/>
              </a:spcAft>
              <a:defRPr sz="1100">
                <a:solidFill>
                  <a:srgbClr val="F8FAFC"/>
                </a:solidFill>
                <a:latin typeface="Calibri"/>
              </a:defRPr>
            </a:pPr>
            <a:r>
              <a:t>•  Dijkstra Does NOT Guarantee Physical Safety: Dijkstra mathematically minimizes total edge weight in the *modeled graph*. If a flooded road is not present in the database, Dijkstra will route vehicles through it without warning.</a:t>
            </a:r>
          </a:p>
          <a:p>
            <a:pPr>
              <a:spcAft>
                <a:spcPts val="400"/>
              </a:spcAft>
              <a:defRPr sz="1100">
                <a:solidFill>
                  <a:srgbClr val="F8FAFC"/>
                </a:solidFill>
                <a:latin typeface="Calibri"/>
              </a:defRPr>
            </a:pPr>
            <a:r>
              <a:t>•  Heuristic Nature of Triage: Priority scores are computational aids to assist human operators—they are never used to deny or terminate emergency assistance.</a:t>
            </a:r>
          </a:p>
          <a:p>
            <a:pPr>
              <a:spcAft>
                <a:spcPts val="400"/>
              </a:spcAft>
              <a:defRPr sz="1100">
                <a:solidFill>
                  <a:srgbClr val="F8FAFC"/>
                </a:solidFill>
                <a:latin typeface="Calibri"/>
              </a:defRPr>
            </a:pPr>
            <a:r>
              <a:t>•  The Human-in-the-Loop Mandate: Final dispatch authorizations and shelter activations strictly require human commander approval.</a:t>
            </a:r>
          </a:p>
          <a:p>
            <a:pPr>
              <a:spcAft>
                <a:spcPts val="400"/>
              </a:spcAft>
              <a:defRPr sz="1100">
                <a:solidFill>
                  <a:srgbClr val="F8FAFC"/>
                </a:solidFill>
                <a:latin typeface="Calibri"/>
              </a:defRPr>
            </a:pPr>
            <a:r>
              <a:t>•  Fail-Safe Principle: When network timeouts or API errors occur, the system surfaces clear error messages and never substitutes deceptive zero-filled readings.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Testing, Verification &amp; Quality Assurance</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20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2468880" cy="1463040"/>
          </a:xfrm>
          <a:prstGeom prst="roundRect">
            <a:avLst/>
          </a:prstGeom>
          <a:solidFill>
            <a:srgbClr val="172A45"/>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0200"/>
            <a:ext cx="2194560" cy="1188720"/>
          </a:xfrm>
          <a:prstGeom prst="rect">
            <a:avLst/>
          </a:prstGeom>
          <a:noFill/>
        </p:spPr>
        <p:txBody>
          <a:bodyPr wrap="square" lIns="0" tIns="0" rIns="0" bIns="0">
            <a:spAutoFit/>
          </a:bodyPr>
          <a:lstStyle/>
          <a:p>
            <a:pPr algn="ctr">
              <a:defRPr sz="2600" b="1">
                <a:solidFill>
                  <a:srgbClr val="22C55E"/>
                </a:solidFill>
                <a:latin typeface="Calibri"/>
              </a:defRPr>
            </a:pPr>
            <a:r>
              <a:t>39 / 39</a:t>
            </a:r>
          </a:p>
          <a:p>
            <a:pPr algn="ctr">
              <a:spcAft>
                <a:spcPts val="200"/>
              </a:spcAft>
              <a:defRPr sz="1100" b="1">
                <a:solidFill>
                  <a:srgbClr val="F8FAFC"/>
                </a:solidFill>
                <a:latin typeface="Calibri"/>
              </a:defRPr>
            </a:pPr>
            <a:r>
              <a:t>Automated Tests</a:t>
            </a:r>
          </a:p>
          <a:p>
            <a:pPr algn="ctr">
              <a:defRPr sz="950">
                <a:solidFill>
                  <a:srgbClr val="94A3B8"/>
                </a:solidFill>
                <a:latin typeface="Calibri"/>
              </a:defRPr>
            </a:pPr>
            <a:r>
              <a:t>100% Pass Rate (Reported)</a:t>
            </a:r>
          </a:p>
        </p:txBody>
      </p:sp>
      <p:sp>
        <p:nvSpPr>
          <p:cNvPr id="9" name="Rounded Rectangle 8"/>
          <p:cNvSpPr/>
          <p:nvPr/>
        </p:nvSpPr>
        <p:spPr>
          <a:xfrm>
            <a:off x="3474720" y="1463040"/>
            <a:ext cx="2468880" cy="1463040"/>
          </a:xfrm>
          <a:prstGeom prst="roundRect">
            <a:avLst/>
          </a:prstGeom>
          <a:solidFill>
            <a:srgbClr val="172A45"/>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600200"/>
            <a:ext cx="2194560" cy="1188720"/>
          </a:xfrm>
          <a:prstGeom prst="rect">
            <a:avLst/>
          </a:prstGeom>
          <a:noFill/>
        </p:spPr>
        <p:txBody>
          <a:bodyPr wrap="square" lIns="0" tIns="0" rIns="0" bIns="0">
            <a:spAutoFit/>
          </a:bodyPr>
          <a:lstStyle/>
          <a:p>
            <a:pPr algn="ctr">
              <a:defRPr sz="2600" b="1">
                <a:solidFill>
                  <a:srgbClr val="2563EB"/>
                </a:solidFill>
                <a:latin typeface="Calibri"/>
              </a:defRPr>
            </a:pPr>
            <a:r>
              <a:t>4 Suites</a:t>
            </a:r>
          </a:p>
          <a:p>
            <a:pPr algn="ctr">
              <a:spcAft>
                <a:spcPts val="200"/>
              </a:spcAft>
              <a:defRPr sz="1100" b="1">
                <a:solidFill>
                  <a:srgbClr val="F8FAFC"/>
                </a:solidFill>
                <a:latin typeface="Calibri"/>
              </a:defRPr>
            </a:pPr>
            <a:r>
              <a:t>Test Coverage</a:t>
            </a:r>
          </a:p>
          <a:p>
            <a:pPr algn="ctr">
              <a:defRPr sz="950">
                <a:solidFill>
                  <a:srgbClr val="94A3B8"/>
                </a:solidFill>
                <a:latin typeface="Calibri"/>
              </a:defRPr>
            </a:pPr>
            <a:r>
              <a:t>Weather, Routing, Triage, Dynamic</a:t>
            </a:r>
          </a:p>
        </p:txBody>
      </p:sp>
      <p:sp>
        <p:nvSpPr>
          <p:cNvPr id="11" name="Rounded Rectangle 10"/>
          <p:cNvSpPr/>
          <p:nvPr/>
        </p:nvSpPr>
        <p:spPr>
          <a:xfrm>
            <a:off x="6217920" y="1463040"/>
            <a:ext cx="2468880" cy="1463040"/>
          </a:xfrm>
          <a:prstGeom prst="roundRect">
            <a:avLst/>
          </a:prstGeom>
          <a:solidFill>
            <a:srgbClr val="172A45"/>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600200"/>
            <a:ext cx="2194560" cy="1188720"/>
          </a:xfrm>
          <a:prstGeom prst="rect">
            <a:avLst/>
          </a:prstGeom>
          <a:noFill/>
        </p:spPr>
        <p:txBody>
          <a:bodyPr wrap="square" lIns="0" tIns="0" rIns="0" bIns="0">
            <a:spAutoFit/>
          </a:bodyPr>
          <a:lstStyle/>
          <a:p>
            <a:pPr algn="ctr">
              <a:defRPr sz="2600" b="1">
                <a:solidFill>
                  <a:srgbClr val="38BDF8"/>
                </a:solidFill>
                <a:latin typeface="Calibri"/>
              </a:defRPr>
            </a:pPr>
            <a:r>
              <a:t>1:1</a:t>
            </a:r>
          </a:p>
          <a:p>
            <a:pPr algn="ctr">
              <a:spcAft>
                <a:spcPts val="200"/>
              </a:spcAft>
              <a:defRPr sz="1100" b="1">
                <a:solidFill>
                  <a:srgbClr val="F8FAFC"/>
                </a:solidFill>
                <a:latin typeface="Calibri"/>
              </a:defRPr>
            </a:pPr>
            <a:r>
              <a:t>API Parity</a:t>
            </a:r>
          </a:p>
          <a:p>
            <a:pPr algn="ctr">
              <a:defRPr sz="950">
                <a:solidFill>
                  <a:srgbClr val="94A3B8"/>
                </a:solidFill>
                <a:latin typeface="Calibri"/>
              </a:defRPr>
            </a:pPr>
            <a:r>
              <a:t>Raw Open-Meteo field match</a:t>
            </a:r>
          </a:p>
        </p:txBody>
      </p:sp>
      <p:sp>
        <p:nvSpPr>
          <p:cNvPr id="13" name="Rounded Rectangle 12"/>
          <p:cNvSpPr/>
          <p:nvPr/>
        </p:nvSpPr>
        <p:spPr>
          <a:xfrm>
            <a:off x="8961120" y="1463040"/>
            <a:ext cx="2468880" cy="1463040"/>
          </a:xfrm>
          <a:prstGeom prst="roundRect">
            <a:avLst/>
          </a:prstGeom>
          <a:solidFill>
            <a:srgbClr val="172A45"/>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1600200"/>
            <a:ext cx="2194560" cy="1188720"/>
          </a:xfrm>
          <a:prstGeom prst="rect">
            <a:avLst/>
          </a:prstGeom>
          <a:noFill/>
        </p:spPr>
        <p:txBody>
          <a:bodyPr wrap="square" lIns="0" tIns="0" rIns="0" bIns="0">
            <a:spAutoFit/>
          </a:bodyPr>
          <a:lstStyle/>
          <a:p>
            <a:pPr algn="ctr">
              <a:defRPr sz="2600" b="1">
                <a:solidFill>
                  <a:srgbClr val="F59E0B"/>
                </a:solidFill>
                <a:latin typeface="Calibri"/>
              </a:defRPr>
            </a:pPr>
            <a:r>
              <a:t>0 Fake 0s</a:t>
            </a:r>
          </a:p>
          <a:p>
            <a:pPr algn="ctr">
              <a:spcAft>
                <a:spcPts val="200"/>
              </a:spcAft>
              <a:defRPr sz="1100" b="1">
                <a:solidFill>
                  <a:srgbClr val="F8FAFC"/>
                </a:solidFill>
                <a:latin typeface="Calibri"/>
              </a:defRPr>
            </a:pPr>
            <a:r>
              <a:t>Error Integrity</a:t>
            </a:r>
          </a:p>
          <a:p>
            <a:pPr algn="ctr">
              <a:defRPr sz="950">
                <a:solidFill>
                  <a:srgbClr val="94A3B8"/>
                </a:solidFill>
                <a:latin typeface="Calibri"/>
              </a:defRPr>
            </a:pPr>
            <a:r>
              <a:t>Explicit 400/404/502 handling</a:t>
            </a:r>
          </a:p>
        </p:txBody>
      </p:sp>
      <p:sp>
        <p:nvSpPr>
          <p:cNvPr id="15" name="Rounded Rectangle 14"/>
          <p:cNvSpPr/>
          <p:nvPr/>
        </p:nvSpPr>
        <p:spPr>
          <a:xfrm>
            <a:off x="731520" y="3108960"/>
            <a:ext cx="5212080" cy="3200400"/>
          </a:xfrm>
          <a:prstGeom prst="roundRect">
            <a:avLst/>
          </a:prstGeom>
          <a:solidFill>
            <a:srgbClr val="172A45"/>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291840"/>
            <a:ext cx="4846320" cy="2834640"/>
          </a:xfrm>
          <a:prstGeom prst="rect">
            <a:avLst/>
          </a:prstGeom>
          <a:noFill/>
        </p:spPr>
        <p:txBody>
          <a:bodyPr wrap="square" lIns="0" tIns="0" rIns="0" bIns="0">
            <a:spAutoFit/>
          </a:bodyPr>
          <a:lstStyle/>
          <a:p>
            <a:pPr>
              <a:spcAft>
                <a:spcPts val="300"/>
              </a:spcAft>
              <a:defRPr sz="1500" b="1">
                <a:solidFill>
                  <a:srgbClr val="22C55E"/>
                </a:solidFill>
                <a:latin typeface="Calibri"/>
              </a:defRPr>
            </a:pPr>
            <a:r>
              <a:t>Automated Test Suite Breakdown</a:t>
            </a:r>
          </a:p>
          <a:p>
            <a:pPr>
              <a:spcAft>
                <a:spcPts val="600"/>
              </a:spcAft>
              <a:defRPr sz="1050">
                <a:solidFill>
                  <a:srgbClr val="94A3B8"/>
                </a:solidFill>
                <a:latin typeface="Calibri"/>
              </a:defRPr>
            </a:pPr>
            <a:r>
              <a:t>Python Unittest Framework</a:t>
            </a:r>
          </a:p>
          <a:p>
            <a:pPr>
              <a:spcAft>
                <a:spcPts val="400"/>
              </a:spcAft>
              <a:defRPr sz="1100">
                <a:solidFill>
                  <a:srgbClr val="F8FAFC"/>
                </a:solidFill>
                <a:latin typeface="Calibri"/>
              </a:defRPr>
            </a:pPr>
            <a:r>
              <a:t>•  1. test_weather_telemetry.py (11 Tests): Verifies live Open-Meteo API, cardinal compass conversion (e.g. 204° → SSW), coordinate bounds checking, WMO code mapping, and safe diagnostic mode.</a:t>
            </a:r>
          </a:p>
          <a:p>
            <a:pPr>
              <a:spcAft>
                <a:spcPts val="400"/>
              </a:spcAft>
              <a:defRPr sz="1100">
                <a:solidFill>
                  <a:srgbClr val="F8FAFC"/>
                </a:solidFill>
                <a:latin typeface="Calibri"/>
              </a:defRPr>
            </a:pPr>
            <a:r>
              <a:t>•  2. test_assignment_debug.py (4 Tests): Validates team deployment state machine, duplicate assignment rejection, and shelter capacity increments.</a:t>
            </a:r>
          </a:p>
          <a:p>
            <a:pPr>
              <a:spcAft>
                <a:spcPts val="400"/>
              </a:spcAft>
              <a:defRPr sz="1100">
                <a:solidFill>
                  <a:srgbClr val="F8FAFC"/>
                </a:solidFill>
                <a:latin typeface="Calibri"/>
              </a:defRPr>
            </a:pPr>
            <a:r>
              <a:t>•  3. test_system.py (14 Tests): End-to-end citizen registration, triage score calculation, admin dashboard ordering, and hazard detour routing.</a:t>
            </a:r>
          </a:p>
          <a:p>
            <a:pPr>
              <a:spcAft>
                <a:spcPts val="400"/>
              </a:spcAft>
              <a:defRPr sz="1100">
                <a:solidFill>
                  <a:srgbClr val="F8FAFC"/>
                </a:solidFill>
                <a:latin typeface="Calibri"/>
              </a:defRPr>
            </a:pPr>
            <a:r>
              <a:t>•  4. test_dynamic_system.py (10 Tests): Validates dynamic geocoding in Chennai/Bengaluru, OSM shelter queries, and GPS accuracy filtering.</a:t>
            </a:r>
          </a:p>
        </p:txBody>
      </p:sp>
      <p:sp>
        <p:nvSpPr>
          <p:cNvPr id="17" name="Rounded Rectangle 16"/>
          <p:cNvSpPr/>
          <p:nvPr/>
        </p:nvSpPr>
        <p:spPr>
          <a:xfrm>
            <a:off x="6217920" y="3108960"/>
            <a:ext cx="5212080" cy="3200400"/>
          </a:xfrm>
          <a:prstGeom prst="roundRect">
            <a:avLst/>
          </a:prstGeom>
          <a:solidFill>
            <a:srgbClr val="172A45"/>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291840"/>
            <a:ext cx="4846320" cy="2834640"/>
          </a:xfrm>
          <a:prstGeom prst="rect">
            <a:avLst/>
          </a:prstGeom>
          <a:noFill/>
        </p:spPr>
        <p:txBody>
          <a:bodyPr wrap="square" lIns="0" tIns="0" rIns="0" bIns="0">
            <a:spAutoFit/>
          </a:bodyPr>
          <a:lstStyle/>
          <a:p>
            <a:pPr>
              <a:spcAft>
                <a:spcPts val="300"/>
              </a:spcAft>
              <a:defRPr sz="1500" b="1">
                <a:solidFill>
                  <a:srgbClr val="2563EB"/>
                </a:solidFill>
                <a:latin typeface="Calibri"/>
              </a:defRPr>
            </a:pPr>
            <a:r>
              <a:t>Current Verification Status &amp; Next Steps</a:t>
            </a:r>
          </a:p>
          <a:p>
            <a:pPr>
              <a:spcAft>
                <a:spcPts val="600"/>
              </a:spcAft>
              <a:defRPr sz="1050">
                <a:solidFill>
                  <a:srgbClr val="94A3B8"/>
                </a:solidFill>
                <a:latin typeface="Calibri"/>
              </a:defRPr>
            </a:pPr>
            <a:r>
              <a:t>Verification Scope &amp; Boundaries</a:t>
            </a:r>
          </a:p>
          <a:p>
            <a:pPr>
              <a:spcAft>
                <a:spcPts val="400"/>
              </a:spcAft>
              <a:defRPr sz="1100">
                <a:solidFill>
                  <a:srgbClr val="F8FAFC"/>
                </a:solidFill>
                <a:latin typeface="Calibri"/>
              </a:defRPr>
            </a:pPr>
            <a:r>
              <a:t>•  Local Verification Completed: All 39 automated unit and integration tests pass cleanly in our local development environment.</a:t>
            </a:r>
          </a:p>
          <a:p>
            <a:pPr>
              <a:spcAft>
                <a:spcPts val="400"/>
              </a:spcAft>
              <a:defRPr sz="1100">
                <a:solidFill>
                  <a:srgbClr val="F8FAFC"/>
                </a:solidFill>
                <a:latin typeface="Calibri"/>
              </a:defRPr>
            </a:pPr>
            <a:r>
              <a:t>•  Diagnostic Inspection Mode: The `/api/weather?diagnostic=1` endpoint allows direct verification of raw JSON payloads without exposing credentials.</a:t>
            </a:r>
          </a:p>
          <a:p>
            <a:pPr>
              <a:spcAft>
                <a:spcPts val="400"/>
              </a:spcAft>
              <a:defRPr sz="1100">
                <a:solidFill>
                  <a:srgbClr val="F8FAFC"/>
                </a:solidFill>
                <a:latin typeface="Calibri"/>
              </a:defRPr>
            </a:pPr>
            <a:r>
              <a:t>•  Cloud Deployment Readiness: Application is configured for WSGI deployment on Vercel with SQLite portability.</a:t>
            </a:r>
          </a:p>
          <a:p>
            <a:pPr>
              <a:spcAft>
                <a:spcPts val="400"/>
              </a:spcAft>
              <a:defRPr sz="1100">
                <a:solidFill>
                  <a:srgbClr val="F8FAFC"/>
                </a:solidFill>
                <a:latin typeface="Calibri"/>
              </a:defRPr>
            </a:pPr>
            <a:r>
              <a:t>•  Next Verification Stage: Requires further testing on cloud edge environments with high concurrent user loads and live multi-city GPS telemetry.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601200" cy="274320"/>
          </a:xfrm>
          <a:prstGeom prst="rect">
            <a:avLst/>
          </a:prstGeom>
          <a:noFill/>
        </p:spPr>
        <p:txBody>
          <a:bodyPr wrap="square" lIns="0" tIns="0" rIns="0" bIns="0">
            <a:spAutoFit/>
          </a:bodyPr>
          <a:lstStyle/>
          <a:p>
            <a:pPr>
              <a:defRPr sz="1050" b="1">
                <a:solidFill>
                  <a:srgbClr val="38BDF8"/>
                </a:solidFill>
                <a:latin typeface="Calibri"/>
              </a:defRPr>
            </a:pPr>
            <a:r>
              <a:t>ADSA PROJECT REVIEW — TEAM 06</a:t>
            </a:r>
          </a:p>
        </p:txBody>
      </p:sp>
      <p:sp>
        <p:nvSpPr>
          <p:cNvPr id="4" name="TextBox 3"/>
          <p:cNvSpPr txBox="1"/>
          <p:nvPr/>
        </p:nvSpPr>
        <p:spPr>
          <a:xfrm>
            <a:off x="731520" y="594360"/>
            <a:ext cx="9601200" cy="594360"/>
          </a:xfrm>
          <a:prstGeom prst="rect">
            <a:avLst/>
          </a:prstGeom>
          <a:noFill/>
        </p:spPr>
        <p:txBody>
          <a:bodyPr wrap="square" lIns="0" tIns="0" rIns="0" bIns="0">
            <a:spAutoFit/>
          </a:bodyPr>
          <a:lstStyle/>
          <a:p>
            <a:pPr>
              <a:defRPr sz="2200" b="1">
                <a:solidFill>
                  <a:srgbClr val="F8FAFC"/>
                </a:solidFill>
                <a:latin typeface="Calibri"/>
              </a:defRPr>
            </a:pPr>
            <a:r>
              <a:t>Conclusion: Key Contributions &amp; Algorithmic Impact</a:t>
            </a:r>
          </a:p>
        </p:txBody>
      </p:sp>
      <p:sp>
        <p:nvSpPr>
          <p:cNvPr id="5" name="TextBox 4"/>
          <p:cNvSpPr txBox="1"/>
          <p:nvPr/>
        </p:nvSpPr>
        <p:spPr>
          <a:xfrm>
            <a:off x="10515600" y="365760"/>
            <a:ext cx="914400" cy="457200"/>
          </a:xfrm>
          <a:prstGeom prst="rect">
            <a:avLst/>
          </a:prstGeom>
          <a:noFill/>
        </p:spPr>
        <p:txBody>
          <a:bodyPr wrap="none">
            <a:spAutoFit/>
          </a:bodyPr>
          <a:lstStyle/>
          <a:p>
            <a:pPr algn="r">
              <a:defRPr sz="1100">
                <a:solidFill>
                  <a:srgbClr val="94A3B8"/>
                </a:solidFill>
                <a:latin typeface="Calibri"/>
              </a:defRPr>
            </a:pPr>
            <a:r>
              <a:t>21 / 22</a:t>
            </a:r>
          </a:p>
        </p:txBody>
      </p:sp>
      <p:sp>
        <p:nvSpPr>
          <p:cNvPr id="6" name="Rectangle 5"/>
          <p:cNvSpPr/>
          <p:nvPr/>
        </p:nvSpPr>
        <p:spPr>
          <a:xfrm>
            <a:off x="731520" y="123444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5212080" cy="4846320"/>
          </a:xfrm>
          <a:prstGeom prst="roundRect">
            <a:avLst/>
          </a:prstGeom>
          <a:solidFill>
            <a:srgbClr val="17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846320" cy="4480560"/>
          </a:xfrm>
          <a:prstGeom prst="rect">
            <a:avLst/>
          </a:prstGeom>
          <a:noFill/>
        </p:spPr>
        <p:txBody>
          <a:bodyPr wrap="square" lIns="0" tIns="0" rIns="0" bIns="0">
            <a:spAutoFit/>
          </a:bodyPr>
          <a:lstStyle/>
          <a:p>
            <a:pPr>
              <a:spcAft>
                <a:spcPts val="300"/>
              </a:spcAft>
              <a:defRPr sz="1500" b="1">
                <a:solidFill>
                  <a:srgbClr val="38BDF8"/>
                </a:solidFill>
                <a:latin typeface="Calibri"/>
              </a:defRPr>
            </a:pPr>
            <a:r>
              <a:t>Key Project Contributions</a:t>
            </a:r>
          </a:p>
          <a:p>
            <a:pPr>
              <a:spcAft>
                <a:spcPts val="600"/>
              </a:spcAft>
              <a:defRPr sz="1050">
                <a:solidFill>
                  <a:srgbClr val="94A3B8"/>
                </a:solidFill>
                <a:latin typeface="Calibri"/>
              </a:defRPr>
            </a:pPr>
            <a:r>
              <a:t>Engineering Achievements</a:t>
            </a:r>
          </a:p>
          <a:p>
            <a:pPr>
              <a:spcAft>
                <a:spcPts val="400"/>
              </a:spcAft>
              <a:defRPr sz="1100">
                <a:solidFill>
                  <a:srgbClr val="F8FAFC"/>
                </a:solidFill>
                <a:latin typeface="Calibri"/>
              </a:defRPr>
            </a:pPr>
            <a:r>
              <a:t>•  1. Centralized Disaster Coordination: Successfully replaced scattered, manual phone helplines with a unified digital command architecture.</a:t>
            </a:r>
          </a:p>
          <a:p>
            <a:pPr>
              <a:spcAft>
                <a:spcPts val="400"/>
              </a:spcAft>
              <a:defRPr sz="1100">
                <a:solidFill>
                  <a:srgbClr val="F8FAFC"/>
                </a:solidFill>
                <a:latin typeface="Calibri"/>
              </a:defRPr>
            </a:pPr>
            <a:r>
              <a:t>•  2. Elimination of Hardcoded Boundaries: Upgraded the project to operate dynamically in any city or rural district via live geocoding and OSM discovery.</a:t>
            </a:r>
          </a:p>
          <a:p>
            <a:pPr>
              <a:spcAft>
                <a:spcPts val="400"/>
              </a:spcAft>
              <a:defRPr sz="1100">
                <a:solidFill>
                  <a:srgbClr val="F8FAFC"/>
                </a:solidFill>
                <a:latin typeface="Calibri"/>
              </a:defRPr>
            </a:pPr>
            <a:r>
              <a:t>•  3. Objective Life-Safety Triage: Formulated a mathematical scoring model ensuring critical emergencies are never delayed by low-urgency calls.</a:t>
            </a:r>
          </a:p>
          <a:p>
            <a:pPr>
              <a:spcAft>
                <a:spcPts val="400"/>
              </a:spcAft>
              <a:defRPr sz="1100">
                <a:solidFill>
                  <a:srgbClr val="F8FAFC"/>
                </a:solidFill>
                <a:latin typeface="Calibri"/>
              </a:defRPr>
            </a:pPr>
            <a:r>
              <a:t>•  4. Dynamic Submersion Detours: Demonstrated hazard-aware routing using NetworkX Dijkstra graphs to prevent rescue vehicles from entering flooded roads.</a:t>
            </a:r>
          </a:p>
          <a:p>
            <a:pPr>
              <a:spcAft>
                <a:spcPts val="400"/>
              </a:spcAft>
              <a:defRPr sz="1100">
                <a:solidFill>
                  <a:srgbClr val="F8FAFC"/>
                </a:solidFill>
                <a:latin typeface="Calibri"/>
              </a:defRPr>
            </a:pPr>
            <a:r>
              <a:t>•  5. Verified Capacity Control: Enforced real-time mathematical capacity tracking to prevent shelter overcrowding during mass evacuations.</a:t>
            </a:r>
          </a:p>
        </p:txBody>
      </p:sp>
      <p:sp>
        <p:nvSpPr>
          <p:cNvPr id="9" name="Rounded Rectangle 8"/>
          <p:cNvSpPr/>
          <p:nvPr/>
        </p:nvSpPr>
        <p:spPr>
          <a:xfrm>
            <a:off x="6217920" y="1463040"/>
            <a:ext cx="5212080" cy="4846320"/>
          </a:xfrm>
          <a:prstGeom prst="roundRect">
            <a:avLst/>
          </a:prstGeom>
          <a:solidFill>
            <a:srgbClr val="172A45"/>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480560"/>
          </a:xfrm>
          <a:prstGeom prst="rect">
            <a:avLst/>
          </a:prstGeom>
          <a:noFill/>
        </p:spPr>
        <p:txBody>
          <a:bodyPr wrap="square" lIns="0" tIns="0" rIns="0" bIns="0">
            <a:spAutoFit/>
          </a:bodyPr>
          <a:lstStyle/>
          <a:p>
            <a:pPr>
              <a:spcAft>
                <a:spcPts val="300"/>
              </a:spcAft>
              <a:defRPr sz="1500" b="1">
                <a:solidFill>
                  <a:srgbClr val="22C55E"/>
                </a:solidFill>
                <a:latin typeface="Calibri"/>
              </a:defRPr>
            </a:pPr>
            <a:r>
              <a:t>ADSA Curriculum Alignment &amp; Final Takeaway</a:t>
            </a:r>
          </a:p>
          <a:p>
            <a:pPr>
              <a:spcAft>
                <a:spcPts val="600"/>
              </a:spcAft>
              <a:defRPr sz="1050">
                <a:solidFill>
                  <a:srgbClr val="94A3B8"/>
                </a:solidFill>
                <a:latin typeface="Calibri"/>
              </a:defRPr>
            </a:pPr>
            <a:r>
              <a:t>Academic &amp; Real-World Impact</a:t>
            </a:r>
          </a:p>
          <a:p>
            <a:pPr>
              <a:spcAft>
                <a:spcPts val="400"/>
              </a:spcAft>
              <a:defRPr sz="1100">
                <a:solidFill>
                  <a:srgbClr val="F8FAFC"/>
                </a:solidFill>
                <a:latin typeface="Calibri"/>
              </a:defRPr>
            </a:pPr>
            <a:r>
              <a:t>•  Algorithmic Rigor: Demonstrated practical, life-saving applications of core ADSA concepts—graphs, Dijkstra, spherical geometry, and relational sorting.</a:t>
            </a:r>
          </a:p>
          <a:p>
            <a:pPr>
              <a:spcAft>
                <a:spcPts val="400"/>
              </a:spcAft>
              <a:defRPr sz="1100">
                <a:solidFill>
                  <a:srgbClr val="F8FAFC"/>
                </a:solidFill>
                <a:latin typeface="Calibri"/>
              </a:defRPr>
            </a:pPr>
            <a:r>
              <a:t>•  Academic Integrity: Maintained strict distinction between theoretical graph algorithms, mathematical formulas, database queries, and procedural business logic.</a:t>
            </a:r>
          </a:p>
          <a:p>
            <a:pPr>
              <a:spcAft>
                <a:spcPts val="400"/>
              </a:spcAft>
              <a:defRPr sz="1100">
                <a:solidFill>
                  <a:srgbClr val="F8FAFC"/>
                </a:solidFill>
                <a:latin typeface="Calibri"/>
              </a:defRPr>
            </a:pPr>
            <a:r>
              <a:t>•  Societal Value: Technology engineered specifically to protect vulnerable citizens, empower first responders, and minimize casualties during natural disasters.</a:t>
            </a:r>
          </a:p>
          <a:p>
            <a:pPr>
              <a:spcAft>
                <a:spcPts val="400"/>
              </a:spcAft>
              <a:defRPr sz="1100">
                <a:solidFill>
                  <a:srgbClr val="F8FAFC"/>
                </a:solidFill>
                <a:latin typeface="Calibri"/>
              </a:defRPr>
            </a:pPr>
            <a:r>
              <a:t>•  Final Takeaway: Advanced data structures and algorithms are not merely abstract academic concepts—when applied rigorously, they form the foundation of life-saving emergency infrastructure.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188720"/>
            <a:ext cx="10058400" cy="4754880"/>
          </a:xfrm>
          <a:prstGeom prst="rect">
            <a:avLst/>
          </a:prstGeom>
          <a:noFill/>
        </p:spPr>
        <p:txBody>
          <a:bodyPr wrap="square">
            <a:spAutoFit/>
          </a:bodyPr>
          <a:lstStyle/>
          <a:p>
            <a:pPr>
              <a:spcAft>
                <a:spcPts val="1000"/>
              </a:spcAft>
              <a:defRPr sz="1300" b="1">
                <a:solidFill>
                  <a:srgbClr val="38BDF8"/>
                </a:solidFill>
                <a:latin typeface="Calibri"/>
              </a:defRPr>
            </a:pPr>
            <a:r>
              <a:t>ADSA END-SEMESTER PROJECT REVIEW — TEAM NO. 06</a:t>
            </a:r>
          </a:p>
          <a:p>
            <a:pPr>
              <a:spcAft>
                <a:spcPts val="1600"/>
              </a:spcAft>
              <a:defRPr sz="4000" b="1">
                <a:solidFill>
                  <a:srgbClr val="F8FAFC"/>
                </a:solidFill>
                <a:latin typeface="Calibri"/>
              </a:defRPr>
            </a:pPr>
            <a:r>
              <a:t>Thank You!</a:t>
            </a:r>
            <a:br/>
            <a:r>
              <a:t>Questions &amp; Viva Voce Discussion</a:t>
            </a:r>
          </a:p>
          <a:p>
            <a:pPr>
              <a:spcAft>
                <a:spcPts val="400"/>
              </a:spcAft>
              <a:defRPr sz="1200" b="1">
                <a:solidFill>
                  <a:srgbClr val="94A3B8"/>
                </a:solidFill>
                <a:latin typeface="Calibri"/>
              </a:defRPr>
            </a:pPr>
            <a:r>
              <a:t>Project Team Members:</a:t>
            </a:r>
          </a:p>
          <a:p>
            <a:pPr>
              <a:spcAft>
                <a:spcPts val="200"/>
              </a:spcAft>
              <a:defRPr sz="1300" b="1">
                <a:solidFill>
                  <a:srgbClr val="F8FAFC"/>
                </a:solidFill>
                <a:latin typeface="Calibri"/>
              </a:defRPr>
            </a:pPr>
            <a:r>
              <a:t>• U. Raghu Nandan — CB.AI.U4AID25056</a:t>
            </a:r>
          </a:p>
          <a:p>
            <a:pPr>
              <a:spcAft>
                <a:spcPts val="200"/>
              </a:spcAft>
              <a:defRPr sz="1300" b="1">
                <a:solidFill>
                  <a:srgbClr val="F8FAFC"/>
                </a:solidFill>
                <a:latin typeface="Calibri"/>
              </a:defRPr>
            </a:pPr>
            <a:r>
              <a:t>• Likhith K. — CB.AI.U4AID25063</a:t>
            </a:r>
          </a:p>
          <a:p>
            <a:pPr>
              <a:spcAft>
                <a:spcPts val="200"/>
              </a:spcAft>
              <a:defRPr sz="1300" b="1">
                <a:solidFill>
                  <a:srgbClr val="F8FAFC"/>
                </a:solidFill>
                <a:latin typeface="Calibri"/>
              </a:defRPr>
            </a:pPr>
            <a:r>
              <a:t>• Akshaya S. — CB.AI.U4AID25051</a:t>
            </a:r>
          </a:p>
          <a:p>
            <a:br/>
            <a:pPr>
              <a:defRPr sz="1200" b="1">
                <a:solidFill>
                  <a:srgbClr val="60A5FA"/>
                </a:solidFill>
                <a:latin typeface="Calibri"/>
              </a:defRPr>
            </a:pPr>
            <a:r>
              <a:t>B.Tech Artificial Intelligence and Data Science  |  October 2026</a:t>
            </a:r>
            <a:br/>
            <a:r>
              <a:t>GitHub: https://github.com/likhitkella2008-hash/Smart-Flood-Evacuation-System.git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